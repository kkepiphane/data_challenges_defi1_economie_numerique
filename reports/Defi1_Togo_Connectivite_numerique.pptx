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4864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4864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4864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932688"/>
            <a:ext cx="7589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spc="190">
                <a:solidFill>
                  <a:srgbClr val="8EB6A6"/>
                </a:solidFill>
                <a:latin typeface="Segoe UI"/>
              </a:rPr>
              <a:t>DÉFI 1 · ÉCONOMIE NUMÉRIQUE · RÉPUBLIQUE TOGOLAISE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75895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300" b="1" spc="-50">
                <a:solidFill>
                  <a:srgbClr val="FFFFFF"/>
                </a:solidFill>
                <a:latin typeface="Segoe UI"/>
              </a:rPr>
              <a:t>Connecter le Togo</a:t>
            </a:r>
          </a:p>
          <a:p>
            <a:pPr algn="l">
              <a:lnSpc>
                <a:spcPct val="102000"/>
              </a:lnSpc>
            </a:pPr>
            <a:r>
              <a:rPr sz="4300" b="1" spc="-50">
                <a:solidFill>
                  <a:srgbClr val="FFFFFF"/>
                </a:solidFill>
                <a:latin typeface="Segoe UI"/>
              </a:rPr>
              <a:t>là où le manque est prouvé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127248"/>
            <a:ext cx="841248" cy="41148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56432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2000"/>
              </a:lnSpc>
            </a:pPr>
            <a:r>
              <a:rPr sz="1400" b="0">
                <a:solidFill>
                  <a:srgbClr val="CBDED6"/>
                </a:solidFill>
                <a:latin typeface="Segoe UI"/>
              </a:rPr>
              <a:t>Le Togo compte un point de service financier numérique pour 409 habitants. Cette moyenne ne dit rien d'utile : entre la préfecture la mieux dotée et la moins dotée, l'écart est de 1 à 12,7.</a:t>
            </a:r>
          </a:p>
          <a:p>
            <a:pPr algn="l">
              <a:lnSpc>
                <a:spcPct val="152000"/>
              </a:lnSpc>
            </a:pPr>
            <a:r>
              <a:rPr sz="1400" b="0">
                <a:solidFill>
                  <a:srgbClr val="CBDED6"/>
                </a:solidFill>
                <a:latin typeface="Segoe UI"/>
              </a:rPr>
              <a:t>Ce diagnostic désigne les territoires où investir, et publie de quoi contester le classement.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590288"/>
            <a:ext cx="8183879" cy="9525"/>
          </a:xfrm>
          <a:prstGeom prst="rect">
            <a:avLst/>
          </a:prstGeom>
          <a:solidFill>
            <a:srgbClr val="1B5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28032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HABITANTS PAR POINT DE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9320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/>
              </a:rPr>
              <a:t>409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568696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/>
              </a:rPr>
              <a:t>moyenne nationale · 19 788 points géolocalisés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828032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ÉCART ENTRE PRÉFECTURES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509320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/>
              </a:rPr>
              <a:t>1 à 12,7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5568696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/>
              </a:rPr>
              <a:t>Kpendjal contre Tchaoudjo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4828032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PRÉFECTURES SANS AUCUNE AGENCE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4536" y="509320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/>
              </a:rPr>
              <a:t>13 / 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4536" y="5568696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/>
              </a:rPr>
              <a:t>1 621 720 habitants concernés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436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KOUTSAVA Kossi Epiphane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190488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ANALYSE DE DONNÉES · DÉFI ÉCONOMIE NUMÉRIQUE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6483096"/>
            <a:ext cx="8183879" cy="9525"/>
          </a:xfrm>
          <a:prstGeom prst="rect">
            <a:avLst/>
          </a:prstGeom>
          <a:solidFill>
            <a:srgbClr val="1B5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574536"/>
            <a:ext cx="10469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6D9A89"/>
                </a:solidFill>
                <a:latin typeface="Segoe UI"/>
              </a:rPr>
              <a:t>Géoportail national (PRISE 2021-2022) · RGPH-5, INSEED (novembre 2022) · limites COD-AB v02, OCHA (2021) — 25 contrôles arithmétiques publiés</a:t>
            </a:r>
          </a:p>
        </p:txBody>
      </p:sp>
      <p:pic>
        <p:nvPicPr>
          <p:cNvPr id="24" name="Picture 23" descr="armoi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1970532"/>
            <a:ext cx="225425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DÉFI ÉCONOMIE NUMÉRIQUE · TOGO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Problématique et enjeux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L'accès aux services numériques au Togo n'est pas faible partout : il est très inégal — et l'inégalité se mesure.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01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943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0F"/>
                </a:solidFill>
                <a:latin typeface="Segoe UI"/>
              </a:rPr>
              <a:t>Où faut-il investir en priorité pour réduire les inégalités d'accès aux télécommunications et aux services numériques au Togo, et pourquoi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2209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971800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Une moyenne nationale ne suffit pas à décider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200400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409 habitants par point Mobile Money en moyenne — mais un rapport de 1 à 12,7 entre préfectures. Agir « partout » revient à n'agir nulle part en priorité.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0179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3651504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 déficit se prouve, il ne se déclare 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3880104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Affirmer qu'un territoire est sous-desservi exige un dénominateur : la population. Sans elle, un faible comptage peut simplement refléter une faible démographie.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381500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4331208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Une priorisation doit résister à la contestation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4559808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 classement dépendant de pondérations arbitraires n'est pas défendable. Il doit être testé, et sa stabilité publiée.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1965960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03720" y="1965960"/>
            <a:ext cx="219456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0024" y="2121408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POPULATION RÉSIDENTE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0024" y="2441448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8 095 498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287121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RGPH-5 · novembre 2022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81160" y="1965960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81160" y="1965960"/>
            <a:ext cx="219456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27464" y="2121408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POINTS DE SERVICE RECENSÉS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27464" y="2441448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19 788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7464" y="287121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tous géolocalisés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03720" y="3355848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03720" y="3355848"/>
            <a:ext cx="2194560" cy="34747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0024" y="351129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PRÉFECTURES SANS AUCUNE AGENCE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0024" y="3831336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13 / 39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0024" y="4261104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1 621 720 habitants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81160" y="3355848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81160" y="3355848"/>
            <a:ext cx="2194560" cy="34747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51129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TERRITOIRES PRIORITAIRES IDENTIFIÉS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3831336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4261104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priorité stable sur 2 000 pondérations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DONNÉES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Données utilisées et sources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Trois sources publiques, trois producteurs, trois millésimes à moins de deux ans d'écart — et une donnée essentielle qui manque.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02 / 10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1965960"/>
          <a:ext cx="11057837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7351"/>
                <a:gridCol w="2653881"/>
                <a:gridCol w="1990411"/>
                <a:gridCol w="3096194"/>
              </a:tblGrid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Donnée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Producteur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Période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Ce qu'elle apporte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Agences, agents Mobile Money, data centers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Géoportail national du Togo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Collecte 2021-2022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Localisation de chaque équipement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Population résidente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INSEED — 5ᵉ recensement (RGPH-5)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23 oct. – 16 nov. 2022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Le dénominateur de tous les ratios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Limites administratives et superficies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Common Operational Datasets (OCHA)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Valides au 07/01/2021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Contours, densités, distances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36164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3566160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30 fichiers, 5 formats — un seul fait autorité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794760"/>
            <a:ext cx="540410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Les données d'infrastructure sont livrées en CSV, XLSX, KML, GeoJSON et shapefile. Le CSV est le seul à cumuler noms de variables complets et précision maximale des coordonnées.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5541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405122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La population a dû être extraite d'un PDF de 94 pages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4633722"/>
            <a:ext cx="54041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Le livret RGPH-5 n'existe pas en format tabulaire. L'extraction est automatisée et validée par les sommes hiérarchiques.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566160"/>
            <a:ext cx="512064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3566160"/>
            <a:ext cx="32004" cy="2148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490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LA DONNÉE QUI MANQUE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041648"/>
            <a:ext cx="46634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Aucune mesure de couverture réseau mobile n'existe dans les sources ouvertes mobilisées, et les couches d'antennes du catalogue national ne sont pas publiques.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L'objectif « identifier les zones blanches » n'est donc pas traité comme tel. Ce travail mesure un déficit d'accès aux services — pas une absence de réseau. La distinction est maintenue partout.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PRÉPARATION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Qualité et préparation des 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Deux constats des données corrigent l'énoncé du défi : il y a 2 opérateurs et non 4, et 90 agences et non 141.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03 / 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6197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2011680"/>
            <a:ext cx="54955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« Agences – Télécom » n'est pas un quatrième opérateur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2240280"/>
            <a:ext cx="549554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Ses 51 lignes sont déjà contenues dans Moov ∪ Togocom, sans un seul enregistrement propre. Empiler les quatre fichiers afficherait 141 agences au lieu de 90 — une surestimation de 57 % dès le premier indicateur.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0093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850642"/>
            <a:ext cx="54955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« Agences – CANAL+ » est vide à la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" y="3079242"/>
            <a:ext cx="549554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Le serveur joint lui-même la mention « the query result is empty ». C'est une donnée non disponible, et non une absence d'agences sur le terrain.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80638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530346"/>
            <a:ext cx="54955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L'identifiant fourni est volatile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3758946"/>
            <a:ext cx="549554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La même agence porte un identifiant différent dans deux fichiers exportés à trois secondes d'intervalle. La déduplication repose donc sur le nom et les coordonnées, jamais sur cet identifiant.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011680"/>
            <a:ext cx="5029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0" y="2011680"/>
            <a:ext cx="32004" cy="324612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23 CONTRÔLES ARITHMÉTIQUES, REJOUÉS À CHAQUE EXÉCUTION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2606040"/>
            <a:ext cx="45720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La population extraite du PDF somme exactement à 8 095 498 habitants aux trois niveaux — 5 régions, 39 préfectures, 117 communes — sans écart d'une unité.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Ces contrôles ont réellement servi. Deux échecs ont évité des erreurs graves :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① Une jointure sur des noms accentués faisait tomber neuf préfectures à zéro point Mobile Money — dont Agoè-Nyivé et ses 882 695 habitants.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② Une somme régionale à 11 630 489 habitants a révélé un double comptage du Grand Lomé.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MÉTHODE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Méthodologie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Deux unités d'analyse, chacune utilisée là où sa validité est prouvée — et un indice dont les pondérations sont testées.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04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LES DEUX UNITÉS D'ANALYSE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" y="2240280"/>
          <a:ext cx="5669278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4012"/>
                <a:gridCol w="2097633"/>
                <a:gridCol w="2097633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Unité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Rôle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Justification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Préfecture (39)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Cartes, superficies, densités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concordance spatiale 98,4 %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Commune (117)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Ratios par habitant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population validée à l'unité près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66928" y="3337560"/>
            <a:ext cx="5669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Reconstruire les contours des 117 communes a été testé puis rejeté sur preuve : les découpages ne s'emboîtent pas — 65,6 % des points tombent dans une unité à cheval sur plusieurs communes. Publier ces contours aurait produit des densités fausses sans aucune alerte.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65960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L'INDICE DE PRIORITÉ — QUATRE COMPOSANTES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2240280"/>
          <a:ext cx="5029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9928"/>
                <a:gridCol w="2212848"/>
                <a:gridCol w="1106424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Composante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Mesure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Poids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Déficit Mobile Money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habitants par 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30 %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Déficit d'agences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agences / 100 000 hab.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25 %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Éloignement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distance médiane à une agence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25 %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Enjeu démographique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population concernée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20 %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583680" y="3977639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 déficit Mobile Money reprend la définition officielle du géoportail national — « nombre d'habitants par point mobile money ». L'indicateur central n'a pas été inventé pour ce travail.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Ces pondérations sont un choix assumé. C'est exactement pourquoi 2 000 pondérations alternatives sont testées.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66344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Aucune valeur n'est imputée ni estimée. Toute donnée absente est déclarée absente. Aucun écrêtage n'est appliqué aux valeurs extrêmes : elles sont des faits, et leur influence est mesurée par une variante de calcul insensible aux extrêmes.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DIAGNOSTIC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Diagnostic national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409 habitants par point de service en moyenne — mais un rapport de 1 à 12,7 entre la préfecture la mieux et la moins bien desservie.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05 / 10</a:t>
            </a:r>
          </a:p>
        </p:txBody>
      </p:sp>
      <p:pic>
        <p:nvPicPr>
          <p:cNvPr id="14" name="Picture 13" descr="ecart_desse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874519"/>
            <a:ext cx="7404482" cy="429768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1965960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1965960"/>
            <a:ext cx="320040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121408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MOYENNE NATIONALE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441448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409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871216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habitants par point Mobile Money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81528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081528"/>
            <a:ext cx="3200400" cy="34747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236976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 LA MOINS DESSERVIE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57016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2 155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8678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Kpendjal · 5,3 × la moyenne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197096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197096"/>
            <a:ext cx="320040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5254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PRÉFECTURES AU-DESSUS DE LA MOYENNE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672584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24 / 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5102352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moins bien desservies que le pays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312664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312664"/>
            <a:ext cx="3200400" cy="34747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468112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COMMUNES SANS AUCUNE AGENCE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5788152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75 / 117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217920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3 371 081 habitants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008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GÉOSPATIAL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Analyse géospatiale et inégalités territoriales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La moitié la moins bien desservie de la population ne dispose que de 27 % des points de service.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06 / 10</a:t>
            </a:r>
          </a:p>
        </p:txBody>
      </p:sp>
      <p:pic>
        <p:nvPicPr>
          <p:cNvPr id="14" name="Picture 13" descr="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20240"/>
            <a:ext cx="5015010" cy="3931920"/>
          </a:xfrm>
          <a:prstGeom prst="rect">
            <a:avLst/>
          </a:prstGeom>
        </p:spPr>
      </p:pic>
      <p:pic>
        <p:nvPicPr>
          <p:cNvPr id="15" name="Picture 14" descr="concen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20240"/>
            <a:ext cx="4779520" cy="393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59436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12 préfectures sont à la fois plus peuplées que la médiane nationale et moins bien desservies que la moyenne : c'est là qu'un investissement touche le plus d'habitants.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9436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L'écart à la diagonale mesure la concentration. Les distances sont calculées après reprojection métrique — en degrés, elles seraient fausses.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PRIORISATION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Zones prioritaires · indice DCPI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Neuf préfectures restent dans le top 10 pour au moins 90 % de 2 000 pondérations testées : leur priorité ne dépend pas de la méthode.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07 / 10</a:t>
            </a:r>
          </a:p>
        </p:txBody>
      </p:sp>
      <p:pic>
        <p:nvPicPr>
          <p:cNvPr id="14" name="Picture 13" descr="carte_prior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2170081" cy="4343400"/>
          </a:xfrm>
          <a:prstGeom prst="rect">
            <a:avLst/>
          </a:prstGeom>
        </p:spPr>
      </p:pic>
      <p:pic>
        <p:nvPicPr>
          <p:cNvPr id="15" name="Picture 14" descr="sensibi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874519"/>
            <a:ext cx="4752345" cy="3703320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863840" y="1874519"/>
          <a:ext cx="3794758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580"/>
                <a:gridCol w="1138428"/>
                <a:gridCol w="721004"/>
                <a:gridCol w="645109"/>
                <a:gridCol w="379476"/>
                <a:gridCol w="607161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Préfecture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Hab.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Hab./pt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Ag.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Dist.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Kpendjal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88 365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2 155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47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Mô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52 448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1 639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45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Est-Mono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164 460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787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46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Akébou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73 830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849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43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Blitta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163 272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1 814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28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Wawa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101 300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415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44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863840" y="4160520"/>
            <a:ext cx="379476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Corrélation de Spearman moyenne avec le classement de référence : 0,971 sur 2 000 pondérations aléatoires, plus huit variantes structurelles (retrait de chaque composante, poids égaux, normalisation par rang).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Les territoires dont le rang dépend des pondérations ne sont pas présentés comme prioritaires.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Recommandations stratégiques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Cinq leviers, chacun déclenché par un seuil mesuré — aucune recommandation sans le chiffre qui la justifie.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08 / 10</a:t>
            </a:r>
          </a:p>
        </p:txBody>
      </p:sp>
      <p:pic>
        <p:nvPicPr>
          <p:cNvPr id="14" name="Picture 13" descr="lev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148840"/>
            <a:ext cx="5349240" cy="2458581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965960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Densifier le réseau d'agents Mobile Money — levier rapide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2194560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plus de 800 habitants par point. S'appuie sur des commerces existants, sans construction.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2645664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Implanter un point de présence opérateur — levier structurel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2874264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aucune agence active. Seul levier créant un guichet là où il n'en existe aucun.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75660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325368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Répartir le maillage plutôt qu'un point unique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3553968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25 km ou plus jusqu'à une agence. Quand l'éloignement domine, un guichet au chef-lieu ne règle rien.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05536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005072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Ouvrir la concurrence entre opérateurs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" y="4233672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un seul opérateur présent. 4 773 points ne servent que Togocom contre 1 018 pour Moov seul.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937760"/>
            <a:ext cx="53492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937760"/>
            <a:ext cx="32004" cy="123444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51206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Les 9 territoires prioritaires représentent 1 080 723 habitants, soit 13% de la population nationale.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Un même territoire peut relever de plusieurs leviers : les populations ne s'additionnent pas d'un levier à l'autre.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PRÉCAUTIONS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Limites et précautions d'interprétation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Ce diagnostic mesure un déficit d'accès aux services — pas une absence de réseau mobile. La distinction est décisive.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09 / 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1965960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La couverture réseau n'est pas mesurée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2194560"/>
            <a:ext cx="54041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Une zone sans agence ni agent Mobile Money n'est pas nécessairement une zone sans réseau mobile. C'est la limite la plus importante de ce travail.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645664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Les agences CANAL+ sont absentes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" y="2874264"/>
            <a:ext cx="5404104" cy="1592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Fichier source vide. Le déficit d'agences ne porte que sur Moov et Togocom.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1640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166110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 diagnostic décrit 2021-2022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3394710"/>
            <a:ext cx="54041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Tout déploiement postérieur est invisible. La hiérarchie des besoins reste valable tant que les écarts ne sont pas comblés.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1965960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Les scores communaux et préfectoraux ne sont pas comparables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194560"/>
            <a:ext cx="49469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La composante d'éloignement ne repose pas sur la même mesure aux deux niveaux. Les rangs se lisent à l'intérieur de chaque niveau.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5976" y="2645664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 score élevé signale un besoin, pas une solution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2874264"/>
            <a:ext cx="494690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L'indice ne dit rien du coût, de la faisabilité ni de la rentabilité d'une intervention. Il hiérarchise des besoins mesurés — préalable à un arbitrage, jamais son substitut.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534918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65976" y="3484626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La structure par âge n'est pas prise en compte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5976" y="3713226"/>
            <a:ext cx="494690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 dénominateur « 15 ans et plus » serait plus juste. Les tableaux d'âges n'ont pas pu être extraits avec une garantie arithmétique suffisante : ils ont été écartés plutôt que repris sans contrôle.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Réponse à la problématique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9 territoires, 1 080 723 habitants, et un ordre d'intervention qui résiste au changement de méthode.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10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OÙ INVESTIR EN PRIORITÉ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286000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2120F"/>
                </a:solidFill>
                <a:latin typeface="Segoe UI"/>
              </a:rPr>
              <a:t>Kpendjal, Mô, Est-Mono, Akébou, Yoto, Kpendjal-Ouest, Tandjoaré, Wawa et Blitta.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878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337560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Pourquoi ces territoires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3566160"/>
            <a:ext cx="558698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Ils cumulent les trois déficits mesurés — desserte, présence d'agences, éloignement — pour une population qui les place au-delà du seuil où l'intervention devient rentable en nombre d'habitants touchés.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2681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176522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Pourquoi on peut le défendre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05122"/>
            <a:ext cx="558698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2 000 pondérations testées, corrélation moyenne 0,971. 23 contrôles arithmétiques au vert. Aucune valeur imputée. Les approches écartées sont documentées avec leurs preuves.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19659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75120" y="1965960"/>
            <a:ext cx="237744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21214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TERRITOIRES PRIORITAIRES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24414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28712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sur 39 préfectures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17152" y="19659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17152" y="1965960"/>
            <a:ext cx="237744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3456" y="21214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HABITANTS CONCERNÉS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63456" y="24414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1 080 723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3456" y="28712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13% de la population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3375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75120" y="3337560"/>
            <a:ext cx="2377440" cy="34747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4930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STABILITÉ DU CLASSEMENT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21424" y="38130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0,971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1424" y="42428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corrélation sur 2 000 pondérations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17152" y="33375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17152" y="3337560"/>
            <a:ext cx="237744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63456" y="3493008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CONTRÔLES AU VERT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63456" y="3813048"/>
            <a:ext cx="20848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23 / 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63456" y="4242816"/>
            <a:ext cx="20848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rejoués à chaque exécution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4892040"/>
            <a:ext cx="493776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675120" y="4892040"/>
            <a:ext cx="32004" cy="12344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507492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Ce que ce travail ne prétend pas faire : mesurer la couverture réseau. Compléter ce diagnostic exigerait l'ouverture des couches d'antennes du catalogue national — c'est la première recommandation adressée au producteur de données.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4864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4864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4864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spc="190">
                <a:solidFill>
                  <a:srgbClr val="8EB6A6"/>
                </a:solidFill>
                <a:latin typeface="Segoe UI"/>
              </a:rPr>
              <a:t>POUR ALLER PLUS LOIN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spc="-40">
                <a:solidFill>
                  <a:srgbClr val="FFFFFF"/>
                </a:solidFill>
                <a:latin typeface="Segoe UI"/>
              </a:rPr>
              <a:t>Le diagnostic ne s'arrête pas</a:t>
            </a:r>
          </a:p>
          <a:p>
            <a:pPr algn="l">
              <a:lnSpc>
                <a:spcPct val="106000"/>
              </a:lnSpc>
            </a:pPr>
            <a:r>
              <a:rPr sz="3600" b="1" spc="-40">
                <a:solidFill>
                  <a:srgbClr val="FFFFFF"/>
                </a:solidFill>
                <a:latin typeface="Segoe UI"/>
              </a:rPr>
              <a:t>à ces diapositives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80944"/>
            <a:ext cx="841248" cy="41148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64992"/>
            <a:ext cx="2606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TABLEAU DE BORD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328416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CBDED6"/>
                </a:solidFill>
                <a:latin typeface="Segoe UI"/>
              </a:rPr>
              <a:t>39 préfectures, 117 communes, 19 788 points — cartes, fiches de territoire, repondération de l'indice et simulateur de couverture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2606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CHAÎNE REPRODUCTIBLE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895344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CBDED6"/>
                </a:solidFill>
                <a:latin typeface="Segoe UI"/>
              </a:rPr>
              <a:t>8 scripts, un rapport de contrôle par étape, 25 contrôles arithmétiques rejoués à chaque exécution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98848"/>
            <a:ext cx="2606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DONNÉES OUVERTES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462272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CBDED6"/>
                </a:solidFill>
                <a:latin typeface="Segoe UI"/>
              </a:rPr>
              <a:t>aucune valeur imputée ; les trois pistes écartées sont documentées avec leurs preuves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5230368"/>
            <a:ext cx="8549640" cy="9525"/>
          </a:xfrm>
          <a:prstGeom prst="rect">
            <a:avLst/>
          </a:prstGeom>
          <a:solidFill>
            <a:srgbClr val="1B5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4681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CE15"/>
                </a:solidFill>
                <a:latin typeface="Segoe UI"/>
              </a:rPr>
              <a:t>Tableau de bord en ligne — adresse à renseigner (src/build_deck.py)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KOUTSAVA Kossi Epiphane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199632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6D9A89"/>
                </a:solidFill>
                <a:latin typeface="Segoe UI"/>
              </a:rPr>
              <a:t>République togolaise · Défi Économie numérique · Un score élevé signale un besoin mesuré — ni un coût, ni une faisabilité, ni une rentabilité.</a:t>
            </a:r>
          </a:p>
        </p:txBody>
      </p:sp>
      <p:pic>
        <p:nvPicPr>
          <p:cNvPr id="19" name="Picture 18" descr="armoi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3903" y="2148840"/>
            <a:ext cx="2032000" cy="2926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