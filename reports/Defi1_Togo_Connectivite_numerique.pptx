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3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4864"/>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4864"/>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4864"/>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932688"/>
            <a:ext cx="7589520" cy="201168"/>
          </a:xfrm>
          <a:prstGeom prst="rect">
            <a:avLst/>
          </a:prstGeom>
          <a:noFill/>
        </p:spPr>
        <p:txBody>
          <a:bodyPr wrap="square" lIns="0" rIns="0" tIns="0" bIns="0">
            <a:spAutoFit/>
          </a:bodyPr>
          <a:lstStyle/>
          <a:p>
            <a:pPr algn="l">
              <a:lnSpc>
                <a:spcPct val="120000"/>
              </a:lnSpc>
            </a:pPr>
            <a:r>
              <a:rPr sz="950" b="1" spc="190">
                <a:solidFill>
                  <a:srgbClr val="8EB6A6"/>
                </a:solidFill>
                <a:latin typeface="Segoe UI"/>
              </a:rPr>
              <a:t>DÉFI 1 · ÉCONOMIE NUMÉRIQUE · RÉPUBLIQUE TOGOLAISE</a:t>
            </a:r>
          </a:p>
        </p:txBody>
      </p:sp>
      <p:sp>
        <p:nvSpPr>
          <p:cNvPr id="7" name="TextBox 6"/>
          <p:cNvSpPr txBox="1"/>
          <p:nvPr/>
        </p:nvSpPr>
        <p:spPr>
          <a:xfrm>
            <a:off x="868680" y="1389888"/>
            <a:ext cx="7589520" cy="1737360"/>
          </a:xfrm>
          <a:prstGeom prst="rect">
            <a:avLst/>
          </a:prstGeom>
          <a:noFill/>
        </p:spPr>
        <p:txBody>
          <a:bodyPr wrap="square" lIns="0" rIns="0" tIns="0" bIns="0">
            <a:spAutoFit/>
          </a:bodyPr>
          <a:lstStyle/>
          <a:p>
            <a:pPr algn="l">
              <a:lnSpc>
                <a:spcPct val="102000"/>
              </a:lnSpc>
            </a:pPr>
            <a:r>
              <a:rPr sz="4300" b="1" spc="-50">
                <a:solidFill>
                  <a:srgbClr val="FFFFFF"/>
                </a:solidFill>
                <a:latin typeface="Segoe UI"/>
              </a:rPr>
              <a:t>Connecter le Togo</a:t>
            </a:r>
          </a:p>
          <a:p>
            <a:pPr algn="l">
              <a:lnSpc>
                <a:spcPct val="102000"/>
              </a:lnSpc>
            </a:pPr>
            <a:r>
              <a:rPr sz="4300" b="1" spc="-50">
                <a:solidFill>
                  <a:srgbClr val="FFFFFF"/>
                </a:solidFill>
                <a:latin typeface="Segoe UI"/>
              </a:rPr>
              <a:t>là où le manque est prouvé</a:t>
            </a:r>
          </a:p>
        </p:txBody>
      </p:sp>
      <p:sp>
        <p:nvSpPr>
          <p:cNvPr id="8" name="Rectangle 7"/>
          <p:cNvSpPr/>
          <p:nvPr/>
        </p:nvSpPr>
        <p:spPr>
          <a:xfrm>
            <a:off x="868680" y="3127248"/>
            <a:ext cx="841248" cy="41148"/>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456432"/>
            <a:ext cx="7223760" cy="1005840"/>
          </a:xfrm>
          <a:prstGeom prst="rect">
            <a:avLst/>
          </a:prstGeom>
          <a:noFill/>
        </p:spPr>
        <p:txBody>
          <a:bodyPr wrap="square" lIns="0" rIns="0" tIns="0" bIns="0">
            <a:spAutoFit/>
          </a:bodyPr>
          <a:lstStyle/>
          <a:p>
            <a:pPr algn="l">
              <a:lnSpc>
                <a:spcPct val="152000"/>
              </a:lnSpc>
            </a:pPr>
            <a:r>
              <a:rPr sz="1400" b="0">
                <a:solidFill>
                  <a:srgbClr val="CBDED6"/>
                </a:solidFill>
                <a:latin typeface="Segoe UI"/>
              </a:rPr>
              <a:t>Le Togo compte un point de service financier numérique pour 409 habitants. Cette moyenne ne dit rien d'utile : entre la préfecture la mieux dotée et la moins dotée, l'écart est de 1 à 12,7.</a:t>
            </a:r>
          </a:p>
          <a:p>
            <a:pPr algn="l">
              <a:lnSpc>
                <a:spcPct val="152000"/>
              </a:lnSpc>
            </a:pPr>
            <a:r>
              <a:rPr sz="1400" b="0">
                <a:solidFill>
                  <a:srgbClr val="CBDED6"/>
                </a:solidFill>
                <a:latin typeface="Segoe UI"/>
              </a:rPr>
              <a:t>Ce diagnostic désigne les territoires où investir, et publie de quoi contester le classement.</a:t>
            </a:r>
          </a:p>
        </p:txBody>
      </p:sp>
      <p:sp>
        <p:nvSpPr>
          <p:cNvPr id="10" name="Rectangle 9"/>
          <p:cNvSpPr/>
          <p:nvPr/>
        </p:nvSpPr>
        <p:spPr>
          <a:xfrm>
            <a:off x="868680" y="4590288"/>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HABITANTS PAR POINT DE SERVICE</a:t>
            </a:r>
          </a:p>
        </p:txBody>
      </p:sp>
      <p:sp>
        <p:nvSpPr>
          <p:cNvPr id="12" name="TextBox 11"/>
          <p:cNvSpPr txBox="1"/>
          <p:nvPr/>
        </p:nvSpPr>
        <p:spPr>
          <a:xfrm>
            <a:off x="868680"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409</a:t>
            </a:r>
          </a:p>
        </p:txBody>
      </p:sp>
      <p:sp>
        <p:nvSpPr>
          <p:cNvPr id="13" name="TextBox 12"/>
          <p:cNvSpPr txBox="1"/>
          <p:nvPr/>
        </p:nvSpPr>
        <p:spPr>
          <a:xfrm>
            <a:off x="868680"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moyenne nationale · 19 788 points géolocalisés</a:t>
            </a:r>
          </a:p>
        </p:txBody>
      </p:sp>
      <p:sp>
        <p:nvSpPr>
          <p:cNvPr id="14" name="TextBox 13"/>
          <p:cNvSpPr txBox="1"/>
          <p:nvPr/>
        </p:nvSpPr>
        <p:spPr>
          <a:xfrm>
            <a:off x="3721608"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ÉCART ENTRE PRÉFECTURES</a:t>
            </a:r>
          </a:p>
        </p:txBody>
      </p:sp>
      <p:sp>
        <p:nvSpPr>
          <p:cNvPr id="15" name="TextBox 14"/>
          <p:cNvSpPr txBox="1"/>
          <p:nvPr/>
        </p:nvSpPr>
        <p:spPr>
          <a:xfrm>
            <a:off x="3721608"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1 à 12,7</a:t>
            </a:r>
          </a:p>
        </p:txBody>
      </p:sp>
      <p:sp>
        <p:nvSpPr>
          <p:cNvPr id="16" name="TextBox 15"/>
          <p:cNvSpPr txBox="1"/>
          <p:nvPr/>
        </p:nvSpPr>
        <p:spPr>
          <a:xfrm>
            <a:off x="3721608"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Kpendjal contre Tchaoudjo</a:t>
            </a:r>
          </a:p>
        </p:txBody>
      </p:sp>
      <p:sp>
        <p:nvSpPr>
          <p:cNvPr id="17" name="TextBox 16"/>
          <p:cNvSpPr txBox="1"/>
          <p:nvPr/>
        </p:nvSpPr>
        <p:spPr>
          <a:xfrm>
            <a:off x="6574536"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PRÉFECTURES SANS AGENCE ACTIVE</a:t>
            </a:r>
          </a:p>
        </p:txBody>
      </p:sp>
      <p:sp>
        <p:nvSpPr>
          <p:cNvPr id="18" name="TextBox 17"/>
          <p:cNvSpPr txBox="1"/>
          <p:nvPr/>
        </p:nvSpPr>
        <p:spPr>
          <a:xfrm>
            <a:off x="6574536"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13 / 39</a:t>
            </a:r>
          </a:p>
        </p:txBody>
      </p:sp>
      <p:sp>
        <p:nvSpPr>
          <p:cNvPr id="19" name="TextBox 18"/>
          <p:cNvSpPr txBox="1"/>
          <p:nvPr/>
        </p:nvSpPr>
        <p:spPr>
          <a:xfrm>
            <a:off x="6574536"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1 621 720 habitants concernés</a:t>
            </a:r>
          </a:p>
        </p:txBody>
      </p:sp>
      <p:sp>
        <p:nvSpPr>
          <p:cNvPr id="20" name="TextBox 19"/>
          <p:cNvSpPr txBox="1"/>
          <p:nvPr/>
        </p:nvSpPr>
        <p:spPr>
          <a:xfrm>
            <a:off x="868680" y="5943600"/>
            <a:ext cx="5669280" cy="274320"/>
          </a:xfrm>
          <a:prstGeom prst="rect">
            <a:avLst/>
          </a:prstGeom>
          <a:noFill/>
        </p:spPr>
        <p:txBody>
          <a:bodyPr wrap="square" lIns="0" rIns="0" tIns="0" bIns="0">
            <a:spAutoFit/>
          </a:bodyPr>
          <a:lstStyle/>
          <a:p>
            <a:pPr algn="l">
              <a:lnSpc>
                <a:spcPct val="120000"/>
              </a:lnSpc>
            </a:pPr>
            <a:r>
              <a:rPr sz="1450" b="1">
                <a:solidFill>
                  <a:srgbClr val="FFFFFF"/>
                </a:solidFill>
                <a:latin typeface="Segoe UI"/>
              </a:rPr>
              <a:t>KOUTSAVA Kossi Epiphane</a:t>
            </a:r>
          </a:p>
        </p:txBody>
      </p:sp>
      <p:sp>
        <p:nvSpPr>
          <p:cNvPr id="21" name="TextBox 20"/>
          <p:cNvSpPr txBox="1"/>
          <p:nvPr/>
        </p:nvSpPr>
        <p:spPr>
          <a:xfrm>
            <a:off x="868680" y="6190488"/>
            <a:ext cx="5669280" cy="201168"/>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ANALYSE DE DONNÉES · DÉFI ÉCONOMIE NUMÉRIQUE</a:t>
            </a:r>
          </a:p>
        </p:txBody>
      </p:sp>
      <p:sp>
        <p:nvSpPr>
          <p:cNvPr id="22" name="Rectangle 21"/>
          <p:cNvSpPr/>
          <p:nvPr/>
        </p:nvSpPr>
        <p:spPr>
          <a:xfrm>
            <a:off x="868680" y="6483096"/>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6574536"/>
            <a:ext cx="10469880" cy="201168"/>
          </a:xfrm>
          <a:prstGeom prst="rect">
            <a:avLst/>
          </a:prstGeom>
          <a:noFill/>
        </p:spPr>
        <p:txBody>
          <a:bodyPr wrap="square" lIns="0" rIns="0" tIns="0" bIns="0">
            <a:spAutoFit/>
          </a:bodyPr>
          <a:lstStyle/>
          <a:p>
            <a:pPr algn="l">
              <a:lnSpc>
                <a:spcPct val="140000"/>
              </a:lnSpc>
            </a:pPr>
            <a:r>
              <a:rPr sz="800" b="0">
                <a:solidFill>
                  <a:srgbClr val="6D9A89"/>
                </a:solidFill>
                <a:latin typeface="Segoe UI"/>
              </a:rPr>
              <a:t>Géoportail national (PRISE 2021-2022) · RGPH-5, INSEED (novembre 2022) · limites COD-AB v02, OCHA (2021) — 35 contrôles arithmétiques publiés</a:t>
            </a:r>
          </a:p>
        </p:txBody>
      </p:sp>
      <p:pic>
        <p:nvPicPr>
          <p:cNvPr id="24" name="Picture 23" descr="armoiries.png"/>
          <p:cNvPicPr>
            <a:picLocks noChangeAspect="1"/>
          </p:cNvPicPr>
          <p:nvPr/>
        </p:nvPicPr>
        <p:blipFill>
          <a:blip r:embed="rId2"/>
          <a:stretch>
            <a:fillRect/>
          </a:stretch>
        </p:blipFill>
        <p:spPr>
          <a:xfrm>
            <a:off x="9064447" y="1970532"/>
            <a:ext cx="2254250" cy="32461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DÉFI ÉCONOMIE NUMÉRIQUE · TOGO</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Problématique et enjeux</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L'accès aux services numériques au Togo n'est pas faible partout : il est très inégal — et l'inégalité se mesure.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02 / 10</a:t>
            </a:r>
          </a:p>
        </p:txBody>
      </p:sp>
      <p:sp>
        <p:nvSpPr>
          <p:cNvPr id="14" name="TextBox 13"/>
          <p:cNvSpPr txBox="1"/>
          <p:nvPr/>
        </p:nvSpPr>
        <p:spPr>
          <a:xfrm>
            <a:off x="566928" y="1965960"/>
            <a:ext cx="5943600" cy="822960"/>
          </a:xfrm>
          <a:prstGeom prst="rect">
            <a:avLst/>
          </a:prstGeom>
          <a:noFill/>
        </p:spPr>
        <p:txBody>
          <a:bodyPr wrap="square" lIns="0" rIns="0" tIns="0" bIns="0">
            <a:spAutoFit/>
          </a:bodyPr>
          <a:lstStyle/>
          <a:p>
            <a:pPr algn="l">
              <a:lnSpc>
                <a:spcPct val="130000"/>
              </a:lnSpc>
            </a:pPr>
            <a:r>
              <a:rPr sz="1700" b="1">
                <a:solidFill>
                  <a:srgbClr val="12120F"/>
                </a:solidFill>
                <a:latin typeface="Segoe UI"/>
              </a:rPr>
              <a:t>Où faut-il investir en priorité pour réduire les inégalités d'accès aux télécommunications et aux services numériques au Togo, et pourquoi ?</a:t>
            </a:r>
          </a:p>
        </p:txBody>
      </p:sp>
      <p:sp>
        <p:nvSpPr>
          <p:cNvPr id="15" name="Rectangle 14"/>
          <p:cNvSpPr/>
          <p:nvPr/>
        </p:nvSpPr>
        <p:spPr>
          <a:xfrm>
            <a:off x="566928" y="30220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971800"/>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Une moyenne nationale ne suffit pas à décider</a:t>
            </a:r>
          </a:p>
        </p:txBody>
      </p:sp>
      <p:sp>
        <p:nvSpPr>
          <p:cNvPr id="17" name="TextBox 16"/>
          <p:cNvSpPr txBox="1"/>
          <p:nvPr/>
        </p:nvSpPr>
        <p:spPr>
          <a:xfrm>
            <a:off x="740664" y="3200400"/>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409 habitants par point Mobile Money en moyenne — mais un rapport de 1 à 12,7 entre préfectures. Agir « partout » revient à n'agir nulle part en priorité.</a:t>
            </a:r>
          </a:p>
        </p:txBody>
      </p:sp>
      <p:sp>
        <p:nvSpPr>
          <p:cNvPr id="18" name="Rectangle 17"/>
          <p:cNvSpPr/>
          <p:nvPr/>
        </p:nvSpPr>
        <p:spPr>
          <a:xfrm>
            <a:off x="566928" y="37017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651504"/>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 déficit se prouve, il ne se déclare pas</a:t>
            </a:r>
          </a:p>
        </p:txBody>
      </p:sp>
      <p:sp>
        <p:nvSpPr>
          <p:cNvPr id="20" name="TextBox 19"/>
          <p:cNvSpPr txBox="1"/>
          <p:nvPr/>
        </p:nvSpPr>
        <p:spPr>
          <a:xfrm>
            <a:off x="740664" y="3880104"/>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Affirmer qu'un territoire est sous-desservi exige un dénominateur : la population. Sans elle, un faible comptage peut simplement refléter une faible démographie.</a:t>
            </a:r>
          </a:p>
        </p:txBody>
      </p:sp>
      <p:sp>
        <p:nvSpPr>
          <p:cNvPr id="21" name="Rectangle 20"/>
          <p:cNvSpPr/>
          <p:nvPr/>
        </p:nvSpPr>
        <p:spPr>
          <a:xfrm>
            <a:off x="566928" y="438150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331208"/>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Une priorisation doit résister à la contestation</a:t>
            </a:r>
          </a:p>
        </p:txBody>
      </p:sp>
      <p:sp>
        <p:nvSpPr>
          <p:cNvPr id="23" name="TextBox 22"/>
          <p:cNvSpPr txBox="1"/>
          <p:nvPr/>
        </p:nvSpPr>
        <p:spPr>
          <a:xfrm>
            <a:off x="740664" y="4559808"/>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Un classement dépendant de pondérations arbitraires n'est pas défendable. Il doit être testé, et sa stabilité publiée.</a:t>
            </a:r>
          </a:p>
        </p:txBody>
      </p:sp>
      <p:sp>
        <p:nvSpPr>
          <p:cNvPr id="24" name="Rectangle 23"/>
          <p:cNvSpPr/>
          <p:nvPr/>
        </p:nvSpPr>
        <p:spPr>
          <a:xfrm>
            <a:off x="690372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03720" y="1965960"/>
            <a:ext cx="219456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0024" y="2121408"/>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POPULATION RÉSIDENTE</a:t>
            </a:r>
          </a:p>
        </p:txBody>
      </p:sp>
      <p:sp>
        <p:nvSpPr>
          <p:cNvPr id="27" name="TextBox 26"/>
          <p:cNvSpPr txBox="1"/>
          <p:nvPr/>
        </p:nvSpPr>
        <p:spPr>
          <a:xfrm>
            <a:off x="7050024" y="2441448"/>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8 095 498</a:t>
            </a:r>
          </a:p>
        </p:txBody>
      </p:sp>
      <p:sp>
        <p:nvSpPr>
          <p:cNvPr id="28" name="TextBox 27"/>
          <p:cNvSpPr txBox="1"/>
          <p:nvPr/>
        </p:nvSpPr>
        <p:spPr>
          <a:xfrm>
            <a:off x="7050024" y="2871216"/>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RGPH-5 · novembre 2022</a:t>
            </a:r>
          </a:p>
        </p:txBody>
      </p:sp>
      <p:sp>
        <p:nvSpPr>
          <p:cNvPr id="29" name="Rectangle 28"/>
          <p:cNvSpPr/>
          <p:nvPr/>
        </p:nvSpPr>
        <p:spPr>
          <a:xfrm>
            <a:off x="928116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81160" y="1965960"/>
            <a:ext cx="219456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27464" y="2121408"/>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POINTS DE SERVICE RECENSÉS</a:t>
            </a:r>
          </a:p>
        </p:txBody>
      </p:sp>
      <p:sp>
        <p:nvSpPr>
          <p:cNvPr id="32" name="TextBox 31"/>
          <p:cNvSpPr txBox="1"/>
          <p:nvPr/>
        </p:nvSpPr>
        <p:spPr>
          <a:xfrm>
            <a:off x="9427464" y="2441448"/>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19 788</a:t>
            </a:r>
          </a:p>
        </p:txBody>
      </p:sp>
      <p:sp>
        <p:nvSpPr>
          <p:cNvPr id="33" name="TextBox 32"/>
          <p:cNvSpPr txBox="1"/>
          <p:nvPr/>
        </p:nvSpPr>
        <p:spPr>
          <a:xfrm>
            <a:off x="9427464" y="2871216"/>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tous géolocalisés</a:t>
            </a:r>
          </a:p>
        </p:txBody>
      </p:sp>
      <p:sp>
        <p:nvSpPr>
          <p:cNvPr id="34" name="Rectangle 33"/>
          <p:cNvSpPr/>
          <p:nvPr/>
        </p:nvSpPr>
        <p:spPr>
          <a:xfrm>
            <a:off x="690372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03720" y="3355848"/>
            <a:ext cx="219456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0024" y="3511296"/>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PRÉFECTURES SANS AGENCE ACTIVE</a:t>
            </a:r>
          </a:p>
        </p:txBody>
      </p:sp>
      <p:sp>
        <p:nvSpPr>
          <p:cNvPr id="37" name="TextBox 36"/>
          <p:cNvSpPr txBox="1"/>
          <p:nvPr/>
        </p:nvSpPr>
        <p:spPr>
          <a:xfrm>
            <a:off x="7050024" y="3831336"/>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13 / 39</a:t>
            </a:r>
          </a:p>
        </p:txBody>
      </p:sp>
      <p:sp>
        <p:nvSpPr>
          <p:cNvPr id="38" name="TextBox 37"/>
          <p:cNvSpPr txBox="1"/>
          <p:nvPr/>
        </p:nvSpPr>
        <p:spPr>
          <a:xfrm>
            <a:off x="7050024" y="4261104"/>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1 621 720 habitants</a:t>
            </a:r>
          </a:p>
        </p:txBody>
      </p:sp>
      <p:sp>
        <p:nvSpPr>
          <p:cNvPr id="39" name="Rectangle 38"/>
          <p:cNvSpPr/>
          <p:nvPr/>
        </p:nvSpPr>
        <p:spPr>
          <a:xfrm>
            <a:off x="928116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81160" y="3355848"/>
            <a:ext cx="2194560" cy="34747"/>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27464" y="3511296"/>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TERRITOIRES PRIORITAIRES IDENTIFIÉS</a:t>
            </a:r>
          </a:p>
        </p:txBody>
      </p:sp>
      <p:sp>
        <p:nvSpPr>
          <p:cNvPr id="42" name="TextBox 41"/>
          <p:cNvSpPr txBox="1"/>
          <p:nvPr/>
        </p:nvSpPr>
        <p:spPr>
          <a:xfrm>
            <a:off x="9427464" y="3831336"/>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9</a:t>
            </a:r>
          </a:p>
        </p:txBody>
      </p:sp>
      <p:sp>
        <p:nvSpPr>
          <p:cNvPr id="43" name="TextBox 42"/>
          <p:cNvSpPr txBox="1"/>
          <p:nvPr/>
        </p:nvSpPr>
        <p:spPr>
          <a:xfrm>
            <a:off x="9427464" y="4261104"/>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priorité stable sur 2 000 pondérations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DONNÉES</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Données, sources et qualité</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Trois sources publiques, deux corrections de l'énoncé : 2 opérateurs et non 4, 90 agences recensées et non 141.</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03 / 10</a:t>
            </a:r>
          </a:p>
        </p:txBody>
      </p:sp>
      <p:graphicFrame>
        <p:nvGraphicFramePr>
          <p:cNvPr id="14" name="Table 13"/>
          <p:cNvGraphicFramePr>
            <a:graphicFrameLocks noGrp="1"/>
          </p:cNvGraphicFramePr>
          <p:nvPr/>
        </p:nvGraphicFramePr>
        <p:xfrm>
          <a:off x="566928" y="1874519"/>
          <a:ext cx="11057837" cy="1170432"/>
        </p:xfrm>
        <a:graphic>
          <a:graphicData uri="http://schemas.openxmlformats.org/drawingml/2006/table">
            <a:tbl>
              <a:tblPr firstRow="1" bandRow="1">
                <a:tableStyleId>{5C22544A-7EE6-4342-B048-85BDC9FD1C3A}</a:tableStyleId>
              </a:tblPr>
              <a:tblGrid>
                <a:gridCol w="3317351"/>
                <a:gridCol w="2653881"/>
                <a:gridCol w="1990411"/>
                <a:gridCol w="3096194"/>
              </a:tblGrid>
              <a:tr h="292608">
                <a:tc>
                  <a:txBody>
                    <a:bodyPr/>
                    <a:lstStyle/>
                    <a:p>
                      <a:r>
                        <a:rPr sz="950" b="1">
                          <a:solidFill>
                            <a:srgbClr val="FFFFFF"/>
                          </a:solidFill>
                          <a:latin typeface="Segoe UI"/>
                        </a:rPr>
                        <a:t>Donnée</a:t>
                      </a:r>
                    </a:p>
                  </a:txBody>
                  <a:tcPr anchor="ctr">
                    <a:solidFill>
                      <a:srgbClr val="156C52"/>
                    </a:solidFill>
                  </a:tcPr>
                </a:tc>
                <a:tc>
                  <a:txBody>
                    <a:bodyPr/>
                    <a:lstStyle/>
                    <a:p>
                      <a:r>
                        <a:rPr sz="950" b="1">
                          <a:solidFill>
                            <a:srgbClr val="FFFFFF"/>
                          </a:solidFill>
                          <a:latin typeface="Segoe UI"/>
                        </a:rPr>
                        <a:t>Producteur</a:t>
                      </a:r>
                    </a:p>
                  </a:txBody>
                  <a:tcPr anchor="ctr">
                    <a:solidFill>
                      <a:srgbClr val="156C52"/>
                    </a:solidFill>
                  </a:tcPr>
                </a:tc>
                <a:tc>
                  <a:txBody>
                    <a:bodyPr/>
                    <a:lstStyle/>
                    <a:p>
                      <a:r>
                        <a:rPr sz="950" b="1">
                          <a:solidFill>
                            <a:srgbClr val="FFFFFF"/>
                          </a:solidFill>
                          <a:latin typeface="Segoe UI"/>
                        </a:rPr>
                        <a:t>Période</a:t>
                      </a:r>
                    </a:p>
                  </a:txBody>
                  <a:tcPr anchor="ctr">
                    <a:solidFill>
                      <a:srgbClr val="156C52"/>
                    </a:solidFill>
                  </a:tcPr>
                </a:tc>
                <a:tc>
                  <a:txBody>
                    <a:bodyPr/>
                    <a:lstStyle/>
                    <a:p>
                      <a:r>
                        <a:rPr sz="950" b="1">
                          <a:solidFill>
                            <a:srgbClr val="FFFFFF"/>
                          </a:solidFill>
                          <a:latin typeface="Segoe UI"/>
                        </a:rPr>
                        <a:t>Ce qu'elle apporte</a:t>
                      </a:r>
                    </a:p>
                  </a:txBody>
                  <a:tcPr anchor="ctr">
                    <a:solidFill>
                      <a:srgbClr val="156C52"/>
                    </a:solidFill>
                  </a:tcPr>
                </a:tc>
              </a:tr>
              <a:tr h="292608">
                <a:tc>
                  <a:txBody>
                    <a:bodyPr/>
                    <a:lstStyle/>
                    <a:p>
                      <a:r>
                        <a:rPr sz="950" b="1">
                          <a:solidFill>
                            <a:srgbClr val="12120F"/>
                          </a:solidFill>
                          <a:latin typeface="Segoe UI"/>
                        </a:rPr>
                        <a:t>Agences, agents Mobile Money, data centers</a:t>
                      </a:r>
                    </a:p>
                  </a:txBody>
                  <a:tcPr anchor="ctr">
                    <a:solidFill>
                      <a:srgbClr val="FFFFFF"/>
                    </a:solidFill>
                  </a:tcPr>
                </a:tc>
                <a:tc>
                  <a:txBody>
                    <a:bodyPr/>
                    <a:lstStyle/>
                    <a:p>
                      <a:r>
                        <a:rPr sz="950" b="0">
                          <a:solidFill>
                            <a:srgbClr val="55544F"/>
                          </a:solidFill>
                          <a:latin typeface="Segoe UI"/>
                        </a:rPr>
                        <a:t>Géoportail national du Togo</a:t>
                      </a:r>
                    </a:p>
                  </a:txBody>
                  <a:tcPr anchor="ctr">
                    <a:solidFill>
                      <a:srgbClr val="FFFFFF"/>
                    </a:solidFill>
                  </a:tcPr>
                </a:tc>
                <a:tc>
                  <a:txBody>
                    <a:bodyPr/>
                    <a:lstStyle/>
                    <a:p>
                      <a:r>
                        <a:rPr sz="950" b="0">
                          <a:solidFill>
                            <a:srgbClr val="55544F"/>
                          </a:solidFill>
                          <a:latin typeface="Segoe UI"/>
                        </a:rPr>
                        <a:t>Collecte 2021-2022</a:t>
                      </a:r>
                    </a:p>
                  </a:txBody>
                  <a:tcPr anchor="ctr">
                    <a:solidFill>
                      <a:srgbClr val="FFFFFF"/>
                    </a:solidFill>
                  </a:tcPr>
                </a:tc>
                <a:tc>
                  <a:txBody>
                    <a:bodyPr/>
                    <a:lstStyle/>
                    <a:p>
                      <a:r>
                        <a:rPr sz="950" b="0">
                          <a:solidFill>
                            <a:srgbClr val="55544F"/>
                          </a:solidFill>
                          <a:latin typeface="Segoe UI"/>
                        </a:rPr>
                        <a:t>Localisation de chaque équipement</a:t>
                      </a:r>
                    </a:p>
                  </a:txBody>
                  <a:tcPr anchor="ctr">
                    <a:solidFill>
                      <a:srgbClr val="FFFFFF"/>
                    </a:solidFill>
                  </a:tcPr>
                </a:tc>
              </a:tr>
              <a:tr h="292608">
                <a:tc>
                  <a:txBody>
                    <a:bodyPr/>
                    <a:lstStyle/>
                    <a:p>
                      <a:r>
                        <a:rPr sz="950" b="1">
                          <a:solidFill>
                            <a:srgbClr val="12120F"/>
                          </a:solidFill>
                          <a:latin typeface="Segoe UI"/>
                        </a:rPr>
                        <a:t>Population résidente</a:t>
                      </a:r>
                    </a:p>
                  </a:txBody>
                  <a:tcPr anchor="ctr">
                    <a:solidFill>
                      <a:srgbClr val="F7F7F5"/>
                    </a:solidFill>
                  </a:tcPr>
                </a:tc>
                <a:tc>
                  <a:txBody>
                    <a:bodyPr/>
                    <a:lstStyle/>
                    <a:p>
                      <a:r>
                        <a:rPr sz="950" b="0">
                          <a:solidFill>
                            <a:srgbClr val="55544F"/>
                          </a:solidFill>
                          <a:latin typeface="Segoe UI"/>
                        </a:rPr>
                        <a:t>INSEED — 5ᵉ recensement (RGPH-5)</a:t>
                      </a:r>
                    </a:p>
                  </a:txBody>
                  <a:tcPr anchor="ctr">
                    <a:solidFill>
                      <a:srgbClr val="F7F7F5"/>
                    </a:solidFill>
                  </a:tcPr>
                </a:tc>
                <a:tc>
                  <a:txBody>
                    <a:bodyPr/>
                    <a:lstStyle/>
                    <a:p>
                      <a:r>
                        <a:rPr sz="950" b="0">
                          <a:solidFill>
                            <a:srgbClr val="55544F"/>
                          </a:solidFill>
                          <a:latin typeface="Segoe UI"/>
                        </a:rPr>
                        <a:t>23 oct. – 16 nov. 2022</a:t>
                      </a:r>
                    </a:p>
                  </a:txBody>
                  <a:tcPr anchor="ctr">
                    <a:solidFill>
                      <a:srgbClr val="F7F7F5"/>
                    </a:solidFill>
                  </a:tcPr>
                </a:tc>
                <a:tc>
                  <a:txBody>
                    <a:bodyPr/>
                    <a:lstStyle/>
                    <a:p>
                      <a:r>
                        <a:rPr sz="950" b="0">
                          <a:solidFill>
                            <a:srgbClr val="55544F"/>
                          </a:solidFill>
                          <a:latin typeface="Segoe UI"/>
                        </a:rPr>
                        <a:t>Le dénominateur de tous les ratios</a:t>
                      </a:r>
                    </a:p>
                  </a:txBody>
                  <a:tcPr anchor="ctr">
                    <a:solidFill>
                      <a:srgbClr val="F7F7F5"/>
                    </a:solidFill>
                  </a:tcPr>
                </a:tc>
              </a:tr>
              <a:tr h="292608">
                <a:tc>
                  <a:txBody>
                    <a:bodyPr/>
                    <a:lstStyle/>
                    <a:p>
                      <a:r>
                        <a:rPr sz="950" b="1">
                          <a:solidFill>
                            <a:srgbClr val="12120F"/>
                          </a:solidFill>
                          <a:latin typeface="Segoe UI"/>
                        </a:rPr>
                        <a:t>Limites administratives et superficies</a:t>
                      </a:r>
                    </a:p>
                  </a:txBody>
                  <a:tcPr anchor="ctr">
                    <a:solidFill>
                      <a:srgbClr val="FFFFFF"/>
                    </a:solidFill>
                  </a:tcPr>
                </a:tc>
                <a:tc>
                  <a:txBody>
                    <a:bodyPr/>
                    <a:lstStyle/>
                    <a:p>
                      <a:r>
                        <a:rPr sz="950" b="0">
                          <a:solidFill>
                            <a:srgbClr val="55544F"/>
                          </a:solidFill>
                          <a:latin typeface="Segoe UI"/>
                        </a:rPr>
                        <a:t>Common Operational Datasets (OCHA)</a:t>
                      </a:r>
                    </a:p>
                  </a:txBody>
                  <a:tcPr anchor="ctr">
                    <a:solidFill>
                      <a:srgbClr val="FFFFFF"/>
                    </a:solidFill>
                  </a:tcPr>
                </a:tc>
                <a:tc>
                  <a:txBody>
                    <a:bodyPr/>
                    <a:lstStyle/>
                    <a:p>
                      <a:r>
                        <a:rPr sz="950" b="0">
                          <a:solidFill>
                            <a:srgbClr val="55544F"/>
                          </a:solidFill>
                          <a:latin typeface="Segoe UI"/>
                        </a:rPr>
                        <a:t>Valides au 07/01/2021</a:t>
                      </a:r>
                    </a:p>
                  </a:txBody>
                  <a:tcPr anchor="ctr">
                    <a:solidFill>
                      <a:srgbClr val="FFFFFF"/>
                    </a:solidFill>
                  </a:tcPr>
                </a:tc>
                <a:tc>
                  <a:txBody>
                    <a:bodyPr/>
                    <a:lstStyle/>
                    <a:p>
                      <a:r>
                        <a:rPr sz="950" b="0">
                          <a:solidFill>
                            <a:srgbClr val="55544F"/>
                          </a:solidFill>
                          <a:latin typeface="Segoe UI"/>
                        </a:rPr>
                        <a:t>Contours, densités, distances</a:t>
                      </a:r>
                    </a:p>
                  </a:txBody>
                  <a:tcPr anchor="ctr">
                    <a:solidFill>
                      <a:srgbClr val="FFFFFF"/>
                    </a:solidFill>
                  </a:tcPr>
                </a:tc>
              </a:tr>
            </a:tbl>
          </a:graphicData>
        </a:graphic>
      </p:graphicFrame>
      <p:sp>
        <p:nvSpPr>
          <p:cNvPr id="15" name="Rectangle 14"/>
          <p:cNvSpPr/>
          <p:nvPr/>
        </p:nvSpPr>
        <p:spPr>
          <a:xfrm>
            <a:off x="566928" y="3200400"/>
            <a:ext cx="11057839" cy="60350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200400"/>
            <a:ext cx="32004" cy="603504"/>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319272"/>
            <a:ext cx="2743200" cy="219456"/>
          </a:xfrm>
          <a:prstGeom prst="rect">
            <a:avLst/>
          </a:prstGeom>
          <a:noFill/>
        </p:spPr>
        <p:txBody>
          <a:bodyPr wrap="square" lIns="0" rIns="0" tIns="0" bIns="0">
            <a:spAutoFit/>
          </a:bodyPr>
          <a:lstStyle/>
          <a:p>
            <a:pPr algn="l">
              <a:lnSpc>
                <a:spcPct val="122000"/>
              </a:lnSpc>
            </a:pPr>
            <a:r>
              <a:rPr sz="800" b="1">
                <a:solidFill>
                  <a:srgbClr val="8B8A84"/>
                </a:solidFill>
                <a:latin typeface="Consolas"/>
              </a:rPr>
              <a:t>LA DONNÉE QUI MANQUE</a:t>
            </a:r>
          </a:p>
        </p:txBody>
      </p:sp>
      <p:sp>
        <p:nvSpPr>
          <p:cNvPr id="18" name="TextBox 17"/>
          <p:cNvSpPr txBox="1"/>
          <p:nvPr/>
        </p:nvSpPr>
        <p:spPr>
          <a:xfrm>
            <a:off x="768096" y="3529584"/>
            <a:ext cx="10600639" cy="237744"/>
          </a:xfrm>
          <a:prstGeom prst="rect">
            <a:avLst/>
          </a:prstGeom>
          <a:noFill/>
        </p:spPr>
        <p:txBody>
          <a:bodyPr wrap="square" lIns="0" rIns="0" tIns="0" bIns="0">
            <a:spAutoFit/>
          </a:bodyPr>
          <a:lstStyle/>
          <a:p>
            <a:pPr algn="l">
              <a:lnSpc>
                <a:spcPct val="122000"/>
              </a:lnSpc>
            </a:pPr>
            <a:r>
              <a:rPr sz="1050" b="0">
                <a:solidFill>
                  <a:srgbClr val="55544F"/>
                </a:solidFill>
                <a:latin typeface="Segoe UI"/>
              </a:rPr>
              <a:t>Aucune mesure de couverture réseau mobile n'existe dans les sources ouvertes mobilisées. Ce travail mesure un déficit d'accès aux services — pas une absence de réseau.</a:t>
            </a:r>
          </a:p>
        </p:txBody>
      </p:sp>
      <p:sp>
        <p:nvSpPr>
          <p:cNvPr id="19" name="Rectangle 18"/>
          <p:cNvSpPr/>
          <p:nvPr/>
        </p:nvSpPr>
        <p:spPr>
          <a:xfrm>
            <a:off x="566928" y="411937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069080"/>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 Agences – Télécom » n'est pas un quatrième opérateur</a:t>
            </a:r>
          </a:p>
        </p:txBody>
      </p:sp>
      <p:sp>
        <p:nvSpPr>
          <p:cNvPr id="21" name="TextBox 20"/>
          <p:cNvSpPr txBox="1"/>
          <p:nvPr/>
        </p:nvSpPr>
        <p:spPr>
          <a:xfrm>
            <a:off x="740664" y="4297680"/>
            <a:ext cx="5449824" cy="637032"/>
          </a:xfrm>
          <a:prstGeom prst="rect">
            <a:avLst/>
          </a:prstGeom>
          <a:noFill/>
        </p:spPr>
        <p:txBody>
          <a:bodyPr wrap="square" lIns="0" rIns="0" tIns="0" bIns="0">
            <a:spAutoFit/>
          </a:bodyPr>
          <a:lstStyle/>
          <a:p>
            <a:pPr algn="l">
              <a:lnSpc>
                <a:spcPct val="132000"/>
              </a:lnSpc>
            </a:pPr>
            <a:r>
              <a:rPr sz="950" b="0">
                <a:solidFill>
                  <a:srgbClr val="55544F"/>
                </a:solidFill>
                <a:latin typeface="Segoe UI"/>
              </a:rPr>
              <a:t>Ses 51 lignes sont déjà contenues dans les fichiers Moov et Togocom réunis, sans un seul enregistrement propre. Empiler les fichiers afficherait 141 agences au lieu de 90 recensées après dédoublonnage (28 Moov, 62 Togocom), dont 88 actives : 2 agences Togocom déclarées fermées sont exclues des calculs.</a:t>
            </a:r>
          </a:p>
        </p:txBody>
      </p:sp>
      <p:sp>
        <p:nvSpPr>
          <p:cNvPr id="22" name="Rectangle 21"/>
          <p:cNvSpPr/>
          <p:nvPr/>
        </p:nvSpPr>
        <p:spPr>
          <a:xfrm>
            <a:off x="566928" y="51175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5067300"/>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 Agences – CANAL+ » est vide à la source</a:t>
            </a:r>
          </a:p>
        </p:txBody>
      </p:sp>
      <p:sp>
        <p:nvSpPr>
          <p:cNvPr id="24" name="TextBox 23"/>
          <p:cNvSpPr txBox="1"/>
          <p:nvPr/>
        </p:nvSpPr>
        <p:spPr>
          <a:xfrm>
            <a:off x="740664" y="5295900"/>
            <a:ext cx="544982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Le serveur joint lui-même la mention « the query result is empty » : c'est une donnée non disponible, et non une absence d'agences sur le terrain.</a:t>
            </a:r>
          </a:p>
        </p:txBody>
      </p:sp>
      <p:sp>
        <p:nvSpPr>
          <p:cNvPr id="25" name="Rectangle 24"/>
          <p:cNvSpPr/>
          <p:nvPr/>
        </p:nvSpPr>
        <p:spPr>
          <a:xfrm>
            <a:off x="566928" y="57972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747004"/>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L'identifiant fourni est volatile</a:t>
            </a:r>
          </a:p>
        </p:txBody>
      </p:sp>
      <p:sp>
        <p:nvSpPr>
          <p:cNvPr id="27" name="TextBox 26"/>
          <p:cNvSpPr txBox="1"/>
          <p:nvPr/>
        </p:nvSpPr>
        <p:spPr>
          <a:xfrm>
            <a:off x="740664" y="5975604"/>
            <a:ext cx="544982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La même agence porte un identifiant différent dans deux fichiers exportés à trois secondes d'intervalle. La déduplication repose sur le nom et les coordonnées.</a:t>
            </a:r>
          </a:p>
        </p:txBody>
      </p:sp>
      <p:sp>
        <p:nvSpPr>
          <p:cNvPr id="28" name="Rectangle 27"/>
          <p:cNvSpPr/>
          <p:nvPr/>
        </p:nvSpPr>
        <p:spPr>
          <a:xfrm>
            <a:off x="6583680" y="4069080"/>
            <a:ext cx="5029200" cy="196596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0" y="4069080"/>
            <a:ext cx="32004" cy="196596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12280" y="4233672"/>
            <a:ext cx="4572000" cy="274320"/>
          </a:xfrm>
          <a:prstGeom prst="rect">
            <a:avLst/>
          </a:prstGeom>
          <a:noFill/>
        </p:spPr>
        <p:txBody>
          <a:bodyPr wrap="square" lIns="0" rIns="0" tIns="0" bIns="0">
            <a:spAutoFit/>
          </a:bodyPr>
          <a:lstStyle/>
          <a:p>
            <a:pPr algn="l">
              <a:lnSpc>
                <a:spcPct val="130000"/>
              </a:lnSpc>
            </a:pPr>
            <a:r>
              <a:rPr sz="800" b="1">
                <a:solidFill>
                  <a:srgbClr val="8B8A84"/>
                </a:solidFill>
                <a:latin typeface="Consolas"/>
              </a:rPr>
              <a:t>35 CONTRÔLES ARITHMÉTIQUES, REJOUÉS À CHAQUE EXÉCUTION</a:t>
            </a:r>
          </a:p>
        </p:txBody>
      </p:sp>
      <p:sp>
        <p:nvSpPr>
          <p:cNvPr id="31" name="TextBox 30"/>
          <p:cNvSpPr txBox="1"/>
          <p:nvPr/>
        </p:nvSpPr>
        <p:spPr>
          <a:xfrm>
            <a:off x="6812280" y="4572000"/>
            <a:ext cx="4572000" cy="1325880"/>
          </a:xfrm>
          <a:prstGeom prst="rect">
            <a:avLst/>
          </a:prstGeom>
          <a:noFill/>
        </p:spPr>
        <p:txBody>
          <a:bodyPr wrap="square" lIns="0" rIns="0" tIns="0" bIns="0">
            <a:spAutoFit/>
          </a:bodyPr>
          <a:lstStyle/>
          <a:p>
            <a:pPr algn="l">
              <a:lnSpc>
                <a:spcPct val="130000"/>
              </a:lnSpc>
            </a:pPr>
            <a:r>
              <a:rPr sz="1000" b="0">
                <a:solidFill>
                  <a:srgbClr val="55544F"/>
                </a:solidFill>
                <a:latin typeface="Segoe UI"/>
              </a:rPr>
              <a:t>La population extraite du PDF de l'INSEED somme exactement à 8 095 498 habitants aux trois niveaux — 5 régions, 39 préfectures, 117 communes — sans écart d'une unité.</a:t>
            </a:r>
          </a:p>
          <a:p>
            <a:pPr algn="l">
              <a:lnSpc>
                <a:spcPct val="130000"/>
              </a:lnSpc>
            </a:pPr>
            <a:r>
              <a:rPr sz="1000" b="0">
                <a:solidFill>
                  <a:srgbClr val="55544F"/>
                </a:solidFill>
                <a:latin typeface="Segoe UI"/>
              </a:rPr>
              <a:t/>
            </a:r>
          </a:p>
          <a:p>
            <a:pPr algn="l">
              <a:lnSpc>
                <a:spcPct val="130000"/>
              </a:lnSpc>
            </a:pPr>
            <a:r>
              <a:rPr sz="1000" b="0">
                <a:solidFill>
                  <a:srgbClr val="55544F"/>
                </a:solidFill>
                <a:latin typeface="Segoe UI"/>
              </a:rPr>
              <a:t>Ces contrôles ont servi : une jointure sur des noms accentués faisait tomber neuf préfectures à zéro point Mobile Money, et une somme régionale à 11 630 489 a révélé un double comptage du Grand Lomé.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MÉTHODE</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Méthodologie</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Deux unités d'analyse, chacune utilisée là où sa validité est prouvée — et un indice dont les pondérations sont testées.</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04 / 10</a:t>
            </a:r>
          </a:p>
        </p:txBody>
      </p:sp>
      <p:sp>
        <p:nvSpPr>
          <p:cNvPr id="14" name="TextBox 13"/>
          <p:cNvSpPr txBox="1"/>
          <p:nvPr/>
        </p:nvSpPr>
        <p:spPr>
          <a:xfrm>
            <a:off x="566928" y="1965960"/>
            <a:ext cx="5669280" cy="237744"/>
          </a:xfrm>
          <a:prstGeom prst="rect">
            <a:avLst/>
          </a:prstGeom>
          <a:noFill/>
        </p:spPr>
        <p:txBody>
          <a:bodyPr wrap="square" lIns="0" rIns="0" tIns="0" bIns="0">
            <a:spAutoFit/>
          </a:bodyPr>
          <a:lstStyle/>
          <a:p>
            <a:pPr algn="l">
              <a:lnSpc>
                <a:spcPct val="122000"/>
              </a:lnSpc>
            </a:pPr>
            <a:r>
              <a:rPr sz="800" b="1">
                <a:solidFill>
                  <a:srgbClr val="8B8A84"/>
                </a:solidFill>
                <a:latin typeface="Consolas"/>
              </a:rPr>
              <a:t>LES DEUX UNITÉS D'ANALYSE</a:t>
            </a:r>
          </a:p>
        </p:txBody>
      </p:sp>
      <p:graphicFrame>
        <p:nvGraphicFramePr>
          <p:cNvPr id="15" name="Table 14"/>
          <p:cNvGraphicFramePr>
            <a:graphicFrameLocks noGrp="1"/>
          </p:cNvGraphicFramePr>
          <p:nvPr/>
        </p:nvGraphicFramePr>
        <p:xfrm>
          <a:off x="566928" y="2240280"/>
          <a:ext cx="5669278" cy="877824"/>
        </p:xfrm>
        <a:graphic>
          <a:graphicData uri="http://schemas.openxmlformats.org/drawingml/2006/table">
            <a:tbl>
              <a:tblPr firstRow="1" bandRow="1">
                <a:tableStyleId>{5C22544A-7EE6-4342-B048-85BDC9FD1C3A}</a:tableStyleId>
              </a:tblPr>
              <a:tblGrid>
                <a:gridCol w="1474012"/>
                <a:gridCol w="2097633"/>
                <a:gridCol w="2097633"/>
              </a:tblGrid>
              <a:tr h="292608">
                <a:tc>
                  <a:txBody>
                    <a:bodyPr/>
                    <a:lstStyle/>
                    <a:p>
                      <a:r>
                        <a:rPr sz="900" b="1">
                          <a:solidFill>
                            <a:srgbClr val="FFFFFF"/>
                          </a:solidFill>
                          <a:latin typeface="Segoe UI"/>
                        </a:rPr>
                        <a:t>Unité</a:t>
                      </a:r>
                    </a:p>
                  </a:txBody>
                  <a:tcPr anchor="ctr">
                    <a:solidFill>
                      <a:srgbClr val="156C52"/>
                    </a:solidFill>
                  </a:tcPr>
                </a:tc>
                <a:tc>
                  <a:txBody>
                    <a:bodyPr/>
                    <a:lstStyle/>
                    <a:p>
                      <a:r>
                        <a:rPr sz="900" b="1">
                          <a:solidFill>
                            <a:srgbClr val="FFFFFF"/>
                          </a:solidFill>
                          <a:latin typeface="Segoe UI"/>
                        </a:rPr>
                        <a:t>Rôle</a:t>
                      </a:r>
                    </a:p>
                  </a:txBody>
                  <a:tcPr anchor="ctr">
                    <a:solidFill>
                      <a:srgbClr val="156C52"/>
                    </a:solidFill>
                  </a:tcPr>
                </a:tc>
                <a:tc>
                  <a:txBody>
                    <a:bodyPr/>
                    <a:lstStyle/>
                    <a:p>
                      <a:r>
                        <a:rPr sz="900" b="1">
                          <a:solidFill>
                            <a:srgbClr val="FFFFFF"/>
                          </a:solidFill>
                          <a:latin typeface="Segoe UI"/>
                        </a:rPr>
                        <a:t>Justification</a:t>
                      </a:r>
                    </a:p>
                  </a:txBody>
                  <a:tcPr anchor="ctr">
                    <a:solidFill>
                      <a:srgbClr val="156C52"/>
                    </a:solidFill>
                  </a:tcPr>
                </a:tc>
              </a:tr>
              <a:tr h="292608">
                <a:tc>
                  <a:txBody>
                    <a:bodyPr/>
                    <a:lstStyle/>
                    <a:p>
                      <a:r>
                        <a:rPr sz="900" b="1">
                          <a:solidFill>
                            <a:srgbClr val="12120F"/>
                          </a:solidFill>
                          <a:latin typeface="Segoe UI"/>
                        </a:rPr>
                        <a:t>Préfecture (39)</a:t>
                      </a:r>
                    </a:p>
                  </a:txBody>
                  <a:tcPr anchor="ctr">
                    <a:solidFill>
                      <a:srgbClr val="FFFFFF"/>
                    </a:solidFill>
                  </a:tcPr>
                </a:tc>
                <a:tc>
                  <a:txBody>
                    <a:bodyPr/>
                    <a:lstStyle/>
                    <a:p>
                      <a:r>
                        <a:rPr sz="900" b="0">
                          <a:solidFill>
                            <a:srgbClr val="55544F"/>
                          </a:solidFill>
                          <a:latin typeface="Segoe UI"/>
                        </a:rPr>
                        <a:t>Cartes, superficies, densités</a:t>
                      </a:r>
                    </a:p>
                  </a:txBody>
                  <a:tcPr anchor="ctr">
                    <a:solidFill>
                      <a:srgbClr val="FFFFFF"/>
                    </a:solidFill>
                  </a:tcPr>
                </a:tc>
                <a:tc>
                  <a:txBody>
                    <a:bodyPr/>
                    <a:lstStyle/>
                    <a:p>
                      <a:r>
                        <a:rPr sz="900" b="0">
                          <a:solidFill>
                            <a:srgbClr val="55544F"/>
                          </a:solidFill>
                          <a:latin typeface="Segoe UI"/>
                        </a:rPr>
                        <a:t>concordance spatiale 98,4 %</a:t>
                      </a:r>
                    </a:p>
                  </a:txBody>
                  <a:tcPr anchor="ctr">
                    <a:solidFill>
                      <a:srgbClr val="FFFFFF"/>
                    </a:solidFill>
                  </a:tcPr>
                </a:tc>
              </a:tr>
              <a:tr h="292608">
                <a:tc>
                  <a:txBody>
                    <a:bodyPr/>
                    <a:lstStyle/>
                    <a:p>
                      <a:r>
                        <a:rPr sz="900" b="1">
                          <a:solidFill>
                            <a:srgbClr val="12120F"/>
                          </a:solidFill>
                          <a:latin typeface="Segoe UI"/>
                        </a:rPr>
                        <a:t>Commune (117)</a:t>
                      </a:r>
                    </a:p>
                  </a:txBody>
                  <a:tcPr anchor="ctr">
                    <a:solidFill>
                      <a:srgbClr val="F7F7F5"/>
                    </a:solidFill>
                  </a:tcPr>
                </a:tc>
                <a:tc>
                  <a:txBody>
                    <a:bodyPr/>
                    <a:lstStyle/>
                    <a:p>
                      <a:r>
                        <a:rPr sz="900" b="0">
                          <a:solidFill>
                            <a:srgbClr val="55544F"/>
                          </a:solidFill>
                          <a:latin typeface="Segoe UI"/>
                        </a:rPr>
                        <a:t>Ratios par habitant</a:t>
                      </a:r>
                    </a:p>
                  </a:txBody>
                  <a:tcPr anchor="ctr">
                    <a:solidFill>
                      <a:srgbClr val="F7F7F5"/>
                    </a:solidFill>
                  </a:tcPr>
                </a:tc>
                <a:tc>
                  <a:txBody>
                    <a:bodyPr/>
                    <a:lstStyle/>
                    <a:p>
                      <a:r>
                        <a:rPr sz="900" b="0">
                          <a:solidFill>
                            <a:srgbClr val="55544F"/>
                          </a:solidFill>
                          <a:latin typeface="Segoe UI"/>
                        </a:rPr>
                        <a:t>population validée à l'unité près</a:t>
                      </a:r>
                    </a:p>
                  </a:txBody>
                  <a:tcPr anchor="ctr">
                    <a:solidFill>
                      <a:srgbClr val="F7F7F5"/>
                    </a:solidFill>
                  </a:tcPr>
                </a:tc>
              </a:tr>
            </a:tbl>
          </a:graphicData>
        </a:graphic>
      </p:graphicFrame>
      <p:sp>
        <p:nvSpPr>
          <p:cNvPr id="16" name="TextBox 15"/>
          <p:cNvSpPr txBox="1"/>
          <p:nvPr/>
        </p:nvSpPr>
        <p:spPr>
          <a:xfrm>
            <a:off x="566928" y="3337560"/>
            <a:ext cx="5669280" cy="1005840"/>
          </a:xfrm>
          <a:prstGeom prst="rect">
            <a:avLst/>
          </a:prstGeom>
          <a:noFill/>
        </p:spPr>
        <p:txBody>
          <a:bodyPr wrap="square" lIns="0" rIns="0" tIns="0" bIns="0">
            <a:spAutoFit/>
          </a:bodyPr>
          <a:lstStyle/>
          <a:p>
            <a:pPr algn="l">
              <a:lnSpc>
                <a:spcPct val="132000"/>
              </a:lnSpc>
            </a:pPr>
            <a:r>
              <a:rPr sz="1000" b="0">
                <a:solidFill>
                  <a:srgbClr val="55544F"/>
                </a:solidFill>
                <a:latin typeface="Segoe UI"/>
              </a:rPr>
              <a:t>Reconstruire les contours des 117 communes a été testé puis rejeté sur preuve : les découpages ne s'emboîtent pas — 65,6 % des points tombent dans une unité à cheval sur plusieurs communes. Publier ces contours aurait produit des densités fausses sans aucune alerte.</a:t>
            </a:r>
          </a:p>
        </p:txBody>
      </p:sp>
      <p:sp>
        <p:nvSpPr>
          <p:cNvPr id="17" name="TextBox 16"/>
          <p:cNvSpPr txBox="1"/>
          <p:nvPr/>
        </p:nvSpPr>
        <p:spPr>
          <a:xfrm>
            <a:off x="6583680" y="1965960"/>
            <a:ext cx="5029200" cy="237744"/>
          </a:xfrm>
          <a:prstGeom prst="rect">
            <a:avLst/>
          </a:prstGeom>
          <a:noFill/>
        </p:spPr>
        <p:txBody>
          <a:bodyPr wrap="square" lIns="0" rIns="0" tIns="0" bIns="0">
            <a:spAutoFit/>
          </a:bodyPr>
          <a:lstStyle/>
          <a:p>
            <a:pPr algn="l">
              <a:lnSpc>
                <a:spcPct val="122000"/>
              </a:lnSpc>
            </a:pPr>
            <a:r>
              <a:rPr sz="800" b="1">
                <a:solidFill>
                  <a:srgbClr val="8B8A84"/>
                </a:solidFill>
                <a:latin typeface="Consolas"/>
              </a:rPr>
              <a:t>L'INDICE DE PRIORITÉ — QUATRE COMPOSANTES</a:t>
            </a:r>
          </a:p>
        </p:txBody>
      </p:sp>
      <p:graphicFrame>
        <p:nvGraphicFramePr>
          <p:cNvPr id="18" name="Table 17"/>
          <p:cNvGraphicFramePr>
            <a:graphicFrameLocks noGrp="1"/>
          </p:cNvGraphicFramePr>
          <p:nvPr/>
        </p:nvGraphicFramePr>
        <p:xfrm>
          <a:off x="6583680" y="2240280"/>
          <a:ext cx="5029200" cy="1463040"/>
        </p:xfrm>
        <a:graphic>
          <a:graphicData uri="http://schemas.openxmlformats.org/drawingml/2006/table">
            <a:tbl>
              <a:tblPr firstRow="1" bandRow="1">
                <a:tableStyleId>{5C22544A-7EE6-4342-B048-85BDC9FD1C3A}</a:tableStyleId>
              </a:tblPr>
              <a:tblGrid>
                <a:gridCol w="1709928"/>
                <a:gridCol w="2212848"/>
                <a:gridCol w="1106424"/>
              </a:tblGrid>
              <a:tr h="292608">
                <a:tc>
                  <a:txBody>
                    <a:bodyPr/>
                    <a:lstStyle/>
                    <a:p>
                      <a:r>
                        <a:rPr sz="900" b="1">
                          <a:solidFill>
                            <a:srgbClr val="FFFFFF"/>
                          </a:solidFill>
                          <a:latin typeface="Segoe UI"/>
                        </a:rPr>
                        <a:t>Composante</a:t>
                      </a:r>
                    </a:p>
                  </a:txBody>
                  <a:tcPr anchor="ctr">
                    <a:solidFill>
                      <a:srgbClr val="156C52"/>
                    </a:solidFill>
                  </a:tcPr>
                </a:tc>
                <a:tc>
                  <a:txBody>
                    <a:bodyPr/>
                    <a:lstStyle/>
                    <a:p>
                      <a:r>
                        <a:rPr sz="900" b="1">
                          <a:solidFill>
                            <a:srgbClr val="FFFFFF"/>
                          </a:solidFill>
                          <a:latin typeface="Segoe UI"/>
                        </a:rPr>
                        <a:t>Mesure</a:t>
                      </a:r>
                    </a:p>
                  </a:txBody>
                  <a:tcPr anchor="ctr">
                    <a:solidFill>
                      <a:srgbClr val="156C52"/>
                    </a:solidFill>
                  </a:tcPr>
                </a:tc>
                <a:tc>
                  <a:txBody>
                    <a:bodyPr/>
                    <a:lstStyle/>
                    <a:p>
                      <a:r>
                        <a:rPr sz="900" b="1">
                          <a:solidFill>
                            <a:srgbClr val="FFFFFF"/>
                          </a:solidFill>
                          <a:latin typeface="Segoe UI"/>
                        </a:rPr>
                        <a:t>Poids</a:t>
                      </a:r>
                    </a:p>
                  </a:txBody>
                  <a:tcPr anchor="ctr">
                    <a:solidFill>
                      <a:srgbClr val="156C52"/>
                    </a:solidFill>
                  </a:tcPr>
                </a:tc>
              </a:tr>
              <a:tr h="292608">
                <a:tc>
                  <a:txBody>
                    <a:bodyPr/>
                    <a:lstStyle/>
                    <a:p>
                      <a:r>
                        <a:rPr sz="900" b="1">
                          <a:solidFill>
                            <a:srgbClr val="12120F"/>
                          </a:solidFill>
                          <a:latin typeface="Segoe UI"/>
                        </a:rPr>
                        <a:t>Déficit Mobile Money</a:t>
                      </a:r>
                    </a:p>
                  </a:txBody>
                  <a:tcPr anchor="ctr">
                    <a:solidFill>
                      <a:srgbClr val="FFFFFF"/>
                    </a:solidFill>
                  </a:tcPr>
                </a:tc>
                <a:tc>
                  <a:txBody>
                    <a:bodyPr/>
                    <a:lstStyle/>
                    <a:p>
                      <a:r>
                        <a:rPr sz="900" b="0">
                          <a:solidFill>
                            <a:srgbClr val="55544F"/>
                          </a:solidFill>
                          <a:latin typeface="Segoe UI"/>
                        </a:rPr>
                        <a:t>habitants par point</a:t>
                      </a:r>
                    </a:p>
                  </a:txBody>
                  <a:tcPr anchor="ctr">
                    <a:solidFill>
                      <a:srgbClr val="FFFFFF"/>
                    </a:solidFill>
                  </a:tcPr>
                </a:tc>
                <a:tc>
                  <a:txBody>
                    <a:bodyPr/>
                    <a:lstStyle/>
                    <a:p>
                      <a:r>
                        <a:rPr sz="900" b="0">
                          <a:solidFill>
                            <a:srgbClr val="55544F"/>
                          </a:solidFill>
                          <a:latin typeface="Segoe UI"/>
                        </a:rPr>
                        <a:t>30 %</a:t>
                      </a:r>
                    </a:p>
                  </a:txBody>
                  <a:tcPr anchor="ctr">
                    <a:solidFill>
                      <a:srgbClr val="FFFFFF"/>
                    </a:solidFill>
                  </a:tcPr>
                </a:tc>
              </a:tr>
              <a:tr h="292608">
                <a:tc>
                  <a:txBody>
                    <a:bodyPr/>
                    <a:lstStyle/>
                    <a:p>
                      <a:r>
                        <a:rPr sz="900" b="1">
                          <a:solidFill>
                            <a:srgbClr val="12120F"/>
                          </a:solidFill>
                          <a:latin typeface="Segoe UI"/>
                        </a:rPr>
                        <a:t>Déficit d'agences</a:t>
                      </a:r>
                    </a:p>
                  </a:txBody>
                  <a:tcPr anchor="ctr">
                    <a:solidFill>
                      <a:srgbClr val="F7F7F5"/>
                    </a:solidFill>
                  </a:tcPr>
                </a:tc>
                <a:tc>
                  <a:txBody>
                    <a:bodyPr/>
                    <a:lstStyle/>
                    <a:p>
                      <a:r>
                        <a:rPr sz="900" b="0">
                          <a:solidFill>
                            <a:srgbClr val="55544F"/>
                          </a:solidFill>
                          <a:latin typeface="Segoe UI"/>
                        </a:rPr>
                        <a:t>agences actives / 100 000 hab.</a:t>
                      </a:r>
                    </a:p>
                  </a:txBody>
                  <a:tcPr anchor="ctr">
                    <a:solidFill>
                      <a:srgbClr val="F7F7F5"/>
                    </a:solidFill>
                  </a:tcPr>
                </a:tc>
                <a:tc>
                  <a:txBody>
                    <a:bodyPr/>
                    <a:lstStyle/>
                    <a:p>
                      <a:r>
                        <a:rPr sz="900" b="0">
                          <a:solidFill>
                            <a:srgbClr val="55544F"/>
                          </a:solidFill>
                          <a:latin typeface="Segoe UI"/>
                        </a:rPr>
                        <a:t>25 %</a:t>
                      </a:r>
                    </a:p>
                  </a:txBody>
                  <a:tcPr anchor="ctr">
                    <a:solidFill>
                      <a:srgbClr val="F7F7F5"/>
                    </a:solidFill>
                  </a:tcPr>
                </a:tc>
              </a:tr>
              <a:tr h="292608">
                <a:tc>
                  <a:txBody>
                    <a:bodyPr/>
                    <a:lstStyle/>
                    <a:p>
                      <a:r>
                        <a:rPr sz="900" b="1">
                          <a:solidFill>
                            <a:srgbClr val="12120F"/>
                          </a:solidFill>
                          <a:latin typeface="Segoe UI"/>
                        </a:rPr>
                        <a:t>Éloignement</a:t>
                      </a:r>
                    </a:p>
                  </a:txBody>
                  <a:tcPr anchor="ctr">
                    <a:solidFill>
                      <a:srgbClr val="FFFFFF"/>
                    </a:solidFill>
                  </a:tcPr>
                </a:tc>
                <a:tc>
                  <a:txBody>
                    <a:bodyPr/>
                    <a:lstStyle/>
                    <a:p>
                      <a:r>
                        <a:rPr sz="900" b="0">
                          <a:solidFill>
                            <a:srgbClr val="55544F"/>
                          </a:solidFill>
                          <a:latin typeface="Segoe UI"/>
                        </a:rPr>
                        <a:t>distance à l'agence active</a:t>
                      </a:r>
                    </a:p>
                  </a:txBody>
                  <a:tcPr anchor="ctr">
                    <a:solidFill>
                      <a:srgbClr val="FFFFFF"/>
                    </a:solidFill>
                  </a:tcPr>
                </a:tc>
                <a:tc>
                  <a:txBody>
                    <a:bodyPr/>
                    <a:lstStyle/>
                    <a:p>
                      <a:r>
                        <a:rPr sz="900" b="0">
                          <a:solidFill>
                            <a:srgbClr val="55544F"/>
                          </a:solidFill>
                          <a:latin typeface="Segoe UI"/>
                        </a:rPr>
                        <a:t>25 %</a:t>
                      </a:r>
                    </a:p>
                  </a:txBody>
                  <a:tcPr anchor="ctr">
                    <a:solidFill>
                      <a:srgbClr val="FFFFFF"/>
                    </a:solidFill>
                  </a:tcPr>
                </a:tc>
              </a:tr>
              <a:tr h="292608">
                <a:tc>
                  <a:txBody>
                    <a:bodyPr/>
                    <a:lstStyle/>
                    <a:p>
                      <a:r>
                        <a:rPr sz="900" b="1">
                          <a:solidFill>
                            <a:srgbClr val="12120F"/>
                          </a:solidFill>
                          <a:latin typeface="Segoe UI"/>
                        </a:rPr>
                        <a:t>Enjeu démographique</a:t>
                      </a:r>
                    </a:p>
                  </a:txBody>
                  <a:tcPr anchor="ctr">
                    <a:solidFill>
                      <a:srgbClr val="F7F7F5"/>
                    </a:solidFill>
                  </a:tcPr>
                </a:tc>
                <a:tc>
                  <a:txBody>
                    <a:bodyPr/>
                    <a:lstStyle/>
                    <a:p>
                      <a:r>
                        <a:rPr sz="900" b="0">
                          <a:solidFill>
                            <a:srgbClr val="55544F"/>
                          </a:solidFill>
                          <a:latin typeface="Segoe UI"/>
                        </a:rPr>
                        <a:t>population concernée</a:t>
                      </a:r>
                    </a:p>
                  </a:txBody>
                  <a:tcPr anchor="ctr">
                    <a:solidFill>
                      <a:srgbClr val="F7F7F5"/>
                    </a:solidFill>
                  </a:tcPr>
                </a:tc>
                <a:tc>
                  <a:txBody>
                    <a:bodyPr/>
                    <a:lstStyle/>
                    <a:p>
                      <a:r>
                        <a:rPr sz="900" b="0">
                          <a:solidFill>
                            <a:srgbClr val="55544F"/>
                          </a:solidFill>
                          <a:latin typeface="Segoe UI"/>
                        </a:rPr>
                        <a:t>20 %</a:t>
                      </a:r>
                    </a:p>
                  </a:txBody>
                  <a:tcPr anchor="ctr">
                    <a:solidFill>
                      <a:srgbClr val="F7F7F5"/>
                    </a:solidFill>
                  </a:tcPr>
                </a:tc>
              </a:tr>
            </a:tbl>
          </a:graphicData>
        </a:graphic>
      </p:graphicFrame>
      <p:sp>
        <p:nvSpPr>
          <p:cNvPr id="19" name="TextBox 18"/>
          <p:cNvSpPr txBox="1"/>
          <p:nvPr/>
        </p:nvSpPr>
        <p:spPr>
          <a:xfrm>
            <a:off x="6583680" y="3977639"/>
            <a:ext cx="5029200" cy="1188720"/>
          </a:xfrm>
          <a:prstGeom prst="rect">
            <a:avLst/>
          </a:prstGeom>
          <a:noFill/>
        </p:spPr>
        <p:txBody>
          <a:bodyPr wrap="square" lIns="0" rIns="0" tIns="0" bIns="0">
            <a:spAutoFit/>
          </a:bodyPr>
          <a:lstStyle/>
          <a:p>
            <a:pPr algn="l">
              <a:lnSpc>
                <a:spcPct val="132000"/>
              </a:lnSpc>
            </a:pPr>
            <a:r>
              <a:rPr sz="1000" b="0">
                <a:solidFill>
                  <a:srgbClr val="55544F"/>
                </a:solidFill>
                <a:latin typeface="Segoe UI"/>
              </a:rPr>
              <a:t>Le déficit Mobile Money reprend la définition officielle du géoportail national — « nombre d'habitants par point mobile money ». L'indicateur central n'a pas été inventé pour ce travail.</a:t>
            </a:r>
          </a:p>
          <a:p>
            <a:pPr algn="l">
              <a:lnSpc>
                <a:spcPct val="132000"/>
              </a:lnSpc>
            </a:pPr>
            <a:r>
              <a:rPr sz="1000" b="0">
                <a:solidFill>
                  <a:srgbClr val="55544F"/>
                </a:solidFill>
                <a:latin typeface="Segoe UI"/>
              </a:rPr>
              <a:t/>
            </a:r>
          </a:p>
          <a:p>
            <a:pPr algn="l">
              <a:lnSpc>
                <a:spcPct val="132000"/>
              </a:lnSpc>
            </a:pPr>
            <a:r>
              <a:rPr sz="1000" b="0">
                <a:solidFill>
                  <a:srgbClr val="55544F"/>
                </a:solidFill>
                <a:latin typeface="Segoe UI"/>
              </a:rPr>
              <a:t>Ces pondérations sont un choix assumé. C'est exactement pourquoi 2 000 pondérations alternatives sont testées.</a:t>
            </a:r>
          </a:p>
        </p:txBody>
      </p:sp>
      <p:sp>
        <p:nvSpPr>
          <p:cNvPr id="20" name="TextBox 19"/>
          <p:cNvSpPr txBox="1"/>
          <p:nvPr/>
        </p:nvSpPr>
        <p:spPr>
          <a:xfrm>
            <a:off x="566928" y="4663440"/>
            <a:ext cx="5669280" cy="1097280"/>
          </a:xfrm>
          <a:prstGeom prst="rect">
            <a:avLst/>
          </a:prstGeom>
          <a:noFill/>
        </p:spPr>
        <p:txBody>
          <a:bodyPr wrap="square" lIns="0" rIns="0" tIns="0" bIns="0">
            <a:spAutoFit/>
          </a:bodyPr>
          <a:lstStyle/>
          <a:p>
            <a:pPr algn="l">
              <a:lnSpc>
                <a:spcPct val="132000"/>
              </a:lnSpc>
            </a:pPr>
            <a:r>
              <a:rPr sz="1000" b="0">
                <a:solidFill>
                  <a:srgbClr val="55544F"/>
                </a:solidFill>
                <a:latin typeface="Segoe UI"/>
              </a:rPr>
              <a:t>Aucune valeur n'est imputée ni estimée. Toute donnée absente est déclarée absente. Aucun écrêtage n'est appliqué aux valeurs extrêmes : elles sont des faits, et leur influence est mesurée par une variante de calcul insensible aux extrêmes.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DIAGNOSTIC</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Diagnostic national</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409 habitants par point de service en moyenne, mais un rapport de 1 à 12,7 entre préfectures.</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05 / 10</a:t>
            </a:r>
          </a:p>
        </p:txBody>
      </p:sp>
      <p:pic>
        <p:nvPicPr>
          <p:cNvPr id="14" name="Picture 13" descr="ecart_desserte.png"/>
          <p:cNvPicPr>
            <a:picLocks noChangeAspect="1"/>
          </p:cNvPicPr>
          <p:nvPr/>
        </p:nvPicPr>
        <p:blipFill>
          <a:blip r:embed="rId2"/>
          <a:stretch>
            <a:fillRect/>
          </a:stretch>
        </p:blipFill>
        <p:spPr>
          <a:xfrm>
            <a:off x="3977639" y="1874519"/>
            <a:ext cx="7404482" cy="4297680"/>
          </a:xfrm>
          <a:prstGeom prst="rect">
            <a:avLst/>
          </a:prstGeom>
        </p:spPr>
      </p:pic>
      <p:sp>
        <p:nvSpPr>
          <p:cNvPr id="15" name="Rectangle 14"/>
          <p:cNvSpPr/>
          <p:nvPr/>
        </p:nvSpPr>
        <p:spPr>
          <a:xfrm>
            <a:off x="566928" y="1965960"/>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1965960"/>
            <a:ext cx="320040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121408"/>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MOYENNE NATIONALE</a:t>
            </a:r>
          </a:p>
        </p:txBody>
      </p:sp>
      <p:sp>
        <p:nvSpPr>
          <p:cNvPr id="18" name="TextBox 17"/>
          <p:cNvSpPr txBox="1"/>
          <p:nvPr/>
        </p:nvSpPr>
        <p:spPr>
          <a:xfrm>
            <a:off x="713232" y="2441448"/>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409</a:t>
            </a:r>
          </a:p>
        </p:txBody>
      </p:sp>
      <p:sp>
        <p:nvSpPr>
          <p:cNvPr id="19" name="TextBox 18"/>
          <p:cNvSpPr txBox="1"/>
          <p:nvPr/>
        </p:nvSpPr>
        <p:spPr>
          <a:xfrm>
            <a:off x="713232" y="2871216"/>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habitants par point Mobile Money</a:t>
            </a:r>
          </a:p>
        </p:txBody>
      </p:sp>
      <p:sp>
        <p:nvSpPr>
          <p:cNvPr id="20" name="Rectangle 19"/>
          <p:cNvSpPr/>
          <p:nvPr/>
        </p:nvSpPr>
        <p:spPr>
          <a:xfrm>
            <a:off x="566928" y="3081528"/>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081528"/>
            <a:ext cx="320040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236976"/>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 LA MOINS DESSERVIE</a:t>
            </a:r>
          </a:p>
        </p:txBody>
      </p:sp>
      <p:sp>
        <p:nvSpPr>
          <p:cNvPr id="23" name="TextBox 22"/>
          <p:cNvSpPr txBox="1"/>
          <p:nvPr/>
        </p:nvSpPr>
        <p:spPr>
          <a:xfrm>
            <a:off x="713232" y="3557016"/>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2 155</a:t>
            </a:r>
          </a:p>
        </p:txBody>
      </p:sp>
      <p:sp>
        <p:nvSpPr>
          <p:cNvPr id="24" name="TextBox 23"/>
          <p:cNvSpPr txBox="1"/>
          <p:nvPr/>
        </p:nvSpPr>
        <p:spPr>
          <a:xfrm>
            <a:off x="713232" y="3986784"/>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Kpendjal · 5,3 × la moyenne</a:t>
            </a:r>
          </a:p>
        </p:txBody>
      </p:sp>
      <p:sp>
        <p:nvSpPr>
          <p:cNvPr id="25" name="Rectangle 24"/>
          <p:cNvSpPr/>
          <p:nvPr/>
        </p:nvSpPr>
        <p:spPr>
          <a:xfrm>
            <a:off x="566928" y="4197096"/>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197096"/>
            <a:ext cx="320040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352544"/>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PRÉFECTURES AU-DESSUS DE LA MOYENNE</a:t>
            </a:r>
          </a:p>
        </p:txBody>
      </p:sp>
      <p:sp>
        <p:nvSpPr>
          <p:cNvPr id="28" name="TextBox 27"/>
          <p:cNvSpPr txBox="1"/>
          <p:nvPr/>
        </p:nvSpPr>
        <p:spPr>
          <a:xfrm>
            <a:off x="713232" y="4672584"/>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24 / 39</a:t>
            </a:r>
          </a:p>
        </p:txBody>
      </p:sp>
      <p:sp>
        <p:nvSpPr>
          <p:cNvPr id="29" name="TextBox 28"/>
          <p:cNvSpPr txBox="1"/>
          <p:nvPr/>
        </p:nvSpPr>
        <p:spPr>
          <a:xfrm>
            <a:off x="713232" y="5102352"/>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moins bien desservies que le pays</a:t>
            </a:r>
          </a:p>
        </p:txBody>
      </p:sp>
      <p:sp>
        <p:nvSpPr>
          <p:cNvPr id="30" name="Rectangle 29"/>
          <p:cNvSpPr/>
          <p:nvPr/>
        </p:nvSpPr>
        <p:spPr>
          <a:xfrm>
            <a:off x="566928" y="5312664"/>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312664"/>
            <a:ext cx="3200400" cy="34747"/>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5468112"/>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COMMUNES SANS AGENCE ACTIVE</a:t>
            </a:r>
          </a:p>
        </p:txBody>
      </p:sp>
      <p:sp>
        <p:nvSpPr>
          <p:cNvPr id="33" name="TextBox 32"/>
          <p:cNvSpPr txBox="1"/>
          <p:nvPr/>
        </p:nvSpPr>
        <p:spPr>
          <a:xfrm>
            <a:off x="713232" y="5788152"/>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75 / 117</a:t>
            </a:r>
          </a:p>
        </p:txBody>
      </p:sp>
      <p:sp>
        <p:nvSpPr>
          <p:cNvPr id="34" name="TextBox 33"/>
          <p:cNvSpPr txBox="1"/>
          <p:nvPr/>
        </p:nvSpPr>
        <p:spPr>
          <a:xfrm>
            <a:off x="713232" y="6217920"/>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3 371 081 habitants</a:t>
            </a:r>
          </a:p>
        </p:txBody>
      </p:sp>
      <p:sp>
        <p:nvSpPr>
          <p:cNvPr id="35" name="TextBox 34"/>
          <p:cNvSpPr txBox="1"/>
          <p:nvPr/>
        </p:nvSpPr>
        <p:spPr>
          <a:xfrm>
            <a:off x="566928" y="6400800"/>
            <a:ext cx="3200400" cy="274320"/>
          </a:xfrm>
          <a:prstGeom prst="rect">
            <a:avLst/>
          </a:prstGeom>
          <a:noFill/>
        </p:spPr>
        <p:txBody>
          <a:bodyPr wrap="square" lIns="0" rIns="0" tIns="0" bIns="0">
            <a:spAutoFit/>
          </a:bodyPr>
          <a:lstStyle/>
          <a:p>
            <a:pPr algn="l">
              <a:lnSpc>
                <a:spcPct val="122000"/>
              </a:lnSpc>
            </a:pPr>
            <a:r>
              <a:rPr sz="800" b="0">
                <a:solidFill>
                  <a:srgbClr val="55544F"/>
                </a:solidFill>
                <a:latin typeface="Segoe UI"/>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GÉOSPATIAL</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Analyse géospatiale et inégalités territoriales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La moitié la moins bien desservie de la population ne dispose que de 27 % des points de service.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06 / 10</a:t>
            </a:r>
          </a:p>
        </p:txBody>
      </p:sp>
      <p:pic>
        <p:nvPicPr>
          <p:cNvPr id="14" name="Picture 13" descr="quadrant.png"/>
          <p:cNvPicPr>
            <a:picLocks noChangeAspect="1"/>
          </p:cNvPicPr>
          <p:nvPr/>
        </p:nvPicPr>
        <p:blipFill>
          <a:blip r:embed="rId2"/>
          <a:stretch>
            <a:fillRect/>
          </a:stretch>
        </p:blipFill>
        <p:spPr>
          <a:xfrm>
            <a:off x="502920" y="1920240"/>
            <a:ext cx="5015010" cy="3931920"/>
          </a:xfrm>
          <a:prstGeom prst="rect">
            <a:avLst/>
          </a:prstGeom>
        </p:spPr>
      </p:pic>
      <p:pic>
        <p:nvPicPr>
          <p:cNvPr id="15" name="Picture 14" descr="concentration.png"/>
          <p:cNvPicPr>
            <a:picLocks noChangeAspect="1"/>
          </p:cNvPicPr>
          <p:nvPr/>
        </p:nvPicPr>
        <p:blipFill>
          <a:blip r:embed="rId3"/>
          <a:stretch>
            <a:fillRect/>
          </a:stretch>
        </p:blipFill>
        <p:spPr>
          <a:xfrm>
            <a:off x="6400800" y="1920240"/>
            <a:ext cx="4779520" cy="3931920"/>
          </a:xfrm>
          <a:prstGeom prst="rect">
            <a:avLst/>
          </a:prstGeom>
        </p:spPr>
      </p:pic>
      <p:sp>
        <p:nvSpPr>
          <p:cNvPr id="16" name="TextBox 15"/>
          <p:cNvSpPr txBox="1"/>
          <p:nvPr/>
        </p:nvSpPr>
        <p:spPr>
          <a:xfrm>
            <a:off x="502920" y="5943600"/>
            <a:ext cx="5486400" cy="457200"/>
          </a:xfrm>
          <a:prstGeom prst="rect">
            <a:avLst/>
          </a:prstGeom>
          <a:noFill/>
        </p:spPr>
        <p:txBody>
          <a:bodyPr wrap="square" lIns="0" rIns="0" tIns="0" bIns="0">
            <a:spAutoFit/>
          </a:bodyPr>
          <a:lstStyle/>
          <a:p>
            <a:pPr algn="l">
              <a:lnSpc>
                <a:spcPct val="130000"/>
              </a:lnSpc>
            </a:pPr>
            <a:r>
              <a:rPr sz="1000" b="0">
                <a:solidFill>
                  <a:srgbClr val="55544F"/>
                </a:solidFill>
                <a:latin typeface="Segoe UI"/>
              </a:rPr>
              <a:t>12 préfectures sont à la fois plus peuplées que la médiane nationale et moins bien desservies que la moyenne : c'est là qu'un investissement touche le plus d'habitants.</a:t>
            </a:r>
          </a:p>
        </p:txBody>
      </p:sp>
      <p:sp>
        <p:nvSpPr>
          <p:cNvPr id="17" name="TextBox 16"/>
          <p:cNvSpPr txBox="1"/>
          <p:nvPr/>
        </p:nvSpPr>
        <p:spPr>
          <a:xfrm>
            <a:off x="6400800" y="5943600"/>
            <a:ext cx="5212080" cy="457200"/>
          </a:xfrm>
          <a:prstGeom prst="rect">
            <a:avLst/>
          </a:prstGeom>
          <a:noFill/>
        </p:spPr>
        <p:txBody>
          <a:bodyPr wrap="square" lIns="0" rIns="0" tIns="0" bIns="0">
            <a:spAutoFit/>
          </a:bodyPr>
          <a:lstStyle/>
          <a:p>
            <a:pPr algn="l">
              <a:lnSpc>
                <a:spcPct val="130000"/>
              </a:lnSpc>
            </a:pPr>
            <a:r>
              <a:rPr sz="1000" b="0">
                <a:solidFill>
                  <a:srgbClr val="55544F"/>
                </a:solidFill>
                <a:latin typeface="Segoe UI"/>
              </a:rPr>
              <a:t>L'écart à la diagonale mesure la concentration. Les distances sont calculées après reprojection métrique — en degrés, elles seraient fausses.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PRIORISATION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Zones prioritaires · indice DCPI</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Neuf préfectures restent dans le top 10 pour au moins 90 % de 2 000 pondérations testées : leur priorité ne dépend pas de la méthode.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07 / 10</a:t>
            </a:r>
          </a:p>
        </p:txBody>
      </p:sp>
      <p:pic>
        <p:nvPicPr>
          <p:cNvPr id="14" name="Picture 13" descr="carte_priorite.png"/>
          <p:cNvPicPr>
            <a:picLocks noChangeAspect="1"/>
          </p:cNvPicPr>
          <p:nvPr/>
        </p:nvPicPr>
        <p:blipFill>
          <a:blip r:embed="rId2"/>
          <a:stretch>
            <a:fillRect/>
          </a:stretch>
        </p:blipFill>
        <p:spPr>
          <a:xfrm>
            <a:off x="548640" y="1874519"/>
            <a:ext cx="2170081" cy="4343400"/>
          </a:xfrm>
          <a:prstGeom prst="rect">
            <a:avLst/>
          </a:prstGeom>
        </p:spPr>
      </p:pic>
      <p:pic>
        <p:nvPicPr>
          <p:cNvPr id="15" name="Picture 14" descr="sensibilite.png"/>
          <p:cNvPicPr>
            <a:picLocks noChangeAspect="1"/>
          </p:cNvPicPr>
          <p:nvPr/>
        </p:nvPicPr>
        <p:blipFill>
          <a:blip r:embed="rId3"/>
          <a:stretch>
            <a:fillRect/>
          </a:stretch>
        </p:blipFill>
        <p:spPr>
          <a:xfrm>
            <a:off x="4114800" y="1874519"/>
            <a:ext cx="4752345" cy="3703320"/>
          </a:xfrm>
          <a:prstGeom prst="rect">
            <a:avLst/>
          </a:prstGeom>
        </p:spPr>
      </p:pic>
      <p:graphicFrame>
        <p:nvGraphicFramePr>
          <p:cNvPr id="16" name="Table 15"/>
          <p:cNvGraphicFramePr>
            <a:graphicFrameLocks noGrp="1"/>
          </p:cNvGraphicFramePr>
          <p:nvPr/>
        </p:nvGraphicFramePr>
        <p:xfrm>
          <a:off x="7863840" y="1874519"/>
          <a:ext cx="3794758" cy="2048256"/>
        </p:xfrm>
        <a:graphic>
          <a:graphicData uri="http://schemas.openxmlformats.org/drawingml/2006/table">
            <a:tbl>
              <a:tblPr firstRow="1" bandRow="1">
                <a:tableStyleId>{5C22544A-7EE6-4342-B048-85BDC9FD1C3A}</a:tableStyleId>
              </a:tblPr>
              <a:tblGrid>
                <a:gridCol w="303580"/>
                <a:gridCol w="1138428"/>
                <a:gridCol w="721004"/>
                <a:gridCol w="645109"/>
                <a:gridCol w="379476"/>
                <a:gridCol w="607161"/>
              </a:tblGrid>
              <a:tr h="292608">
                <a:tc>
                  <a:txBody>
                    <a:bodyPr/>
                    <a:lstStyle/>
                    <a:p>
                      <a:r>
                        <a:rPr sz="850" b="1">
                          <a:solidFill>
                            <a:srgbClr val="FFFFFF"/>
                          </a:solidFill>
                          <a:latin typeface="Segoe UI"/>
                        </a:rPr>
                        <a:t>#</a:t>
                      </a:r>
                    </a:p>
                  </a:txBody>
                  <a:tcPr anchor="ctr">
                    <a:solidFill>
                      <a:srgbClr val="156C52"/>
                    </a:solidFill>
                  </a:tcPr>
                </a:tc>
                <a:tc>
                  <a:txBody>
                    <a:bodyPr/>
                    <a:lstStyle/>
                    <a:p>
                      <a:r>
                        <a:rPr sz="850" b="1">
                          <a:solidFill>
                            <a:srgbClr val="FFFFFF"/>
                          </a:solidFill>
                          <a:latin typeface="Segoe UI"/>
                        </a:rPr>
                        <a:t>Préfecture</a:t>
                      </a:r>
                    </a:p>
                  </a:txBody>
                  <a:tcPr anchor="ctr">
                    <a:solidFill>
                      <a:srgbClr val="156C52"/>
                    </a:solidFill>
                  </a:tcPr>
                </a:tc>
                <a:tc>
                  <a:txBody>
                    <a:bodyPr/>
                    <a:lstStyle/>
                    <a:p>
                      <a:r>
                        <a:rPr sz="850" b="1">
                          <a:solidFill>
                            <a:srgbClr val="FFFFFF"/>
                          </a:solidFill>
                          <a:latin typeface="Segoe UI"/>
                        </a:rPr>
                        <a:t>Hab.</a:t>
                      </a:r>
                    </a:p>
                  </a:txBody>
                  <a:tcPr anchor="ctr">
                    <a:solidFill>
                      <a:srgbClr val="156C52"/>
                    </a:solidFill>
                  </a:tcPr>
                </a:tc>
                <a:tc>
                  <a:txBody>
                    <a:bodyPr/>
                    <a:lstStyle/>
                    <a:p>
                      <a:r>
                        <a:rPr sz="850" b="1">
                          <a:solidFill>
                            <a:srgbClr val="FFFFFF"/>
                          </a:solidFill>
                          <a:latin typeface="Segoe UI"/>
                        </a:rPr>
                        <a:t>Hab./pt</a:t>
                      </a:r>
                    </a:p>
                  </a:txBody>
                  <a:tcPr anchor="ctr">
                    <a:solidFill>
                      <a:srgbClr val="156C52"/>
                    </a:solidFill>
                  </a:tcPr>
                </a:tc>
                <a:tc>
                  <a:txBody>
                    <a:bodyPr/>
                    <a:lstStyle/>
                    <a:p>
                      <a:r>
                        <a:rPr sz="850" b="1">
                          <a:solidFill>
                            <a:srgbClr val="FFFFFF"/>
                          </a:solidFill>
                          <a:latin typeface="Segoe UI"/>
                        </a:rPr>
                        <a:t>Ag. act.</a:t>
                      </a:r>
                    </a:p>
                  </a:txBody>
                  <a:tcPr anchor="ctr">
                    <a:solidFill>
                      <a:srgbClr val="156C52"/>
                    </a:solidFill>
                  </a:tcPr>
                </a:tc>
                <a:tc>
                  <a:txBody>
                    <a:bodyPr/>
                    <a:lstStyle/>
                    <a:p>
                      <a:r>
                        <a:rPr sz="850" b="1">
                          <a:solidFill>
                            <a:srgbClr val="FFFFFF"/>
                          </a:solidFill>
                          <a:latin typeface="Segoe UI"/>
                        </a:rPr>
                        <a:t>Dist.</a:t>
                      </a:r>
                    </a:p>
                  </a:txBody>
                  <a:tcPr anchor="ctr">
                    <a:solidFill>
                      <a:srgbClr val="156C52"/>
                    </a:solidFill>
                  </a:tcPr>
                </a:tc>
              </a:tr>
              <a:tr h="292608">
                <a:tc>
                  <a:txBody>
                    <a:bodyPr/>
                    <a:lstStyle/>
                    <a:p>
                      <a:r>
                        <a:rPr sz="850" b="1">
                          <a:solidFill>
                            <a:srgbClr val="12120F"/>
                          </a:solidFill>
                          <a:latin typeface="Segoe UI"/>
                        </a:rPr>
                        <a:t>1</a:t>
                      </a:r>
                    </a:p>
                  </a:txBody>
                  <a:tcPr anchor="ctr">
                    <a:solidFill>
                      <a:srgbClr val="FFFFFF"/>
                    </a:solidFill>
                  </a:tcPr>
                </a:tc>
                <a:tc>
                  <a:txBody>
                    <a:bodyPr/>
                    <a:lstStyle/>
                    <a:p>
                      <a:r>
                        <a:rPr sz="850" b="0">
                          <a:solidFill>
                            <a:srgbClr val="55544F"/>
                          </a:solidFill>
                          <a:latin typeface="Segoe UI"/>
                        </a:rPr>
                        <a:t>Kpendjal</a:t>
                      </a:r>
                    </a:p>
                  </a:txBody>
                  <a:tcPr anchor="ctr">
                    <a:solidFill>
                      <a:srgbClr val="FFFFFF"/>
                    </a:solidFill>
                  </a:tcPr>
                </a:tc>
                <a:tc>
                  <a:txBody>
                    <a:bodyPr/>
                    <a:lstStyle/>
                    <a:p>
                      <a:r>
                        <a:rPr sz="850" b="0">
                          <a:solidFill>
                            <a:srgbClr val="55544F"/>
                          </a:solidFill>
                          <a:latin typeface="Segoe UI"/>
                        </a:rPr>
                        <a:t>88 365</a:t>
                      </a:r>
                    </a:p>
                  </a:txBody>
                  <a:tcPr anchor="ctr">
                    <a:solidFill>
                      <a:srgbClr val="FFFFFF"/>
                    </a:solidFill>
                  </a:tcPr>
                </a:tc>
                <a:tc>
                  <a:txBody>
                    <a:bodyPr/>
                    <a:lstStyle/>
                    <a:p>
                      <a:r>
                        <a:rPr sz="850" b="0">
                          <a:solidFill>
                            <a:srgbClr val="55544F"/>
                          </a:solidFill>
                          <a:latin typeface="Segoe UI"/>
                        </a:rPr>
                        <a:t>2 155</a:t>
                      </a:r>
                    </a:p>
                  </a:txBody>
                  <a:tcPr anchor="ctr">
                    <a:solidFill>
                      <a:srgbClr val="FFFFFF"/>
                    </a:solidFill>
                  </a:tcPr>
                </a:tc>
                <a:tc>
                  <a:txBody>
                    <a:bodyPr/>
                    <a:lstStyle/>
                    <a:p>
                      <a:r>
                        <a:rPr sz="850" b="0">
                          <a:solidFill>
                            <a:srgbClr val="55544F"/>
                          </a:solidFill>
                          <a:latin typeface="Segoe UI"/>
                        </a:rPr>
                        <a:t>0</a:t>
                      </a:r>
                    </a:p>
                  </a:txBody>
                  <a:tcPr anchor="ctr">
                    <a:solidFill>
                      <a:srgbClr val="FFFFFF"/>
                    </a:solidFill>
                  </a:tcPr>
                </a:tc>
                <a:tc>
                  <a:txBody>
                    <a:bodyPr/>
                    <a:lstStyle/>
                    <a:p>
                      <a:r>
                        <a:rPr sz="850" b="0">
                          <a:solidFill>
                            <a:srgbClr val="55544F"/>
                          </a:solidFill>
                          <a:latin typeface="Segoe UI"/>
                        </a:rPr>
                        <a:t>47 km</a:t>
                      </a:r>
                    </a:p>
                  </a:txBody>
                  <a:tcPr anchor="ctr">
                    <a:solidFill>
                      <a:srgbClr val="FFFFFF"/>
                    </a:solidFill>
                  </a:tcPr>
                </a:tc>
              </a:tr>
              <a:tr h="292608">
                <a:tc>
                  <a:txBody>
                    <a:bodyPr/>
                    <a:lstStyle/>
                    <a:p>
                      <a:r>
                        <a:rPr sz="850" b="1">
                          <a:solidFill>
                            <a:srgbClr val="12120F"/>
                          </a:solidFill>
                          <a:latin typeface="Segoe UI"/>
                        </a:rPr>
                        <a:t>2</a:t>
                      </a:r>
                    </a:p>
                  </a:txBody>
                  <a:tcPr anchor="ctr">
                    <a:solidFill>
                      <a:srgbClr val="F7F7F5"/>
                    </a:solidFill>
                  </a:tcPr>
                </a:tc>
                <a:tc>
                  <a:txBody>
                    <a:bodyPr/>
                    <a:lstStyle/>
                    <a:p>
                      <a:r>
                        <a:rPr sz="850" b="0">
                          <a:solidFill>
                            <a:srgbClr val="55544F"/>
                          </a:solidFill>
                          <a:latin typeface="Segoe UI"/>
                        </a:rPr>
                        <a:t>Mô</a:t>
                      </a:r>
                    </a:p>
                  </a:txBody>
                  <a:tcPr anchor="ctr">
                    <a:solidFill>
                      <a:srgbClr val="F7F7F5"/>
                    </a:solidFill>
                  </a:tcPr>
                </a:tc>
                <a:tc>
                  <a:txBody>
                    <a:bodyPr/>
                    <a:lstStyle/>
                    <a:p>
                      <a:r>
                        <a:rPr sz="850" b="0">
                          <a:solidFill>
                            <a:srgbClr val="55544F"/>
                          </a:solidFill>
                          <a:latin typeface="Segoe UI"/>
                        </a:rPr>
                        <a:t>52 448</a:t>
                      </a:r>
                    </a:p>
                  </a:txBody>
                  <a:tcPr anchor="ctr">
                    <a:solidFill>
                      <a:srgbClr val="F7F7F5"/>
                    </a:solidFill>
                  </a:tcPr>
                </a:tc>
                <a:tc>
                  <a:txBody>
                    <a:bodyPr/>
                    <a:lstStyle/>
                    <a:p>
                      <a:r>
                        <a:rPr sz="850" b="0">
                          <a:solidFill>
                            <a:srgbClr val="55544F"/>
                          </a:solidFill>
                          <a:latin typeface="Segoe UI"/>
                        </a:rPr>
                        <a:t>1 639</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45 km</a:t>
                      </a:r>
                    </a:p>
                  </a:txBody>
                  <a:tcPr anchor="ctr">
                    <a:solidFill>
                      <a:srgbClr val="F7F7F5"/>
                    </a:solidFill>
                  </a:tcPr>
                </a:tc>
              </a:tr>
              <a:tr h="292608">
                <a:tc>
                  <a:txBody>
                    <a:bodyPr/>
                    <a:lstStyle/>
                    <a:p>
                      <a:r>
                        <a:rPr sz="850" b="1">
                          <a:solidFill>
                            <a:srgbClr val="12120F"/>
                          </a:solidFill>
                          <a:latin typeface="Segoe UI"/>
                        </a:rPr>
                        <a:t>3</a:t>
                      </a:r>
                    </a:p>
                  </a:txBody>
                  <a:tcPr anchor="ctr">
                    <a:solidFill>
                      <a:srgbClr val="FFFFFF"/>
                    </a:solidFill>
                  </a:tcPr>
                </a:tc>
                <a:tc>
                  <a:txBody>
                    <a:bodyPr/>
                    <a:lstStyle/>
                    <a:p>
                      <a:r>
                        <a:rPr sz="850" b="0">
                          <a:solidFill>
                            <a:srgbClr val="55544F"/>
                          </a:solidFill>
                          <a:latin typeface="Segoe UI"/>
                        </a:rPr>
                        <a:t>Est-Mono</a:t>
                      </a:r>
                    </a:p>
                  </a:txBody>
                  <a:tcPr anchor="ctr">
                    <a:solidFill>
                      <a:srgbClr val="FFFFFF"/>
                    </a:solidFill>
                  </a:tcPr>
                </a:tc>
                <a:tc>
                  <a:txBody>
                    <a:bodyPr/>
                    <a:lstStyle/>
                    <a:p>
                      <a:r>
                        <a:rPr sz="850" b="0">
                          <a:solidFill>
                            <a:srgbClr val="55544F"/>
                          </a:solidFill>
                          <a:latin typeface="Segoe UI"/>
                        </a:rPr>
                        <a:t>164 460</a:t>
                      </a:r>
                    </a:p>
                  </a:txBody>
                  <a:tcPr anchor="ctr">
                    <a:solidFill>
                      <a:srgbClr val="FFFFFF"/>
                    </a:solidFill>
                  </a:tcPr>
                </a:tc>
                <a:tc>
                  <a:txBody>
                    <a:bodyPr/>
                    <a:lstStyle/>
                    <a:p>
                      <a:r>
                        <a:rPr sz="850" b="0">
                          <a:solidFill>
                            <a:srgbClr val="55544F"/>
                          </a:solidFill>
                          <a:latin typeface="Segoe UI"/>
                        </a:rPr>
                        <a:t>787</a:t>
                      </a:r>
                    </a:p>
                  </a:txBody>
                  <a:tcPr anchor="ctr">
                    <a:solidFill>
                      <a:srgbClr val="FFFFFF"/>
                    </a:solidFill>
                  </a:tcPr>
                </a:tc>
                <a:tc>
                  <a:txBody>
                    <a:bodyPr/>
                    <a:lstStyle/>
                    <a:p>
                      <a:r>
                        <a:rPr sz="850" b="0">
                          <a:solidFill>
                            <a:srgbClr val="55544F"/>
                          </a:solidFill>
                          <a:latin typeface="Segoe UI"/>
                        </a:rPr>
                        <a:t>0</a:t>
                      </a:r>
                    </a:p>
                  </a:txBody>
                  <a:tcPr anchor="ctr">
                    <a:solidFill>
                      <a:srgbClr val="FFFFFF"/>
                    </a:solidFill>
                  </a:tcPr>
                </a:tc>
                <a:tc>
                  <a:txBody>
                    <a:bodyPr/>
                    <a:lstStyle/>
                    <a:p>
                      <a:r>
                        <a:rPr sz="850" b="0">
                          <a:solidFill>
                            <a:srgbClr val="55544F"/>
                          </a:solidFill>
                          <a:latin typeface="Segoe UI"/>
                        </a:rPr>
                        <a:t>46 km</a:t>
                      </a:r>
                    </a:p>
                  </a:txBody>
                  <a:tcPr anchor="ctr">
                    <a:solidFill>
                      <a:srgbClr val="FFFFFF"/>
                    </a:solidFill>
                  </a:tcPr>
                </a:tc>
              </a:tr>
              <a:tr h="292608">
                <a:tc>
                  <a:txBody>
                    <a:bodyPr/>
                    <a:lstStyle/>
                    <a:p>
                      <a:r>
                        <a:rPr sz="850" b="1">
                          <a:solidFill>
                            <a:srgbClr val="12120F"/>
                          </a:solidFill>
                          <a:latin typeface="Segoe UI"/>
                        </a:rPr>
                        <a:t>4</a:t>
                      </a:r>
                    </a:p>
                  </a:txBody>
                  <a:tcPr anchor="ctr">
                    <a:solidFill>
                      <a:srgbClr val="F7F7F5"/>
                    </a:solidFill>
                  </a:tcPr>
                </a:tc>
                <a:tc>
                  <a:txBody>
                    <a:bodyPr/>
                    <a:lstStyle/>
                    <a:p>
                      <a:r>
                        <a:rPr sz="850" b="0">
                          <a:solidFill>
                            <a:srgbClr val="55544F"/>
                          </a:solidFill>
                          <a:latin typeface="Segoe UI"/>
                        </a:rPr>
                        <a:t>Akébou</a:t>
                      </a:r>
                    </a:p>
                  </a:txBody>
                  <a:tcPr anchor="ctr">
                    <a:solidFill>
                      <a:srgbClr val="F7F7F5"/>
                    </a:solidFill>
                  </a:tcPr>
                </a:tc>
                <a:tc>
                  <a:txBody>
                    <a:bodyPr/>
                    <a:lstStyle/>
                    <a:p>
                      <a:r>
                        <a:rPr sz="850" b="0">
                          <a:solidFill>
                            <a:srgbClr val="55544F"/>
                          </a:solidFill>
                          <a:latin typeface="Segoe UI"/>
                        </a:rPr>
                        <a:t>73 830</a:t>
                      </a:r>
                    </a:p>
                  </a:txBody>
                  <a:tcPr anchor="ctr">
                    <a:solidFill>
                      <a:srgbClr val="F7F7F5"/>
                    </a:solidFill>
                  </a:tcPr>
                </a:tc>
                <a:tc>
                  <a:txBody>
                    <a:bodyPr/>
                    <a:lstStyle/>
                    <a:p>
                      <a:r>
                        <a:rPr sz="850" b="0">
                          <a:solidFill>
                            <a:srgbClr val="55544F"/>
                          </a:solidFill>
                          <a:latin typeface="Segoe UI"/>
                        </a:rPr>
                        <a:t>849</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43 km</a:t>
                      </a:r>
                    </a:p>
                  </a:txBody>
                  <a:tcPr anchor="ctr">
                    <a:solidFill>
                      <a:srgbClr val="F7F7F5"/>
                    </a:solidFill>
                  </a:tcPr>
                </a:tc>
              </a:tr>
              <a:tr h="292608">
                <a:tc>
                  <a:txBody>
                    <a:bodyPr/>
                    <a:lstStyle/>
                    <a:p>
                      <a:r>
                        <a:rPr sz="850" b="1">
                          <a:solidFill>
                            <a:srgbClr val="12120F"/>
                          </a:solidFill>
                          <a:latin typeface="Segoe UI"/>
                        </a:rPr>
                        <a:t>5</a:t>
                      </a:r>
                    </a:p>
                  </a:txBody>
                  <a:tcPr anchor="ctr">
                    <a:solidFill>
                      <a:srgbClr val="FFFFFF"/>
                    </a:solidFill>
                  </a:tcPr>
                </a:tc>
                <a:tc>
                  <a:txBody>
                    <a:bodyPr/>
                    <a:lstStyle/>
                    <a:p>
                      <a:r>
                        <a:rPr sz="850" b="0">
                          <a:solidFill>
                            <a:srgbClr val="55544F"/>
                          </a:solidFill>
                          <a:latin typeface="Segoe UI"/>
                        </a:rPr>
                        <a:t>Blitta</a:t>
                      </a:r>
                    </a:p>
                  </a:txBody>
                  <a:tcPr anchor="ctr">
                    <a:solidFill>
                      <a:srgbClr val="FFFFFF"/>
                    </a:solidFill>
                  </a:tcPr>
                </a:tc>
                <a:tc>
                  <a:txBody>
                    <a:bodyPr/>
                    <a:lstStyle/>
                    <a:p>
                      <a:r>
                        <a:rPr sz="850" b="0">
                          <a:solidFill>
                            <a:srgbClr val="55544F"/>
                          </a:solidFill>
                          <a:latin typeface="Segoe UI"/>
                        </a:rPr>
                        <a:t>163 272</a:t>
                      </a:r>
                    </a:p>
                  </a:txBody>
                  <a:tcPr anchor="ctr">
                    <a:solidFill>
                      <a:srgbClr val="FFFFFF"/>
                    </a:solidFill>
                  </a:tcPr>
                </a:tc>
                <a:tc>
                  <a:txBody>
                    <a:bodyPr/>
                    <a:lstStyle/>
                    <a:p>
                      <a:r>
                        <a:rPr sz="850" b="0">
                          <a:solidFill>
                            <a:srgbClr val="55544F"/>
                          </a:solidFill>
                          <a:latin typeface="Segoe UI"/>
                        </a:rPr>
                        <a:t>1 814</a:t>
                      </a:r>
                    </a:p>
                  </a:txBody>
                  <a:tcPr anchor="ctr">
                    <a:solidFill>
                      <a:srgbClr val="FFFFFF"/>
                    </a:solidFill>
                  </a:tcPr>
                </a:tc>
                <a:tc>
                  <a:txBody>
                    <a:bodyPr/>
                    <a:lstStyle/>
                    <a:p>
                      <a:r>
                        <a:rPr sz="850" b="0">
                          <a:solidFill>
                            <a:srgbClr val="55544F"/>
                          </a:solidFill>
                          <a:latin typeface="Segoe UI"/>
                        </a:rPr>
                        <a:t>2</a:t>
                      </a:r>
                    </a:p>
                  </a:txBody>
                  <a:tcPr anchor="ctr">
                    <a:solidFill>
                      <a:srgbClr val="FFFFFF"/>
                    </a:solidFill>
                  </a:tcPr>
                </a:tc>
                <a:tc>
                  <a:txBody>
                    <a:bodyPr/>
                    <a:lstStyle/>
                    <a:p>
                      <a:r>
                        <a:rPr sz="850" b="0">
                          <a:solidFill>
                            <a:srgbClr val="55544F"/>
                          </a:solidFill>
                          <a:latin typeface="Segoe UI"/>
                        </a:rPr>
                        <a:t>28 km</a:t>
                      </a:r>
                    </a:p>
                  </a:txBody>
                  <a:tcPr anchor="ctr">
                    <a:solidFill>
                      <a:srgbClr val="FFFFFF"/>
                    </a:solidFill>
                  </a:tcPr>
                </a:tc>
              </a:tr>
              <a:tr h="292608">
                <a:tc>
                  <a:txBody>
                    <a:bodyPr/>
                    <a:lstStyle/>
                    <a:p>
                      <a:r>
                        <a:rPr sz="850" b="1">
                          <a:solidFill>
                            <a:srgbClr val="12120F"/>
                          </a:solidFill>
                          <a:latin typeface="Segoe UI"/>
                        </a:rPr>
                        <a:t>6</a:t>
                      </a:r>
                    </a:p>
                  </a:txBody>
                  <a:tcPr anchor="ctr">
                    <a:solidFill>
                      <a:srgbClr val="F7F7F5"/>
                    </a:solidFill>
                  </a:tcPr>
                </a:tc>
                <a:tc>
                  <a:txBody>
                    <a:bodyPr/>
                    <a:lstStyle/>
                    <a:p>
                      <a:r>
                        <a:rPr sz="850" b="0">
                          <a:solidFill>
                            <a:srgbClr val="55544F"/>
                          </a:solidFill>
                          <a:latin typeface="Segoe UI"/>
                        </a:rPr>
                        <a:t>Wawa</a:t>
                      </a:r>
                    </a:p>
                  </a:txBody>
                  <a:tcPr anchor="ctr">
                    <a:solidFill>
                      <a:srgbClr val="F7F7F5"/>
                    </a:solidFill>
                  </a:tcPr>
                </a:tc>
                <a:tc>
                  <a:txBody>
                    <a:bodyPr/>
                    <a:lstStyle/>
                    <a:p>
                      <a:r>
                        <a:rPr sz="850" b="0">
                          <a:solidFill>
                            <a:srgbClr val="55544F"/>
                          </a:solidFill>
                          <a:latin typeface="Segoe UI"/>
                        </a:rPr>
                        <a:t>101 300</a:t>
                      </a:r>
                    </a:p>
                  </a:txBody>
                  <a:tcPr anchor="ctr">
                    <a:solidFill>
                      <a:srgbClr val="F7F7F5"/>
                    </a:solidFill>
                  </a:tcPr>
                </a:tc>
                <a:tc>
                  <a:txBody>
                    <a:bodyPr/>
                    <a:lstStyle/>
                    <a:p>
                      <a:r>
                        <a:rPr sz="850" b="0">
                          <a:solidFill>
                            <a:srgbClr val="55544F"/>
                          </a:solidFill>
                          <a:latin typeface="Segoe UI"/>
                        </a:rPr>
                        <a:t>415</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44 km</a:t>
                      </a:r>
                    </a:p>
                  </a:txBody>
                  <a:tcPr anchor="ctr">
                    <a:solidFill>
                      <a:srgbClr val="F7F7F5"/>
                    </a:solidFill>
                  </a:tcPr>
                </a:tc>
              </a:tr>
            </a:tbl>
          </a:graphicData>
        </a:graphic>
      </p:graphicFrame>
      <p:sp>
        <p:nvSpPr>
          <p:cNvPr id="17" name="TextBox 16"/>
          <p:cNvSpPr txBox="1"/>
          <p:nvPr/>
        </p:nvSpPr>
        <p:spPr>
          <a:xfrm>
            <a:off x="7863840" y="4160520"/>
            <a:ext cx="3794760" cy="1920240"/>
          </a:xfrm>
          <a:prstGeom prst="rect">
            <a:avLst/>
          </a:prstGeom>
          <a:noFill/>
        </p:spPr>
        <p:txBody>
          <a:bodyPr wrap="square" lIns="0" rIns="0" tIns="0" bIns="0">
            <a:spAutoFit/>
          </a:bodyPr>
          <a:lstStyle/>
          <a:p>
            <a:pPr algn="l">
              <a:lnSpc>
                <a:spcPct val="132000"/>
              </a:lnSpc>
            </a:pPr>
            <a:r>
              <a:rPr sz="1000" b="0">
                <a:solidFill>
                  <a:srgbClr val="55544F"/>
                </a:solidFill>
                <a:latin typeface="Segoe UI"/>
              </a:rPr>
              <a:t>Corrélation de Spearman moyenne avec le classement de référence : 0,971 sur 2 000 pondérations aléatoires, plus huit variantes structurelles (retrait de chaque composante, poids égaux, normalisation par rang).</a:t>
            </a:r>
          </a:p>
          <a:p>
            <a:pPr algn="l">
              <a:lnSpc>
                <a:spcPct val="132000"/>
              </a:lnSpc>
            </a:pPr>
            <a:r>
              <a:rPr sz="1000" b="0">
                <a:solidFill>
                  <a:srgbClr val="55544F"/>
                </a:solidFill>
                <a:latin typeface="Segoe UI"/>
              </a:rPr>
              <a:t/>
            </a:r>
          </a:p>
          <a:p>
            <a:pPr algn="l">
              <a:lnSpc>
                <a:spcPct val="132000"/>
              </a:lnSpc>
            </a:pPr>
            <a:r>
              <a:rPr sz="1000" b="0">
                <a:solidFill>
                  <a:srgbClr val="55544F"/>
                </a:solidFill>
                <a:latin typeface="Segoe UI"/>
              </a:rPr>
              <a:t>Les territoires dont le rang dépend des pondérations ne sont pas présentés comme prioritaires.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DÉCISION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Recommandations stratégiques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Cinq leviers, chacun déclenché par un seuil mesuré — aucune recommandation sans le chiffre qui la justifie.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08 / 10</a:t>
            </a:r>
          </a:p>
        </p:txBody>
      </p:sp>
      <p:pic>
        <p:nvPicPr>
          <p:cNvPr id="14" name="Picture 13" descr="leviers.png"/>
          <p:cNvPicPr>
            <a:picLocks noChangeAspect="1"/>
          </p:cNvPicPr>
          <p:nvPr/>
        </p:nvPicPr>
        <p:blipFill>
          <a:blip r:embed="rId2"/>
          <a:stretch>
            <a:fillRect/>
          </a:stretch>
        </p:blipFill>
        <p:spPr>
          <a:xfrm>
            <a:off x="6309360" y="2148840"/>
            <a:ext cx="5349240" cy="2458581"/>
          </a:xfrm>
          <a:prstGeom prst="rect">
            <a:avLst/>
          </a:prstGeom>
        </p:spPr>
      </p:pic>
      <p:sp>
        <p:nvSpPr>
          <p:cNvPr id="15" name="Rectangle 14"/>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1965960"/>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Densifier le réseau d'agents Mobile Money — levier rapide</a:t>
            </a:r>
          </a:p>
        </p:txBody>
      </p:sp>
      <p:sp>
        <p:nvSpPr>
          <p:cNvPr id="17" name="TextBox 16"/>
          <p:cNvSpPr txBox="1"/>
          <p:nvPr/>
        </p:nvSpPr>
        <p:spPr>
          <a:xfrm>
            <a:off x="740664" y="2194560"/>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plus de 800 habitants par point. S'appuie sur des commerces existants, sans construction.</a:t>
            </a:r>
          </a:p>
        </p:txBody>
      </p:sp>
      <p:sp>
        <p:nvSpPr>
          <p:cNvPr id="18" name="Rectangle 17"/>
          <p:cNvSpPr/>
          <p:nvPr/>
        </p:nvSpPr>
        <p:spPr>
          <a:xfrm>
            <a:off x="566928"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645664"/>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Implanter un point de présence opérateur — levier structurel</a:t>
            </a:r>
          </a:p>
        </p:txBody>
      </p:sp>
      <p:sp>
        <p:nvSpPr>
          <p:cNvPr id="20" name="TextBox 19"/>
          <p:cNvSpPr txBox="1"/>
          <p:nvPr/>
        </p:nvSpPr>
        <p:spPr>
          <a:xfrm>
            <a:off x="740664" y="2874264"/>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aucune agence active. Seul levier créant un guichet là où il n'en existe aucun.</a:t>
            </a:r>
          </a:p>
        </p:txBody>
      </p:sp>
      <p:sp>
        <p:nvSpPr>
          <p:cNvPr id="21" name="Rectangle 20"/>
          <p:cNvSpPr/>
          <p:nvPr/>
        </p:nvSpPr>
        <p:spPr>
          <a:xfrm>
            <a:off x="566928" y="337566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325368"/>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Répartir le maillage plutôt qu'un point unique</a:t>
            </a:r>
          </a:p>
        </p:txBody>
      </p:sp>
      <p:sp>
        <p:nvSpPr>
          <p:cNvPr id="23" name="TextBox 22"/>
          <p:cNvSpPr txBox="1"/>
          <p:nvPr/>
        </p:nvSpPr>
        <p:spPr>
          <a:xfrm>
            <a:off x="740664" y="3553968"/>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25 km ou plus jusqu'à une agence active. Quand l'éloignement domine, un guichet au chef-lieu ne règle rien.</a:t>
            </a:r>
          </a:p>
        </p:txBody>
      </p:sp>
      <p:sp>
        <p:nvSpPr>
          <p:cNvPr id="24" name="Rectangle 23"/>
          <p:cNvSpPr/>
          <p:nvPr/>
        </p:nvSpPr>
        <p:spPr>
          <a:xfrm>
            <a:off x="566928" y="405536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005072"/>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Ouvrir la concurrence entre opérateurs</a:t>
            </a:r>
          </a:p>
        </p:txBody>
      </p:sp>
      <p:sp>
        <p:nvSpPr>
          <p:cNvPr id="26" name="TextBox 25"/>
          <p:cNvSpPr txBox="1"/>
          <p:nvPr/>
        </p:nvSpPr>
        <p:spPr>
          <a:xfrm>
            <a:off x="740664" y="4233672"/>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un seul opérateur présent. 4 773 points ne servent que Togocom contre 1 018 pour Moov seul.</a:t>
            </a:r>
          </a:p>
        </p:txBody>
      </p:sp>
      <p:sp>
        <p:nvSpPr>
          <p:cNvPr id="27" name="Rectangle 26"/>
          <p:cNvSpPr/>
          <p:nvPr/>
        </p:nvSpPr>
        <p:spPr>
          <a:xfrm>
            <a:off x="6309360" y="4937760"/>
            <a:ext cx="5349240" cy="123444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937760"/>
            <a:ext cx="32004" cy="123444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5120640"/>
            <a:ext cx="4937760" cy="914400"/>
          </a:xfrm>
          <a:prstGeom prst="rect">
            <a:avLst/>
          </a:prstGeom>
          <a:noFill/>
        </p:spPr>
        <p:txBody>
          <a:bodyPr wrap="square" lIns="0" rIns="0" tIns="0" bIns="0">
            <a:spAutoFit/>
          </a:bodyPr>
          <a:lstStyle/>
          <a:p>
            <a:pPr algn="l">
              <a:lnSpc>
                <a:spcPct val="132000"/>
              </a:lnSpc>
            </a:pPr>
            <a:r>
              <a:rPr sz="1000" b="0">
                <a:solidFill>
                  <a:srgbClr val="55544F"/>
                </a:solidFill>
                <a:latin typeface="Segoe UI"/>
              </a:rPr>
              <a:t>Les 9 territoires prioritaires représentent 1 080 723 habitants, soit 13% de la population nationale.</a:t>
            </a:r>
          </a:p>
          <a:p>
            <a:pPr algn="l">
              <a:lnSpc>
                <a:spcPct val="132000"/>
              </a:lnSpc>
            </a:pPr>
            <a:r>
              <a:rPr sz="1000" b="0">
                <a:solidFill>
                  <a:srgbClr val="55544F"/>
                </a:solidFill>
                <a:latin typeface="Segoe UI"/>
              </a:rPr>
              <a:t>Un même territoire peut relever de plusieurs leviers : les populations ne s'additionnent pas d'un levier à l'autre.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PRÉCAUTIONS</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Limites et précautions d'interprétation</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Ce diagnostic mesure un déficit d'accès aux services — pas une absence de réseau mobile. La distinction est décisive.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09 / 10</a:t>
            </a:r>
          </a:p>
        </p:txBody>
      </p:sp>
      <p:sp>
        <p:nvSpPr>
          <p:cNvPr id="14" name="Rectangle 13"/>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1965960"/>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La couverture réseau n'est pas mesurée</a:t>
            </a:r>
          </a:p>
        </p:txBody>
      </p:sp>
      <p:sp>
        <p:nvSpPr>
          <p:cNvPr id="16" name="TextBox 15"/>
          <p:cNvSpPr txBox="1"/>
          <p:nvPr/>
        </p:nvSpPr>
        <p:spPr>
          <a:xfrm>
            <a:off x="740664" y="2194560"/>
            <a:ext cx="54041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Une zone sans agence ni agent Mobile Money n'est pas nécessairement une zone sans réseau mobile. Les 41 cantons signalés par le proxy sont à vérifier, pas des zones blanches avérées.</a:t>
            </a:r>
          </a:p>
        </p:txBody>
      </p:sp>
      <p:sp>
        <p:nvSpPr>
          <p:cNvPr id="17" name="Rectangle 16"/>
          <p:cNvSpPr/>
          <p:nvPr/>
        </p:nvSpPr>
        <p:spPr>
          <a:xfrm>
            <a:off x="566928" y="285521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04922"/>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Les agences CANAL+ sont absentes</a:t>
            </a:r>
          </a:p>
        </p:txBody>
      </p:sp>
      <p:sp>
        <p:nvSpPr>
          <p:cNvPr id="19" name="TextBox 18"/>
          <p:cNvSpPr txBox="1"/>
          <p:nvPr/>
        </p:nvSpPr>
        <p:spPr>
          <a:xfrm>
            <a:off x="740664" y="3033522"/>
            <a:ext cx="54041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Fichier source vide. Le déficit porte sur les 88 agences actives Moov et Togocom (2 fermées exclues sur 90 recensées).</a:t>
            </a:r>
          </a:p>
        </p:txBody>
      </p:sp>
      <p:sp>
        <p:nvSpPr>
          <p:cNvPr id="20" name="Rectangle 19"/>
          <p:cNvSpPr/>
          <p:nvPr/>
        </p:nvSpPr>
        <p:spPr>
          <a:xfrm>
            <a:off x="566928"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3484626"/>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 diagnostic décrit 2021-2022</a:t>
            </a:r>
          </a:p>
        </p:txBody>
      </p:sp>
      <p:sp>
        <p:nvSpPr>
          <p:cNvPr id="22" name="TextBox 21"/>
          <p:cNvSpPr txBox="1"/>
          <p:nvPr/>
        </p:nvSpPr>
        <p:spPr>
          <a:xfrm>
            <a:off x="740664" y="3713226"/>
            <a:ext cx="54041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Tout déploiement postérieur est invisible. La hiérarchie des besoins reste valable tant que les écarts ne sont pas comblés.</a:t>
            </a:r>
          </a:p>
        </p:txBody>
      </p:sp>
      <p:sp>
        <p:nvSpPr>
          <p:cNvPr id="23" name="Rectangle 22"/>
          <p:cNvSpPr/>
          <p:nvPr/>
        </p:nvSpPr>
        <p:spPr>
          <a:xfrm>
            <a:off x="6492240"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65960"/>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Les scores communaux et préfectoraux ne sont pas comparables</a:t>
            </a:r>
          </a:p>
        </p:txBody>
      </p:sp>
      <p:sp>
        <p:nvSpPr>
          <p:cNvPr id="25" name="TextBox 24"/>
          <p:cNvSpPr txBox="1"/>
          <p:nvPr/>
        </p:nvSpPr>
        <p:spPr>
          <a:xfrm>
            <a:off x="6665976" y="2194560"/>
            <a:ext cx="49469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La composante d'éloignement ne repose pas sur la même mesure aux deux niveaux. Les rangs se lisent à l'intérieur de chaque niveau.</a:t>
            </a:r>
          </a:p>
        </p:txBody>
      </p:sp>
      <p:sp>
        <p:nvSpPr>
          <p:cNvPr id="26" name="Rectangle 25"/>
          <p:cNvSpPr/>
          <p:nvPr/>
        </p:nvSpPr>
        <p:spPr>
          <a:xfrm>
            <a:off x="6492240"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5976" y="2645664"/>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 score élevé signale un besoin, pas une solution</a:t>
            </a:r>
          </a:p>
        </p:txBody>
      </p:sp>
      <p:sp>
        <p:nvSpPr>
          <p:cNvPr id="28" name="TextBox 27"/>
          <p:cNvSpPr txBox="1"/>
          <p:nvPr/>
        </p:nvSpPr>
        <p:spPr>
          <a:xfrm>
            <a:off x="6665976" y="2874264"/>
            <a:ext cx="49469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L'indice ne dit rien du coût, de la faisabilité ni de la rentabilité d'une intervention. Il hiérarchise des besoins mesurés — préalable à un arbitrage, jamais son substitut.</a:t>
            </a:r>
          </a:p>
        </p:txBody>
      </p:sp>
      <p:sp>
        <p:nvSpPr>
          <p:cNvPr id="29" name="Rectangle 28"/>
          <p:cNvSpPr/>
          <p:nvPr/>
        </p:nvSpPr>
        <p:spPr>
          <a:xfrm>
            <a:off x="6492240"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5976" y="3484626"/>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La structure par âge n'est pas prise en compte</a:t>
            </a:r>
          </a:p>
        </p:txBody>
      </p:sp>
      <p:sp>
        <p:nvSpPr>
          <p:cNvPr id="31" name="TextBox 30"/>
          <p:cNvSpPr txBox="1"/>
          <p:nvPr/>
        </p:nvSpPr>
        <p:spPr>
          <a:xfrm>
            <a:off x="6665976" y="3713226"/>
            <a:ext cx="49469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Un dénominateur « 15 ans et plus » serait plus juste. Les tableaux d'âges n'ont pas pu être extraits avec une garantie arithmétique suffisante : ils ont été écartés plutôt que repris sans contrôle.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CONCLUSION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Objectifs du sujet → réponses fournies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Quatre objectifs traités ; la couverture mobile, non mesurable en open data, devient une limite critique.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10 / 10</a:t>
            </a:r>
          </a:p>
        </p:txBody>
      </p:sp>
      <p:sp>
        <p:nvSpPr>
          <p:cNvPr id="14" name="Rectangle 13"/>
          <p:cNvSpPr/>
          <p:nvPr/>
        </p:nvSpPr>
        <p:spPr>
          <a:xfrm>
            <a:off x="566928" y="193852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193852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205740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1 · Cartographier agences et centres de données</a:t>
            </a:r>
          </a:p>
        </p:txBody>
      </p:sp>
      <p:sp>
        <p:nvSpPr>
          <p:cNvPr id="17" name="TextBox 16"/>
          <p:cNvSpPr txBox="1"/>
          <p:nvPr/>
        </p:nvSpPr>
        <p:spPr>
          <a:xfrm>
            <a:off x="3904488" y="202996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18" name="TextBox 17"/>
          <p:cNvSpPr txBox="1"/>
          <p:nvPr/>
        </p:nvSpPr>
        <p:spPr>
          <a:xfrm>
            <a:off x="4224528" y="202996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90 agences recensées après dédoublonnage (28 Moov, 62 Togocom), dont 88 actives, et 3 centres de données, tous à Lomé. « Télécom » est un doublon ; CANAL+ est vide à la source.</a:t>
            </a:r>
          </a:p>
        </p:txBody>
      </p:sp>
      <p:sp>
        <p:nvSpPr>
          <p:cNvPr id="19" name="Rectangle 18"/>
          <p:cNvSpPr/>
          <p:nvPr/>
        </p:nvSpPr>
        <p:spPr>
          <a:xfrm>
            <a:off x="10207447" y="212140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7447" y="217170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21" name="Rectangle 20"/>
          <p:cNvSpPr/>
          <p:nvPr/>
        </p:nvSpPr>
        <p:spPr>
          <a:xfrm>
            <a:off x="566928" y="267004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67004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278892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2 · Mobile Money au regard de la population</a:t>
            </a:r>
          </a:p>
        </p:txBody>
      </p:sp>
      <p:sp>
        <p:nvSpPr>
          <p:cNvPr id="24" name="TextBox 23"/>
          <p:cNvSpPr txBox="1"/>
          <p:nvPr/>
        </p:nvSpPr>
        <p:spPr>
          <a:xfrm>
            <a:off x="3904488" y="276148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25" name="TextBox 24"/>
          <p:cNvSpPr txBox="1"/>
          <p:nvPr/>
        </p:nvSpPr>
        <p:spPr>
          <a:xfrm>
            <a:off x="4224528" y="276148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409 habitants par point en moyenne, de 1 à 12,7 entre préfectures ; la moitié la moins desservie de la population ne dispose que de 27 % des points.</a:t>
            </a:r>
          </a:p>
        </p:txBody>
      </p:sp>
      <p:sp>
        <p:nvSpPr>
          <p:cNvPr id="26" name="Rectangle 25"/>
          <p:cNvSpPr/>
          <p:nvPr/>
        </p:nvSpPr>
        <p:spPr>
          <a:xfrm>
            <a:off x="10207447" y="285292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07447" y="290322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28" name="Rectangle 27"/>
          <p:cNvSpPr/>
          <p:nvPr/>
        </p:nvSpPr>
        <p:spPr>
          <a:xfrm>
            <a:off x="566928" y="340156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340156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352044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3 · Infrastructures et densité démographique</a:t>
            </a:r>
          </a:p>
        </p:txBody>
      </p:sp>
      <p:sp>
        <p:nvSpPr>
          <p:cNvPr id="31" name="TextBox 30"/>
          <p:cNvSpPr txBox="1"/>
          <p:nvPr/>
        </p:nvSpPr>
        <p:spPr>
          <a:xfrm>
            <a:off x="3904488" y="349300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32" name="TextBox 31"/>
          <p:cNvSpPr txBox="1"/>
          <p:nvPr/>
        </p:nvSpPr>
        <p:spPr>
          <a:xfrm>
            <a:off x="4224528" y="349300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12 préfectures peuplées et sous-desservies. La densité n'explique que 12 % des écarts d'équipement : le déficit n'est pas la fatalité d'un territoire rural.</a:t>
            </a:r>
          </a:p>
        </p:txBody>
      </p:sp>
      <p:sp>
        <p:nvSpPr>
          <p:cNvPr id="33" name="Rectangle 32"/>
          <p:cNvSpPr/>
          <p:nvPr/>
        </p:nvSpPr>
        <p:spPr>
          <a:xfrm>
            <a:off x="10207447" y="358444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07447" y="363474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35" name="Rectangle 34"/>
          <p:cNvSpPr/>
          <p:nvPr/>
        </p:nvSpPr>
        <p:spPr>
          <a:xfrm>
            <a:off x="566928" y="4133088"/>
            <a:ext cx="11057839" cy="658368"/>
          </a:xfrm>
          <a:prstGeom prst="rect">
            <a:avLst/>
          </a:prstGeom>
          <a:solidFill>
            <a:srgbClr val="FBEEEE"/>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133088"/>
            <a:ext cx="41148" cy="65836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425196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4 · Couverture réseau et zones blanches</a:t>
            </a:r>
          </a:p>
        </p:txBody>
      </p:sp>
      <p:sp>
        <p:nvSpPr>
          <p:cNvPr id="38" name="TextBox 37"/>
          <p:cNvSpPr txBox="1"/>
          <p:nvPr/>
        </p:nvSpPr>
        <p:spPr>
          <a:xfrm>
            <a:off x="3904488" y="422452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39" name="TextBox 38"/>
          <p:cNvSpPr txBox="1"/>
          <p:nvPr/>
        </p:nvSpPr>
        <p:spPr>
          <a:xfrm>
            <a:off x="4224528" y="4224528"/>
            <a:ext cx="5806440" cy="548640"/>
          </a:xfrm>
          <a:prstGeom prst="rect">
            <a:avLst/>
          </a:prstGeom>
          <a:noFill/>
        </p:spPr>
        <p:txBody>
          <a:bodyPr wrap="square" lIns="0" rIns="0" tIns="0" bIns="0">
            <a:spAutoFit/>
          </a:bodyPr>
          <a:lstStyle/>
          <a:p>
            <a:pPr algn="l">
              <a:lnSpc>
                <a:spcPct val="125000"/>
              </a:lnSpc>
            </a:pPr>
            <a:r>
              <a:rPr sz="950" b="1">
                <a:solidFill>
                  <a:srgbClr val="12120F"/>
                </a:solidFill>
                <a:latin typeface="Segoe UI"/>
              </a:rPr>
              <a:t>Non mesurable avec les données ouvertes disponibles — couches antennes hors open data. Traitée comme limite critique et besoin prioritaire de données. Proxy déclaré : 41 cantons à investiguer, dont 22 sans aucun agent Mobile Money.</a:t>
            </a:r>
          </a:p>
        </p:txBody>
      </p:sp>
      <p:sp>
        <p:nvSpPr>
          <p:cNvPr id="40" name="Rectangle 39"/>
          <p:cNvSpPr/>
          <p:nvPr/>
        </p:nvSpPr>
        <p:spPr>
          <a:xfrm>
            <a:off x="10207447" y="4315968"/>
            <a:ext cx="1280160" cy="29260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07447" y="436626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LIMITE CRITIQUE</a:t>
            </a:r>
          </a:p>
        </p:txBody>
      </p:sp>
      <p:sp>
        <p:nvSpPr>
          <p:cNvPr id="42" name="Rectangle 41"/>
          <p:cNvSpPr/>
          <p:nvPr/>
        </p:nvSpPr>
        <p:spPr>
          <a:xfrm>
            <a:off x="566928" y="486460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86460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498348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5 · Prioriser les investissements</a:t>
            </a:r>
          </a:p>
        </p:txBody>
      </p:sp>
      <p:sp>
        <p:nvSpPr>
          <p:cNvPr id="45" name="TextBox 44"/>
          <p:cNvSpPr txBox="1"/>
          <p:nvPr/>
        </p:nvSpPr>
        <p:spPr>
          <a:xfrm>
            <a:off x="3904488" y="495604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46" name="TextBox 45"/>
          <p:cNvSpPr txBox="1"/>
          <p:nvPr/>
        </p:nvSpPr>
        <p:spPr>
          <a:xfrm>
            <a:off x="4224528" y="495604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9 préfectures stables sur 2 000 pondérations (corrélation 0,971), 1 080 723 habitants : Kpendjal, Mô, Est-Mono, Akébou, Yoto…</a:t>
            </a:r>
          </a:p>
        </p:txBody>
      </p:sp>
      <p:sp>
        <p:nvSpPr>
          <p:cNvPr id="47" name="Rectangle 46"/>
          <p:cNvSpPr/>
          <p:nvPr/>
        </p:nvSpPr>
        <p:spPr>
          <a:xfrm>
            <a:off x="10207447" y="504748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07447" y="509778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49" name="TextBox 48"/>
          <p:cNvSpPr txBox="1"/>
          <p:nvPr/>
        </p:nvSpPr>
        <p:spPr>
          <a:xfrm>
            <a:off x="566928" y="5614416"/>
            <a:ext cx="11057839" cy="274320"/>
          </a:xfrm>
          <a:prstGeom prst="rect">
            <a:avLst/>
          </a:prstGeom>
          <a:noFill/>
        </p:spPr>
        <p:txBody>
          <a:bodyPr wrap="square" lIns="0" rIns="0" tIns="0" bIns="0">
            <a:spAutoFit/>
          </a:bodyPr>
          <a:lstStyle/>
          <a:p>
            <a:pPr algn="l">
              <a:lnSpc>
                <a:spcPct val="125000"/>
              </a:lnSpc>
            </a:pPr>
            <a:r>
              <a:rPr sz="1000" b="1">
                <a:solidFill>
                  <a:srgbClr val="0F4D3B"/>
                </a:solidFill>
                <a:latin typeface="Segoe UI"/>
              </a:rPr>
              <a:t>Première recommandation au producteur de données : ouvrir les couches « Tours télécoms » du catalogue national, pour transformer les zones suspectes en zones blanches confirmées ou écartées.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