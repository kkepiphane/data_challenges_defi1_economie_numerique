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D3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4864"/>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4864"/>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4864"/>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932688"/>
            <a:ext cx="7589520" cy="201168"/>
          </a:xfrm>
          <a:prstGeom prst="rect">
            <a:avLst/>
          </a:prstGeom>
          <a:noFill/>
        </p:spPr>
        <p:txBody>
          <a:bodyPr wrap="square" lIns="0" tIns="0" rIns="0" bIns="0">
            <a:spAutoFit/>
          </a:bodyPr>
          <a:lstStyle/>
          <a:p>
            <a:pPr algn="l">
              <a:lnSpc>
                <a:spcPct val="120000"/>
              </a:lnSpc>
            </a:pPr>
            <a:r>
              <a:rPr sz="950" b="1" spc="190">
                <a:solidFill>
                  <a:srgbClr val="8EB6A6"/>
                </a:solidFill>
                <a:latin typeface="Segoe UI" panose="020B0502040204020203"/>
              </a:rPr>
              <a:t>DÉFI 1 · ÉCONOMIE NUMÉRIQUE · RÉPUBLIQUE TOGOLAISE</a:t>
            </a:r>
            <a:endParaRPr sz="950" b="1" spc="190">
              <a:solidFill>
                <a:srgbClr val="8EB6A6"/>
              </a:solidFill>
              <a:latin typeface="Segoe UI" panose="020B0502040204020203"/>
            </a:endParaRPr>
          </a:p>
        </p:txBody>
      </p:sp>
      <p:sp>
        <p:nvSpPr>
          <p:cNvPr id="7" name="TextBox 6"/>
          <p:cNvSpPr txBox="1"/>
          <p:nvPr/>
        </p:nvSpPr>
        <p:spPr>
          <a:xfrm>
            <a:off x="868680" y="1389888"/>
            <a:ext cx="7589520" cy="1737360"/>
          </a:xfrm>
          <a:prstGeom prst="rect">
            <a:avLst/>
          </a:prstGeom>
          <a:noFill/>
        </p:spPr>
        <p:txBody>
          <a:bodyPr wrap="square" lIns="0" tIns="0" rIns="0" bIns="0">
            <a:spAutoFit/>
          </a:bodyPr>
          <a:lstStyle/>
          <a:p>
            <a:pPr algn="l">
              <a:lnSpc>
                <a:spcPct val="102000"/>
              </a:lnSpc>
            </a:pPr>
            <a:r>
              <a:rPr sz="4300" b="1" spc="-50">
                <a:solidFill>
                  <a:srgbClr val="FFFFFF"/>
                </a:solidFill>
                <a:latin typeface="Segoe UI" panose="020B0502040204020203"/>
              </a:rPr>
              <a:t>Connecter le Togo</a:t>
            </a:r>
            <a:endParaRPr sz="4300" b="1" spc="-50">
              <a:solidFill>
                <a:srgbClr val="FFFFFF"/>
              </a:solidFill>
              <a:latin typeface="Segoe UI" panose="020B0502040204020203"/>
            </a:endParaRPr>
          </a:p>
          <a:p>
            <a:pPr algn="l">
              <a:lnSpc>
                <a:spcPct val="102000"/>
              </a:lnSpc>
            </a:pPr>
            <a:r>
              <a:rPr sz="4300" b="1" spc="-50">
                <a:solidFill>
                  <a:srgbClr val="FFFFFF"/>
                </a:solidFill>
                <a:latin typeface="Segoe UI" panose="020B0502040204020203"/>
              </a:rPr>
              <a:t>là où le manque est prouvé</a:t>
            </a:r>
            <a:endParaRPr sz="4300" b="1" spc="-50">
              <a:solidFill>
                <a:srgbClr val="FFFFFF"/>
              </a:solidFill>
              <a:latin typeface="Segoe UI" panose="020B0502040204020203"/>
            </a:endParaRPr>
          </a:p>
        </p:txBody>
      </p:sp>
      <p:sp>
        <p:nvSpPr>
          <p:cNvPr id="8" name="Rectangle 7"/>
          <p:cNvSpPr/>
          <p:nvPr/>
        </p:nvSpPr>
        <p:spPr>
          <a:xfrm>
            <a:off x="868680" y="3127248"/>
            <a:ext cx="841248" cy="41148"/>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456432"/>
            <a:ext cx="7223760" cy="1005840"/>
          </a:xfrm>
          <a:prstGeom prst="rect">
            <a:avLst/>
          </a:prstGeom>
          <a:noFill/>
        </p:spPr>
        <p:txBody>
          <a:bodyPr wrap="square" lIns="0" tIns="0" rIns="0" bIns="0">
            <a:spAutoFit/>
          </a:bodyPr>
          <a:lstStyle/>
          <a:p>
            <a:pPr algn="l">
              <a:lnSpc>
                <a:spcPct val="152000"/>
              </a:lnSpc>
            </a:pPr>
            <a:r>
              <a:rPr sz="1400" b="0">
                <a:solidFill>
                  <a:srgbClr val="CBDED6"/>
                </a:solidFill>
                <a:latin typeface="Segoe UI" panose="020B0502040204020203"/>
              </a:rPr>
              <a:t>Le Togo compte un point de service financier numérique pour 409 habitants. Cette moyenne ne dit rien d'utile : entre la préfecture la mieux dotée et la moins dotée, l'écart est de 1 à 12,7.</a:t>
            </a:r>
            <a:endParaRPr sz="1400" b="0">
              <a:solidFill>
                <a:srgbClr val="CBDED6"/>
              </a:solidFill>
              <a:latin typeface="Segoe UI" panose="020B0502040204020203"/>
            </a:endParaRPr>
          </a:p>
          <a:p>
            <a:pPr algn="l">
              <a:lnSpc>
                <a:spcPct val="152000"/>
              </a:lnSpc>
            </a:pPr>
            <a:r>
              <a:rPr sz="1400" b="0">
                <a:solidFill>
                  <a:srgbClr val="CBDED6"/>
                </a:solidFill>
                <a:latin typeface="Segoe UI" panose="020B0502040204020203"/>
              </a:rPr>
              <a:t>Ce diagnostic désigne les territoires où investir, et publie de quoi contester le classement.</a:t>
            </a:r>
            <a:endParaRPr sz="1400" b="0">
              <a:solidFill>
                <a:srgbClr val="CBDED6"/>
              </a:solidFill>
              <a:latin typeface="Segoe UI" panose="020B0502040204020203"/>
            </a:endParaRPr>
          </a:p>
        </p:txBody>
      </p:sp>
      <p:sp>
        <p:nvSpPr>
          <p:cNvPr id="10" name="Rectangle 9"/>
          <p:cNvSpPr/>
          <p:nvPr/>
        </p:nvSpPr>
        <p:spPr>
          <a:xfrm>
            <a:off x="868680" y="4590288"/>
            <a:ext cx="8183879" cy="9525"/>
          </a:xfrm>
          <a:prstGeom prst="rect">
            <a:avLst/>
          </a:prstGeom>
          <a:solidFill>
            <a:srgbClr val="1B5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28032"/>
            <a:ext cx="2596896" cy="219456"/>
          </a:xfrm>
          <a:prstGeom prst="rect">
            <a:avLst/>
          </a:prstGeom>
          <a:noFill/>
        </p:spPr>
        <p:txBody>
          <a:bodyPr wrap="square" lIns="0" tIns="0" rIns="0" bIns="0">
            <a:spAutoFit/>
          </a:bodyPr>
          <a:lstStyle/>
          <a:p>
            <a:pPr algn="l">
              <a:lnSpc>
                <a:spcPct val="120000"/>
              </a:lnSpc>
            </a:pPr>
            <a:r>
              <a:rPr sz="850" b="1" spc="130">
                <a:solidFill>
                  <a:srgbClr val="8EB6A6"/>
                </a:solidFill>
                <a:latin typeface="Segoe UI" panose="020B0502040204020203"/>
              </a:rPr>
              <a:t>HABITANTS PAR POINT DE SERVICE</a:t>
            </a:r>
            <a:endParaRPr sz="850" b="1" spc="130">
              <a:solidFill>
                <a:srgbClr val="8EB6A6"/>
              </a:solidFill>
              <a:latin typeface="Segoe UI" panose="020B0502040204020203"/>
            </a:endParaRPr>
          </a:p>
        </p:txBody>
      </p:sp>
      <p:sp>
        <p:nvSpPr>
          <p:cNvPr id="12" name="TextBox 11"/>
          <p:cNvSpPr txBox="1"/>
          <p:nvPr/>
        </p:nvSpPr>
        <p:spPr>
          <a:xfrm>
            <a:off x="868680" y="5093208"/>
            <a:ext cx="2596896" cy="457200"/>
          </a:xfrm>
          <a:prstGeom prst="rect">
            <a:avLst/>
          </a:prstGeom>
          <a:noFill/>
        </p:spPr>
        <p:txBody>
          <a:bodyPr wrap="square" lIns="0" tIns="0" rIns="0" bIns="0">
            <a:spAutoFit/>
          </a:bodyPr>
          <a:lstStyle/>
          <a:p>
            <a:pPr algn="l">
              <a:lnSpc>
                <a:spcPct val="120000"/>
              </a:lnSpc>
            </a:pPr>
            <a:r>
              <a:rPr sz="2700" b="1" spc="-40">
                <a:solidFill>
                  <a:srgbClr val="FFFFFF"/>
                </a:solidFill>
                <a:latin typeface="Segoe UI" panose="020B0502040204020203"/>
              </a:rPr>
              <a:t>409</a:t>
            </a:r>
            <a:endParaRPr sz="2700" b="1" spc="-40">
              <a:solidFill>
                <a:srgbClr val="FFFFFF"/>
              </a:solidFill>
              <a:latin typeface="Segoe UI" panose="020B0502040204020203"/>
            </a:endParaRPr>
          </a:p>
        </p:txBody>
      </p:sp>
      <p:sp>
        <p:nvSpPr>
          <p:cNvPr id="13" name="TextBox 12"/>
          <p:cNvSpPr txBox="1"/>
          <p:nvPr/>
        </p:nvSpPr>
        <p:spPr>
          <a:xfrm>
            <a:off x="868680" y="5568696"/>
            <a:ext cx="2596896" cy="219456"/>
          </a:xfrm>
          <a:prstGeom prst="rect">
            <a:avLst/>
          </a:prstGeom>
          <a:noFill/>
        </p:spPr>
        <p:txBody>
          <a:bodyPr wrap="square" lIns="0" tIns="0" rIns="0" bIns="0">
            <a:spAutoFit/>
          </a:bodyPr>
          <a:lstStyle/>
          <a:p>
            <a:pPr algn="l">
              <a:lnSpc>
                <a:spcPct val="130000"/>
              </a:lnSpc>
            </a:pPr>
            <a:r>
              <a:rPr sz="900" b="0">
                <a:solidFill>
                  <a:srgbClr val="6D9A89"/>
                </a:solidFill>
                <a:latin typeface="Segoe UI" panose="020B0502040204020203"/>
              </a:rPr>
              <a:t>moyenne nationale · 19 788 points géolocalisés</a:t>
            </a:r>
            <a:endParaRPr sz="900" b="0">
              <a:solidFill>
                <a:srgbClr val="6D9A89"/>
              </a:solidFill>
              <a:latin typeface="Segoe UI" panose="020B0502040204020203"/>
            </a:endParaRPr>
          </a:p>
        </p:txBody>
      </p:sp>
      <p:sp>
        <p:nvSpPr>
          <p:cNvPr id="14" name="TextBox 13"/>
          <p:cNvSpPr txBox="1"/>
          <p:nvPr/>
        </p:nvSpPr>
        <p:spPr>
          <a:xfrm>
            <a:off x="3721608" y="4828032"/>
            <a:ext cx="2596896" cy="219456"/>
          </a:xfrm>
          <a:prstGeom prst="rect">
            <a:avLst/>
          </a:prstGeom>
          <a:noFill/>
        </p:spPr>
        <p:txBody>
          <a:bodyPr wrap="square" lIns="0" tIns="0" rIns="0" bIns="0">
            <a:spAutoFit/>
          </a:bodyPr>
          <a:lstStyle/>
          <a:p>
            <a:pPr algn="l">
              <a:lnSpc>
                <a:spcPct val="120000"/>
              </a:lnSpc>
            </a:pPr>
            <a:r>
              <a:rPr sz="850" b="1" spc="130">
                <a:solidFill>
                  <a:srgbClr val="8EB6A6"/>
                </a:solidFill>
                <a:latin typeface="Segoe UI" panose="020B0502040204020203"/>
              </a:rPr>
              <a:t>ÉCART ENTRE PRÉFECTURES</a:t>
            </a:r>
            <a:endParaRPr sz="850" b="1" spc="130">
              <a:solidFill>
                <a:srgbClr val="8EB6A6"/>
              </a:solidFill>
              <a:latin typeface="Segoe UI" panose="020B0502040204020203"/>
            </a:endParaRPr>
          </a:p>
        </p:txBody>
      </p:sp>
      <p:sp>
        <p:nvSpPr>
          <p:cNvPr id="15" name="TextBox 14"/>
          <p:cNvSpPr txBox="1"/>
          <p:nvPr/>
        </p:nvSpPr>
        <p:spPr>
          <a:xfrm>
            <a:off x="3721608" y="5093208"/>
            <a:ext cx="2596896" cy="457200"/>
          </a:xfrm>
          <a:prstGeom prst="rect">
            <a:avLst/>
          </a:prstGeom>
          <a:noFill/>
        </p:spPr>
        <p:txBody>
          <a:bodyPr wrap="square" lIns="0" tIns="0" rIns="0" bIns="0">
            <a:spAutoFit/>
          </a:bodyPr>
          <a:lstStyle/>
          <a:p>
            <a:pPr algn="l">
              <a:lnSpc>
                <a:spcPct val="120000"/>
              </a:lnSpc>
            </a:pPr>
            <a:r>
              <a:rPr sz="2700" b="1" spc="-40">
                <a:solidFill>
                  <a:srgbClr val="FFFFFF"/>
                </a:solidFill>
                <a:latin typeface="Segoe UI" panose="020B0502040204020203"/>
              </a:rPr>
              <a:t>1 à 12,7</a:t>
            </a:r>
            <a:endParaRPr sz="2700" b="1" spc="-40">
              <a:solidFill>
                <a:srgbClr val="FFFFFF"/>
              </a:solidFill>
              <a:latin typeface="Segoe UI" panose="020B0502040204020203"/>
            </a:endParaRPr>
          </a:p>
        </p:txBody>
      </p:sp>
      <p:sp>
        <p:nvSpPr>
          <p:cNvPr id="16" name="TextBox 15"/>
          <p:cNvSpPr txBox="1"/>
          <p:nvPr/>
        </p:nvSpPr>
        <p:spPr>
          <a:xfrm>
            <a:off x="3721608" y="5568696"/>
            <a:ext cx="2596896" cy="219456"/>
          </a:xfrm>
          <a:prstGeom prst="rect">
            <a:avLst/>
          </a:prstGeom>
          <a:noFill/>
        </p:spPr>
        <p:txBody>
          <a:bodyPr wrap="square" lIns="0" tIns="0" rIns="0" bIns="0">
            <a:spAutoFit/>
          </a:bodyPr>
          <a:lstStyle/>
          <a:p>
            <a:pPr algn="l">
              <a:lnSpc>
                <a:spcPct val="130000"/>
              </a:lnSpc>
            </a:pPr>
            <a:r>
              <a:rPr sz="900" b="0">
                <a:solidFill>
                  <a:srgbClr val="6D9A89"/>
                </a:solidFill>
                <a:latin typeface="Segoe UI" panose="020B0502040204020203"/>
              </a:rPr>
              <a:t>Kpendjal contre Tchaoudjo</a:t>
            </a:r>
            <a:endParaRPr sz="900" b="0">
              <a:solidFill>
                <a:srgbClr val="6D9A89"/>
              </a:solidFill>
              <a:latin typeface="Segoe UI" panose="020B0502040204020203"/>
            </a:endParaRPr>
          </a:p>
        </p:txBody>
      </p:sp>
      <p:sp>
        <p:nvSpPr>
          <p:cNvPr id="17" name="TextBox 16"/>
          <p:cNvSpPr txBox="1"/>
          <p:nvPr/>
        </p:nvSpPr>
        <p:spPr>
          <a:xfrm>
            <a:off x="6574536" y="4828032"/>
            <a:ext cx="2596896" cy="219456"/>
          </a:xfrm>
          <a:prstGeom prst="rect">
            <a:avLst/>
          </a:prstGeom>
          <a:noFill/>
        </p:spPr>
        <p:txBody>
          <a:bodyPr wrap="square" lIns="0" tIns="0" rIns="0" bIns="0">
            <a:spAutoFit/>
          </a:bodyPr>
          <a:lstStyle/>
          <a:p>
            <a:pPr algn="l">
              <a:lnSpc>
                <a:spcPct val="120000"/>
              </a:lnSpc>
            </a:pPr>
            <a:r>
              <a:rPr sz="850" b="1" spc="130">
                <a:solidFill>
                  <a:srgbClr val="8EB6A6"/>
                </a:solidFill>
                <a:latin typeface="Segoe UI" panose="020B0502040204020203"/>
              </a:rPr>
              <a:t>PRÉFECTURES SANS AGENCE ACTIVE</a:t>
            </a:r>
            <a:endParaRPr sz="850" b="1" spc="130">
              <a:solidFill>
                <a:srgbClr val="8EB6A6"/>
              </a:solidFill>
              <a:latin typeface="Segoe UI" panose="020B0502040204020203"/>
            </a:endParaRPr>
          </a:p>
        </p:txBody>
      </p:sp>
      <p:sp>
        <p:nvSpPr>
          <p:cNvPr id="18" name="TextBox 17"/>
          <p:cNvSpPr txBox="1"/>
          <p:nvPr/>
        </p:nvSpPr>
        <p:spPr>
          <a:xfrm>
            <a:off x="6574536" y="5093208"/>
            <a:ext cx="2596896" cy="457200"/>
          </a:xfrm>
          <a:prstGeom prst="rect">
            <a:avLst/>
          </a:prstGeom>
          <a:noFill/>
        </p:spPr>
        <p:txBody>
          <a:bodyPr wrap="square" lIns="0" tIns="0" rIns="0" bIns="0">
            <a:spAutoFit/>
          </a:bodyPr>
          <a:lstStyle/>
          <a:p>
            <a:pPr algn="l">
              <a:lnSpc>
                <a:spcPct val="120000"/>
              </a:lnSpc>
            </a:pPr>
            <a:r>
              <a:rPr sz="2700" b="1" spc="-40">
                <a:solidFill>
                  <a:srgbClr val="FFFFFF"/>
                </a:solidFill>
                <a:latin typeface="Segoe UI" panose="020B0502040204020203"/>
              </a:rPr>
              <a:t>13 / 39</a:t>
            </a:r>
            <a:endParaRPr sz="2700" b="1" spc="-40">
              <a:solidFill>
                <a:srgbClr val="FFFFFF"/>
              </a:solidFill>
              <a:latin typeface="Segoe UI" panose="020B0502040204020203"/>
            </a:endParaRPr>
          </a:p>
        </p:txBody>
      </p:sp>
      <p:sp>
        <p:nvSpPr>
          <p:cNvPr id="19" name="TextBox 18"/>
          <p:cNvSpPr txBox="1"/>
          <p:nvPr/>
        </p:nvSpPr>
        <p:spPr>
          <a:xfrm>
            <a:off x="6574536" y="5568696"/>
            <a:ext cx="2596896" cy="219456"/>
          </a:xfrm>
          <a:prstGeom prst="rect">
            <a:avLst/>
          </a:prstGeom>
          <a:noFill/>
        </p:spPr>
        <p:txBody>
          <a:bodyPr wrap="square" lIns="0" tIns="0" rIns="0" bIns="0">
            <a:spAutoFit/>
          </a:bodyPr>
          <a:lstStyle/>
          <a:p>
            <a:pPr algn="l">
              <a:lnSpc>
                <a:spcPct val="130000"/>
              </a:lnSpc>
            </a:pPr>
            <a:r>
              <a:rPr sz="900" b="0">
                <a:solidFill>
                  <a:srgbClr val="6D9A89"/>
                </a:solidFill>
                <a:latin typeface="Segoe UI" panose="020B0502040204020203"/>
              </a:rPr>
              <a:t>1 621 720 habitants concernés</a:t>
            </a:r>
            <a:endParaRPr sz="900" b="0">
              <a:solidFill>
                <a:srgbClr val="6D9A89"/>
              </a:solidFill>
              <a:latin typeface="Segoe UI" panose="020B0502040204020203"/>
            </a:endParaRPr>
          </a:p>
        </p:txBody>
      </p:sp>
      <p:sp>
        <p:nvSpPr>
          <p:cNvPr id="20" name="TextBox 19"/>
          <p:cNvSpPr txBox="1"/>
          <p:nvPr/>
        </p:nvSpPr>
        <p:spPr>
          <a:xfrm>
            <a:off x="868680" y="5943600"/>
            <a:ext cx="5669280" cy="274320"/>
          </a:xfrm>
          <a:prstGeom prst="rect">
            <a:avLst/>
          </a:prstGeom>
          <a:noFill/>
        </p:spPr>
        <p:txBody>
          <a:bodyPr wrap="square" lIns="0" tIns="0" rIns="0" bIns="0">
            <a:spAutoFit/>
          </a:bodyPr>
          <a:lstStyle/>
          <a:p>
            <a:pPr algn="l">
              <a:lnSpc>
                <a:spcPct val="120000"/>
              </a:lnSpc>
            </a:pPr>
            <a:r>
              <a:rPr sz="1450" b="1">
                <a:solidFill>
                  <a:srgbClr val="FFFFFF"/>
                </a:solidFill>
                <a:latin typeface="Segoe UI" panose="020B0502040204020203"/>
              </a:rPr>
              <a:t>KOUTSAVA Kossi Epiphane</a:t>
            </a:r>
            <a:endParaRPr sz="1450" b="1">
              <a:solidFill>
                <a:srgbClr val="FFFFFF"/>
              </a:solidFill>
              <a:latin typeface="Segoe UI" panose="020B0502040204020203"/>
            </a:endParaRPr>
          </a:p>
        </p:txBody>
      </p:sp>
      <p:sp>
        <p:nvSpPr>
          <p:cNvPr id="22" name="Rectangle 21"/>
          <p:cNvSpPr/>
          <p:nvPr/>
        </p:nvSpPr>
        <p:spPr>
          <a:xfrm>
            <a:off x="868680" y="6483096"/>
            <a:ext cx="8183879" cy="9525"/>
          </a:xfrm>
          <a:prstGeom prst="rect">
            <a:avLst/>
          </a:prstGeom>
          <a:solidFill>
            <a:srgbClr val="1B5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6574536"/>
            <a:ext cx="10469880" cy="201168"/>
          </a:xfrm>
          <a:prstGeom prst="rect">
            <a:avLst/>
          </a:prstGeom>
          <a:noFill/>
        </p:spPr>
        <p:txBody>
          <a:bodyPr wrap="square" lIns="0" tIns="0" rIns="0" bIns="0">
            <a:spAutoFit/>
          </a:bodyPr>
          <a:lstStyle/>
          <a:p>
            <a:pPr algn="l">
              <a:lnSpc>
                <a:spcPct val="140000"/>
              </a:lnSpc>
            </a:pPr>
            <a:r>
              <a:rPr sz="800" b="0">
                <a:solidFill>
                  <a:srgbClr val="6D9A89"/>
                </a:solidFill>
                <a:latin typeface="Segoe UI" panose="020B0502040204020203"/>
              </a:rPr>
              <a:t>Géoportail national (PRISE 2021-2022) · RGPH-5, INSEED (novembre 2022) · limites COD-AB v02, OCHA (2021) — 35 contrôles arithmétiques publiés</a:t>
            </a:r>
            <a:endParaRPr sz="800" b="0">
              <a:solidFill>
                <a:srgbClr val="6D9A89"/>
              </a:solidFill>
              <a:latin typeface="Segoe UI" panose="020B0502040204020203"/>
            </a:endParaRPr>
          </a:p>
        </p:txBody>
      </p:sp>
      <p:pic>
        <p:nvPicPr>
          <p:cNvPr id="24" name="Picture 23" descr="armoiries.png"/>
          <p:cNvPicPr>
            <a:picLocks noChangeAspect="1"/>
          </p:cNvPicPr>
          <p:nvPr/>
        </p:nvPicPr>
        <p:blipFill>
          <a:blip r:embed="rId1"/>
          <a:stretch>
            <a:fillRect/>
          </a:stretch>
        </p:blipFill>
        <p:spPr>
          <a:xfrm>
            <a:off x="9064447" y="1970532"/>
            <a:ext cx="2254250" cy="3246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DÉFI ÉCONOMIE NUMÉRIQUE · TOGO</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Problématique et enjeux</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L'accès aux services numériques au Togo n'est pas faible partout : il est très inégal — et l'inégalité se mesure.</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02 / 10</a:t>
            </a:r>
            <a:endParaRPr sz="800" b="1">
              <a:solidFill>
                <a:srgbClr val="8B8A84"/>
              </a:solidFill>
              <a:latin typeface="Consolas" panose="020B0609020204030204"/>
            </a:endParaRPr>
          </a:p>
        </p:txBody>
      </p:sp>
      <p:sp>
        <p:nvSpPr>
          <p:cNvPr id="14" name="TextBox 13"/>
          <p:cNvSpPr txBox="1"/>
          <p:nvPr/>
        </p:nvSpPr>
        <p:spPr>
          <a:xfrm>
            <a:off x="566928" y="1965960"/>
            <a:ext cx="5943600" cy="822960"/>
          </a:xfrm>
          <a:prstGeom prst="rect">
            <a:avLst/>
          </a:prstGeom>
          <a:noFill/>
        </p:spPr>
        <p:txBody>
          <a:bodyPr wrap="square" lIns="0" tIns="0" rIns="0" bIns="0">
            <a:spAutoFit/>
          </a:bodyPr>
          <a:lstStyle/>
          <a:p>
            <a:pPr algn="l">
              <a:lnSpc>
                <a:spcPct val="130000"/>
              </a:lnSpc>
            </a:pPr>
            <a:r>
              <a:rPr sz="1700" b="1">
                <a:solidFill>
                  <a:srgbClr val="12120F"/>
                </a:solidFill>
                <a:latin typeface="Segoe UI" panose="020B0502040204020203"/>
              </a:rPr>
              <a:t>Où faut-il investir en priorité pour réduire les inégalités d'accès aux télécommunications et aux services numériques au Togo, et pourquoi ?</a:t>
            </a:r>
            <a:endParaRPr sz="1700" b="1">
              <a:solidFill>
                <a:srgbClr val="12120F"/>
              </a:solidFill>
              <a:latin typeface="Segoe UI" panose="020B0502040204020203"/>
            </a:endParaRPr>
          </a:p>
        </p:txBody>
      </p:sp>
      <p:sp>
        <p:nvSpPr>
          <p:cNvPr id="15" name="Rectangle 14"/>
          <p:cNvSpPr/>
          <p:nvPr/>
        </p:nvSpPr>
        <p:spPr>
          <a:xfrm>
            <a:off x="566928" y="302209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971800"/>
            <a:ext cx="558698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Une moyenne nationale ne suffit pas à décider</a:t>
            </a:r>
            <a:endParaRPr sz="1100" b="1">
              <a:solidFill>
                <a:srgbClr val="12120F"/>
              </a:solidFill>
              <a:latin typeface="Segoe UI" panose="020B0502040204020203"/>
            </a:endParaRPr>
          </a:p>
        </p:txBody>
      </p:sp>
      <p:sp>
        <p:nvSpPr>
          <p:cNvPr id="17" name="TextBox 16"/>
          <p:cNvSpPr txBox="1"/>
          <p:nvPr/>
        </p:nvSpPr>
        <p:spPr>
          <a:xfrm>
            <a:off x="740664" y="3200400"/>
            <a:ext cx="558698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409 habitants par point Mobile Money en moyenne — mais un rapport de 1 à 12,7 entre préfectures. Agir « partout » revient à n'agir nulle part en priorité.</a:t>
            </a:r>
            <a:endParaRPr sz="950" b="0">
              <a:solidFill>
                <a:srgbClr val="55544F"/>
              </a:solidFill>
              <a:latin typeface="Segoe UI" panose="020B0502040204020203"/>
            </a:endParaRPr>
          </a:p>
        </p:txBody>
      </p:sp>
      <p:sp>
        <p:nvSpPr>
          <p:cNvPr id="18" name="Rectangle 17"/>
          <p:cNvSpPr/>
          <p:nvPr/>
        </p:nvSpPr>
        <p:spPr>
          <a:xfrm>
            <a:off x="566928" y="370179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651504"/>
            <a:ext cx="558698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Un déficit se prouve, il ne se déclare pas</a:t>
            </a:r>
            <a:endParaRPr sz="1100" b="1">
              <a:solidFill>
                <a:srgbClr val="12120F"/>
              </a:solidFill>
              <a:latin typeface="Segoe UI" panose="020B0502040204020203"/>
            </a:endParaRPr>
          </a:p>
        </p:txBody>
      </p:sp>
      <p:sp>
        <p:nvSpPr>
          <p:cNvPr id="20" name="TextBox 19"/>
          <p:cNvSpPr txBox="1"/>
          <p:nvPr/>
        </p:nvSpPr>
        <p:spPr>
          <a:xfrm>
            <a:off x="740664" y="3880104"/>
            <a:ext cx="558698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Affirmer qu'un territoire est sous-desservi exige un dénominateur : la population. Sans elle, un faible comptage peut simplement refléter une faible démographie.</a:t>
            </a:r>
            <a:endParaRPr sz="950" b="0">
              <a:solidFill>
                <a:srgbClr val="55544F"/>
              </a:solidFill>
              <a:latin typeface="Segoe UI" panose="020B0502040204020203"/>
            </a:endParaRPr>
          </a:p>
        </p:txBody>
      </p:sp>
      <p:sp>
        <p:nvSpPr>
          <p:cNvPr id="21" name="Rectangle 20"/>
          <p:cNvSpPr/>
          <p:nvPr/>
        </p:nvSpPr>
        <p:spPr>
          <a:xfrm>
            <a:off x="566928" y="4381500"/>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331208"/>
            <a:ext cx="558698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Une priorisation doit résister à la contestation</a:t>
            </a:r>
            <a:endParaRPr sz="1100" b="1">
              <a:solidFill>
                <a:srgbClr val="12120F"/>
              </a:solidFill>
              <a:latin typeface="Segoe UI" panose="020B0502040204020203"/>
            </a:endParaRPr>
          </a:p>
        </p:txBody>
      </p:sp>
      <p:sp>
        <p:nvSpPr>
          <p:cNvPr id="23" name="TextBox 22"/>
          <p:cNvSpPr txBox="1"/>
          <p:nvPr/>
        </p:nvSpPr>
        <p:spPr>
          <a:xfrm>
            <a:off x="740664" y="4559808"/>
            <a:ext cx="558698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Un classement dépendant de pondérations arbitraires n'est pas défendable. Il doit être testé, et sa stabilité publiée.</a:t>
            </a:r>
            <a:endParaRPr sz="950" b="0">
              <a:solidFill>
                <a:srgbClr val="55544F"/>
              </a:solidFill>
              <a:latin typeface="Segoe UI" panose="020B0502040204020203"/>
            </a:endParaRPr>
          </a:p>
        </p:txBody>
      </p:sp>
      <p:sp>
        <p:nvSpPr>
          <p:cNvPr id="24" name="Rectangle 23"/>
          <p:cNvSpPr/>
          <p:nvPr/>
        </p:nvSpPr>
        <p:spPr>
          <a:xfrm>
            <a:off x="6903720" y="1965960"/>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03720" y="1965960"/>
            <a:ext cx="2194560" cy="34747"/>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0024" y="2121408"/>
            <a:ext cx="190195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POPULATION RÉSIDENTE</a:t>
            </a:r>
            <a:endParaRPr sz="750" b="1">
              <a:solidFill>
                <a:srgbClr val="8B8A84"/>
              </a:solidFill>
              <a:latin typeface="Consolas" panose="020B0609020204030204"/>
            </a:endParaRPr>
          </a:p>
        </p:txBody>
      </p:sp>
      <p:sp>
        <p:nvSpPr>
          <p:cNvPr id="27" name="TextBox 26"/>
          <p:cNvSpPr txBox="1"/>
          <p:nvPr/>
        </p:nvSpPr>
        <p:spPr>
          <a:xfrm>
            <a:off x="7050024" y="2441448"/>
            <a:ext cx="190195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8 095 498</a:t>
            </a:r>
            <a:endParaRPr sz="2300" b="1">
              <a:solidFill>
                <a:srgbClr val="12120F"/>
              </a:solidFill>
              <a:latin typeface="Segoe UI" panose="020B0502040204020203"/>
            </a:endParaRPr>
          </a:p>
        </p:txBody>
      </p:sp>
      <p:sp>
        <p:nvSpPr>
          <p:cNvPr id="28" name="TextBox 27"/>
          <p:cNvSpPr txBox="1"/>
          <p:nvPr/>
        </p:nvSpPr>
        <p:spPr>
          <a:xfrm>
            <a:off x="7050024" y="2871216"/>
            <a:ext cx="190195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RGPH-5 · novembre 2022</a:t>
            </a:r>
            <a:endParaRPr sz="800" b="0">
              <a:solidFill>
                <a:srgbClr val="55544F"/>
              </a:solidFill>
              <a:latin typeface="Segoe UI" panose="020B0502040204020203"/>
            </a:endParaRPr>
          </a:p>
        </p:txBody>
      </p:sp>
      <p:sp>
        <p:nvSpPr>
          <p:cNvPr id="29" name="Rectangle 28"/>
          <p:cNvSpPr/>
          <p:nvPr/>
        </p:nvSpPr>
        <p:spPr>
          <a:xfrm>
            <a:off x="9281160" y="1965960"/>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81160" y="1965960"/>
            <a:ext cx="2194560" cy="34747"/>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27464" y="2121408"/>
            <a:ext cx="190195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POINTS DE SERVICE RECENSÉS</a:t>
            </a:r>
            <a:endParaRPr sz="750" b="1">
              <a:solidFill>
                <a:srgbClr val="8B8A84"/>
              </a:solidFill>
              <a:latin typeface="Consolas" panose="020B0609020204030204"/>
            </a:endParaRPr>
          </a:p>
        </p:txBody>
      </p:sp>
      <p:sp>
        <p:nvSpPr>
          <p:cNvPr id="32" name="TextBox 31"/>
          <p:cNvSpPr txBox="1"/>
          <p:nvPr/>
        </p:nvSpPr>
        <p:spPr>
          <a:xfrm>
            <a:off x="9427464" y="2441448"/>
            <a:ext cx="190195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19 788</a:t>
            </a:r>
            <a:endParaRPr sz="2300" b="1">
              <a:solidFill>
                <a:srgbClr val="12120F"/>
              </a:solidFill>
              <a:latin typeface="Segoe UI" panose="020B0502040204020203"/>
            </a:endParaRPr>
          </a:p>
        </p:txBody>
      </p:sp>
      <p:sp>
        <p:nvSpPr>
          <p:cNvPr id="33" name="TextBox 32"/>
          <p:cNvSpPr txBox="1"/>
          <p:nvPr/>
        </p:nvSpPr>
        <p:spPr>
          <a:xfrm>
            <a:off x="9427464" y="2871216"/>
            <a:ext cx="190195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tous géolocalisés</a:t>
            </a:r>
            <a:endParaRPr sz="800" b="0">
              <a:solidFill>
                <a:srgbClr val="55544F"/>
              </a:solidFill>
              <a:latin typeface="Segoe UI" panose="020B0502040204020203"/>
            </a:endParaRPr>
          </a:p>
        </p:txBody>
      </p:sp>
      <p:sp>
        <p:nvSpPr>
          <p:cNvPr id="34" name="Rectangle 33"/>
          <p:cNvSpPr/>
          <p:nvPr/>
        </p:nvSpPr>
        <p:spPr>
          <a:xfrm>
            <a:off x="6903720" y="3355848"/>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03720" y="3355848"/>
            <a:ext cx="2194560" cy="34747"/>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0024" y="3511296"/>
            <a:ext cx="190195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PRÉFECTURES SANS AGENCE ACTIVE</a:t>
            </a:r>
            <a:endParaRPr sz="750" b="1">
              <a:solidFill>
                <a:srgbClr val="8B8A84"/>
              </a:solidFill>
              <a:latin typeface="Consolas" panose="020B0609020204030204"/>
            </a:endParaRPr>
          </a:p>
        </p:txBody>
      </p:sp>
      <p:sp>
        <p:nvSpPr>
          <p:cNvPr id="37" name="TextBox 36"/>
          <p:cNvSpPr txBox="1"/>
          <p:nvPr/>
        </p:nvSpPr>
        <p:spPr>
          <a:xfrm>
            <a:off x="7050024" y="3831336"/>
            <a:ext cx="190195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13 / 39</a:t>
            </a:r>
            <a:endParaRPr sz="2300" b="1">
              <a:solidFill>
                <a:srgbClr val="12120F"/>
              </a:solidFill>
              <a:latin typeface="Segoe UI" panose="020B0502040204020203"/>
            </a:endParaRPr>
          </a:p>
        </p:txBody>
      </p:sp>
      <p:sp>
        <p:nvSpPr>
          <p:cNvPr id="38" name="TextBox 37"/>
          <p:cNvSpPr txBox="1"/>
          <p:nvPr/>
        </p:nvSpPr>
        <p:spPr>
          <a:xfrm>
            <a:off x="7050024" y="4261104"/>
            <a:ext cx="190195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1 621 720 habitants</a:t>
            </a:r>
            <a:endParaRPr sz="800" b="0">
              <a:solidFill>
                <a:srgbClr val="55544F"/>
              </a:solidFill>
              <a:latin typeface="Segoe UI" panose="020B0502040204020203"/>
            </a:endParaRPr>
          </a:p>
        </p:txBody>
      </p:sp>
      <p:sp>
        <p:nvSpPr>
          <p:cNvPr id="39" name="Rectangle 38"/>
          <p:cNvSpPr/>
          <p:nvPr/>
        </p:nvSpPr>
        <p:spPr>
          <a:xfrm>
            <a:off x="9281160" y="3355848"/>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281160" y="3355848"/>
            <a:ext cx="2194560" cy="34747"/>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27464" y="3511296"/>
            <a:ext cx="190195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TERRITOIRES PRIORITAIRES IDENTIFIÉS</a:t>
            </a:r>
            <a:endParaRPr sz="750" b="1">
              <a:solidFill>
                <a:srgbClr val="8B8A84"/>
              </a:solidFill>
              <a:latin typeface="Consolas" panose="020B0609020204030204"/>
            </a:endParaRPr>
          </a:p>
        </p:txBody>
      </p:sp>
      <p:sp>
        <p:nvSpPr>
          <p:cNvPr id="42" name="TextBox 41"/>
          <p:cNvSpPr txBox="1"/>
          <p:nvPr/>
        </p:nvSpPr>
        <p:spPr>
          <a:xfrm>
            <a:off x="9427464" y="3831336"/>
            <a:ext cx="190195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9</a:t>
            </a:r>
            <a:endParaRPr sz="2300" b="1">
              <a:solidFill>
                <a:srgbClr val="12120F"/>
              </a:solidFill>
              <a:latin typeface="Segoe UI" panose="020B0502040204020203"/>
            </a:endParaRPr>
          </a:p>
        </p:txBody>
      </p:sp>
      <p:sp>
        <p:nvSpPr>
          <p:cNvPr id="43" name="TextBox 42"/>
          <p:cNvSpPr txBox="1"/>
          <p:nvPr/>
        </p:nvSpPr>
        <p:spPr>
          <a:xfrm>
            <a:off x="9427464" y="4261104"/>
            <a:ext cx="190195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priorité stable sur 2 000 pondérations</a:t>
            </a:r>
            <a:endParaRPr sz="800" b="0">
              <a:solidFill>
                <a:srgbClr val="55544F"/>
              </a:solidFill>
              <a:latin typeface="Segoe UI" panose="020B050204020402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DONNÉES</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Données, sources et qualité</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Trois sources publiques, deux corrections de l'énoncé : 2 opérateurs et non 4, 90 agences recensées et non 141.</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03 / 10</a:t>
            </a:r>
            <a:endParaRPr sz="800" b="1">
              <a:solidFill>
                <a:srgbClr val="8B8A84"/>
              </a:solidFill>
              <a:latin typeface="Consolas" panose="020B0609020204030204"/>
            </a:endParaRPr>
          </a:p>
        </p:txBody>
      </p:sp>
      <p:graphicFrame>
        <p:nvGraphicFramePr>
          <p:cNvPr id="14" name="Table 13"/>
          <p:cNvGraphicFramePr>
            <a:graphicFrameLocks noGrp="1"/>
          </p:cNvGraphicFramePr>
          <p:nvPr/>
        </p:nvGraphicFramePr>
        <p:xfrm>
          <a:off x="566928" y="1874519"/>
          <a:ext cx="11057837" cy="1170432"/>
        </p:xfrm>
        <a:graphic>
          <a:graphicData uri="http://schemas.openxmlformats.org/drawingml/2006/table">
            <a:tbl>
              <a:tblPr firstRow="1" bandRow="1">
                <a:tableStyleId>{5C22544A-7EE6-4342-B048-85BDC9FD1C3A}</a:tableStyleId>
              </a:tblPr>
              <a:tblGrid>
                <a:gridCol w="3317351"/>
                <a:gridCol w="2653881"/>
                <a:gridCol w="1990411"/>
                <a:gridCol w="3096194"/>
              </a:tblGrid>
              <a:tr h="292608">
                <a:tc>
                  <a:txBody>
                    <a:bodyPr/>
                    <a:lstStyle/>
                    <a:p>
                      <a:r>
                        <a:rPr sz="950" b="1">
                          <a:solidFill>
                            <a:srgbClr val="FFFFFF"/>
                          </a:solidFill>
                          <a:latin typeface="Segoe UI" panose="020B0502040204020203"/>
                        </a:rPr>
                        <a:t>Donnée</a:t>
                      </a:r>
                      <a:endParaRPr sz="950" b="1">
                        <a:solidFill>
                          <a:srgbClr val="FFFFFF"/>
                        </a:solidFill>
                        <a:latin typeface="Segoe UI" panose="020B0502040204020203"/>
                      </a:endParaRPr>
                    </a:p>
                  </a:txBody>
                  <a:tcPr anchor="ctr">
                    <a:solidFill>
                      <a:srgbClr val="156C52"/>
                    </a:solidFill>
                  </a:tcPr>
                </a:tc>
                <a:tc>
                  <a:txBody>
                    <a:bodyPr/>
                    <a:lstStyle/>
                    <a:p>
                      <a:r>
                        <a:rPr sz="950" b="1">
                          <a:solidFill>
                            <a:srgbClr val="FFFFFF"/>
                          </a:solidFill>
                          <a:latin typeface="Segoe UI" panose="020B0502040204020203"/>
                        </a:rPr>
                        <a:t>Producteur</a:t>
                      </a:r>
                      <a:endParaRPr sz="950" b="1">
                        <a:solidFill>
                          <a:srgbClr val="FFFFFF"/>
                        </a:solidFill>
                        <a:latin typeface="Segoe UI" panose="020B0502040204020203"/>
                      </a:endParaRPr>
                    </a:p>
                  </a:txBody>
                  <a:tcPr anchor="ctr">
                    <a:solidFill>
                      <a:srgbClr val="156C52"/>
                    </a:solidFill>
                  </a:tcPr>
                </a:tc>
                <a:tc>
                  <a:txBody>
                    <a:bodyPr/>
                    <a:lstStyle/>
                    <a:p>
                      <a:r>
                        <a:rPr sz="950" b="1">
                          <a:solidFill>
                            <a:srgbClr val="FFFFFF"/>
                          </a:solidFill>
                          <a:latin typeface="Segoe UI" panose="020B0502040204020203"/>
                        </a:rPr>
                        <a:t>Période</a:t>
                      </a:r>
                      <a:endParaRPr sz="950" b="1">
                        <a:solidFill>
                          <a:srgbClr val="FFFFFF"/>
                        </a:solidFill>
                        <a:latin typeface="Segoe UI" panose="020B0502040204020203"/>
                      </a:endParaRPr>
                    </a:p>
                  </a:txBody>
                  <a:tcPr anchor="ctr">
                    <a:solidFill>
                      <a:srgbClr val="156C52"/>
                    </a:solidFill>
                  </a:tcPr>
                </a:tc>
                <a:tc>
                  <a:txBody>
                    <a:bodyPr/>
                    <a:lstStyle/>
                    <a:p>
                      <a:r>
                        <a:rPr sz="950" b="1">
                          <a:solidFill>
                            <a:srgbClr val="FFFFFF"/>
                          </a:solidFill>
                          <a:latin typeface="Segoe UI" panose="020B0502040204020203"/>
                        </a:rPr>
                        <a:t>Ce qu'elle apporte</a:t>
                      </a:r>
                      <a:endParaRPr sz="950" b="1">
                        <a:solidFill>
                          <a:srgbClr val="FFFFFF"/>
                        </a:solidFill>
                        <a:latin typeface="Segoe UI" panose="020B0502040204020203"/>
                      </a:endParaRPr>
                    </a:p>
                  </a:txBody>
                  <a:tcPr anchor="ctr">
                    <a:solidFill>
                      <a:srgbClr val="156C52"/>
                    </a:solidFill>
                  </a:tcPr>
                </a:tc>
              </a:tr>
              <a:tr h="292608">
                <a:tc>
                  <a:txBody>
                    <a:bodyPr/>
                    <a:lstStyle/>
                    <a:p>
                      <a:r>
                        <a:rPr sz="950" b="1">
                          <a:solidFill>
                            <a:srgbClr val="12120F"/>
                          </a:solidFill>
                          <a:latin typeface="Segoe UI" panose="020B0502040204020203"/>
                        </a:rPr>
                        <a:t>Agences, agents Mobile Money, data centers</a:t>
                      </a:r>
                      <a:endParaRPr sz="950" b="1">
                        <a:solidFill>
                          <a:srgbClr val="12120F"/>
                        </a:solidFill>
                        <a:latin typeface="Segoe UI" panose="020B0502040204020203"/>
                      </a:endParaRPr>
                    </a:p>
                  </a:txBody>
                  <a:tcPr anchor="ctr">
                    <a:solidFill>
                      <a:srgbClr val="FFFFFF"/>
                    </a:solidFill>
                  </a:tcPr>
                </a:tc>
                <a:tc>
                  <a:txBody>
                    <a:bodyPr/>
                    <a:lstStyle/>
                    <a:p>
                      <a:r>
                        <a:rPr sz="950" b="0">
                          <a:solidFill>
                            <a:srgbClr val="55544F"/>
                          </a:solidFill>
                          <a:latin typeface="Segoe UI" panose="020B0502040204020203"/>
                        </a:rPr>
                        <a:t>Géoportail national du Togo</a:t>
                      </a:r>
                      <a:endParaRPr sz="950" b="0">
                        <a:solidFill>
                          <a:srgbClr val="55544F"/>
                        </a:solidFill>
                        <a:latin typeface="Segoe UI" panose="020B0502040204020203"/>
                      </a:endParaRPr>
                    </a:p>
                  </a:txBody>
                  <a:tcPr anchor="ctr">
                    <a:solidFill>
                      <a:srgbClr val="FFFFFF"/>
                    </a:solidFill>
                  </a:tcPr>
                </a:tc>
                <a:tc>
                  <a:txBody>
                    <a:bodyPr/>
                    <a:lstStyle/>
                    <a:p>
                      <a:r>
                        <a:rPr sz="950" b="0">
                          <a:solidFill>
                            <a:srgbClr val="55544F"/>
                          </a:solidFill>
                          <a:latin typeface="Segoe UI" panose="020B0502040204020203"/>
                        </a:rPr>
                        <a:t>Collecte 2021-2022</a:t>
                      </a:r>
                      <a:endParaRPr sz="950" b="0">
                        <a:solidFill>
                          <a:srgbClr val="55544F"/>
                        </a:solidFill>
                        <a:latin typeface="Segoe UI" panose="020B0502040204020203"/>
                      </a:endParaRPr>
                    </a:p>
                  </a:txBody>
                  <a:tcPr anchor="ctr">
                    <a:solidFill>
                      <a:srgbClr val="FFFFFF"/>
                    </a:solidFill>
                  </a:tcPr>
                </a:tc>
                <a:tc>
                  <a:txBody>
                    <a:bodyPr/>
                    <a:lstStyle/>
                    <a:p>
                      <a:r>
                        <a:rPr sz="950" b="0">
                          <a:solidFill>
                            <a:srgbClr val="55544F"/>
                          </a:solidFill>
                          <a:latin typeface="Segoe UI" panose="020B0502040204020203"/>
                        </a:rPr>
                        <a:t>Localisation de chaque équipement</a:t>
                      </a:r>
                      <a:endParaRPr sz="950" b="0">
                        <a:solidFill>
                          <a:srgbClr val="55544F"/>
                        </a:solidFill>
                        <a:latin typeface="Segoe UI" panose="020B0502040204020203"/>
                      </a:endParaRPr>
                    </a:p>
                  </a:txBody>
                  <a:tcPr anchor="ctr">
                    <a:solidFill>
                      <a:srgbClr val="FFFFFF"/>
                    </a:solidFill>
                  </a:tcPr>
                </a:tc>
              </a:tr>
              <a:tr h="292608">
                <a:tc>
                  <a:txBody>
                    <a:bodyPr/>
                    <a:lstStyle/>
                    <a:p>
                      <a:r>
                        <a:rPr sz="950" b="1">
                          <a:solidFill>
                            <a:srgbClr val="12120F"/>
                          </a:solidFill>
                          <a:latin typeface="Segoe UI" panose="020B0502040204020203"/>
                        </a:rPr>
                        <a:t>Population résidente</a:t>
                      </a:r>
                      <a:endParaRPr sz="950" b="1">
                        <a:solidFill>
                          <a:srgbClr val="12120F"/>
                        </a:solidFill>
                        <a:latin typeface="Segoe UI" panose="020B0502040204020203"/>
                      </a:endParaRPr>
                    </a:p>
                  </a:txBody>
                  <a:tcPr anchor="ctr">
                    <a:solidFill>
                      <a:srgbClr val="F7F7F5"/>
                    </a:solidFill>
                  </a:tcPr>
                </a:tc>
                <a:tc>
                  <a:txBody>
                    <a:bodyPr/>
                    <a:lstStyle/>
                    <a:p>
                      <a:r>
                        <a:rPr sz="950" b="0">
                          <a:solidFill>
                            <a:srgbClr val="55544F"/>
                          </a:solidFill>
                          <a:latin typeface="Segoe UI" panose="020B0502040204020203"/>
                        </a:rPr>
                        <a:t>INSEED — 5ᵉ recensement (RGPH-5)</a:t>
                      </a:r>
                      <a:endParaRPr sz="950" b="0">
                        <a:solidFill>
                          <a:srgbClr val="55544F"/>
                        </a:solidFill>
                        <a:latin typeface="Segoe UI" panose="020B0502040204020203"/>
                      </a:endParaRPr>
                    </a:p>
                  </a:txBody>
                  <a:tcPr anchor="ctr">
                    <a:solidFill>
                      <a:srgbClr val="F7F7F5"/>
                    </a:solidFill>
                  </a:tcPr>
                </a:tc>
                <a:tc>
                  <a:txBody>
                    <a:bodyPr/>
                    <a:lstStyle/>
                    <a:p>
                      <a:r>
                        <a:rPr sz="950" b="0">
                          <a:solidFill>
                            <a:srgbClr val="55544F"/>
                          </a:solidFill>
                          <a:latin typeface="Segoe UI" panose="020B0502040204020203"/>
                        </a:rPr>
                        <a:t>23 oct. – 16 nov. 2022</a:t>
                      </a:r>
                      <a:endParaRPr sz="950" b="0">
                        <a:solidFill>
                          <a:srgbClr val="55544F"/>
                        </a:solidFill>
                        <a:latin typeface="Segoe UI" panose="020B0502040204020203"/>
                      </a:endParaRPr>
                    </a:p>
                  </a:txBody>
                  <a:tcPr anchor="ctr">
                    <a:solidFill>
                      <a:srgbClr val="F7F7F5"/>
                    </a:solidFill>
                  </a:tcPr>
                </a:tc>
                <a:tc>
                  <a:txBody>
                    <a:bodyPr/>
                    <a:lstStyle/>
                    <a:p>
                      <a:r>
                        <a:rPr sz="950" b="0">
                          <a:solidFill>
                            <a:srgbClr val="55544F"/>
                          </a:solidFill>
                          <a:latin typeface="Segoe UI" panose="020B0502040204020203"/>
                        </a:rPr>
                        <a:t>Le dénominateur de tous les ratios</a:t>
                      </a:r>
                      <a:endParaRPr sz="950" b="0">
                        <a:solidFill>
                          <a:srgbClr val="55544F"/>
                        </a:solidFill>
                        <a:latin typeface="Segoe UI" panose="020B0502040204020203"/>
                      </a:endParaRPr>
                    </a:p>
                  </a:txBody>
                  <a:tcPr anchor="ctr">
                    <a:solidFill>
                      <a:srgbClr val="F7F7F5"/>
                    </a:solidFill>
                  </a:tcPr>
                </a:tc>
              </a:tr>
              <a:tr h="292608">
                <a:tc>
                  <a:txBody>
                    <a:bodyPr/>
                    <a:lstStyle/>
                    <a:p>
                      <a:r>
                        <a:rPr sz="950" b="1">
                          <a:solidFill>
                            <a:srgbClr val="12120F"/>
                          </a:solidFill>
                          <a:latin typeface="Segoe UI" panose="020B0502040204020203"/>
                        </a:rPr>
                        <a:t>Limites administratives et superficies</a:t>
                      </a:r>
                      <a:endParaRPr sz="950" b="1">
                        <a:solidFill>
                          <a:srgbClr val="12120F"/>
                        </a:solidFill>
                        <a:latin typeface="Segoe UI" panose="020B0502040204020203"/>
                      </a:endParaRPr>
                    </a:p>
                  </a:txBody>
                  <a:tcPr anchor="ctr">
                    <a:solidFill>
                      <a:srgbClr val="FFFFFF"/>
                    </a:solidFill>
                  </a:tcPr>
                </a:tc>
                <a:tc>
                  <a:txBody>
                    <a:bodyPr/>
                    <a:lstStyle/>
                    <a:p>
                      <a:r>
                        <a:rPr sz="950" b="0">
                          <a:solidFill>
                            <a:srgbClr val="55544F"/>
                          </a:solidFill>
                          <a:latin typeface="Segoe UI" panose="020B0502040204020203"/>
                        </a:rPr>
                        <a:t>Common Operational Datasets (OCHA)</a:t>
                      </a:r>
                      <a:endParaRPr sz="950" b="0">
                        <a:solidFill>
                          <a:srgbClr val="55544F"/>
                        </a:solidFill>
                        <a:latin typeface="Segoe UI" panose="020B0502040204020203"/>
                      </a:endParaRPr>
                    </a:p>
                  </a:txBody>
                  <a:tcPr anchor="ctr">
                    <a:solidFill>
                      <a:srgbClr val="FFFFFF"/>
                    </a:solidFill>
                  </a:tcPr>
                </a:tc>
                <a:tc>
                  <a:txBody>
                    <a:bodyPr/>
                    <a:lstStyle/>
                    <a:p>
                      <a:r>
                        <a:rPr sz="950" b="0">
                          <a:solidFill>
                            <a:srgbClr val="55544F"/>
                          </a:solidFill>
                          <a:latin typeface="Segoe UI" panose="020B0502040204020203"/>
                        </a:rPr>
                        <a:t>Valides au 07/01/2021</a:t>
                      </a:r>
                      <a:endParaRPr sz="950" b="0">
                        <a:solidFill>
                          <a:srgbClr val="55544F"/>
                        </a:solidFill>
                        <a:latin typeface="Segoe UI" panose="020B0502040204020203"/>
                      </a:endParaRPr>
                    </a:p>
                  </a:txBody>
                  <a:tcPr anchor="ctr">
                    <a:solidFill>
                      <a:srgbClr val="FFFFFF"/>
                    </a:solidFill>
                  </a:tcPr>
                </a:tc>
                <a:tc>
                  <a:txBody>
                    <a:bodyPr/>
                    <a:lstStyle/>
                    <a:p>
                      <a:r>
                        <a:rPr sz="950" b="0">
                          <a:solidFill>
                            <a:srgbClr val="55544F"/>
                          </a:solidFill>
                          <a:latin typeface="Segoe UI" panose="020B0502040204020203"/>
                        </a:rPr>
                        <a:t>Contours, densités, distances</a:t>
                      </a:r>
                      <a:endParaRPr sz="950" b="0">
                        <a:solidFill>
                          <a:srgbClr val="55544F"/>
                        </a:solidFill>
                        <a:latin typeface="Segoe UI" panose="020B0502040204020203"/>
                      </a:endParaRPr>
                    </a:p>
                  </a:txBody>
                  <a:tcPr anchor="ctr">
                    <a:solidFill>
                      <a:srgbClr val="FFFFFF"/>
                    </a:solidFill>
                  </a:tcPr>
                </a:tc>
              </a:tr>
            </a:tbl>
          </a:graphicData>
        </a:graphic>
      </p:graphicFrame>
      <p:sp>
        <p:nvSpPr>
          <p:cNvPr id="15" name="Rectangle 14"/>
          <p:cNvSpPr/>
          <p:nvPr/>
        </p:nvSpPr>
        <p:spPr>
          <a:xfrm>
            <a:off x="566928" y="3200400"/>
            <a:ext cx="11057839" cy="60350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200400"/>
            <a:ext cx="32004" cy="603504"/>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319272"/>
            <a:ext cx="2743200" cy="219456"/>
          </a:xfrm>
          <a:prstGeom prst="rect">
            <a:avLst/>
          </a:prstGeom>
          <a:noFill/>
        </p:spPr>
        <p:txBody>
          <a:bodyPr wrap="square" lIns="0" tIns="0" rIns="0" bIns="0">
            <a:spAutoFit/>
          </a:bodyPr>
          <a:lstStyle/>
          <a:p>
            <a:pPr algn="l">
              <a:lnSpc>
                <a:spcPct val="122000"/>
              </a:lnSpc>
            </a:pPr>
            <a:r>
              <a:rPr sz="800" b="1">
                <a:solidFill>
                  <a:srgbClr val="8B8A84"/>
                </a:solidFill>
                <a:latin typeface="Consolas" panose="020B0609020204030204"/>
              </a:rPr>
              <a:t>LA DONNÉE QUI MANQUE</a:t>
            </a:r>
            <a:endParaRPr sz="800" b="1">
              <a:solidFill>
                <a:srgbClr val="8B8A84"/>
              </a:solidFill>
              <a:latin typeface="Consolas" panose="020B0609020204030204"/>
            </a:endParaRPr>
          </a:p>
        </p:txBody>
      </p:sp>
      <p:sp>
        <p:nvSpPr>
          <p:cNvPr id="18" name="TextBox 17"/>
          <p:cNvSpPr txBox="1"/>
          <p:nvPr/>
        </p:nvSpPr>
        <p:spPr>
          <a:xfrm>
            <a:off x="768096" y="3529584"/>
            <a:ext cx="10600639" cy="237744"/>
          </a:xfrm>
          <a:prstGeom prst="rect">
            <a:avLst/>
          </a:prstGeom>
          <a:noFill/>
        </p:spPr>
        <p:txBody>
          <a:bodyPr wrap="square" lIns="0" tIns="0" rIns="0" bIns="0">
            <a:spAutoFit/>
          </a:bodyPr>
          <a:lstStyle/>
          <a:p>
            <a:pPr algn="l">
              <a:lnSpc>
                <a:spcPct val="122000"/>
              </a:lnSpc>
            </a:pPr>
            <a:r>
              <a:rPr sz="1050" b="0">
                <a:solidFill>
                  <a:srgbClr val="55544F"/>
                </a:solidFill>
                <a:latin typeface="Segoe UI" panose="020B0502040204020203"/>
              </a:rPr>
              <a:t>Aucune mesure de couverture réseau mobile n'existe dans les sources ouvertes mobilisées. Ce travail mesure un déficit d'accès aux services — pas une absence de réseau.</a:t>
            </a:r>
            <a:endParaRPr sz="1050" b="0">
              <a:solidFill>
                <a:srgbClr val="55544F"/>
              </a:solidFill>
              <a:latin typeface="Segoe UI" panose="020B0502040204020203"/>
            </a:endParaRPr>
          </a:p>
        </p:txBody>
      </p:sp>
      <p:sp>
        <p:nvSpPr>
          <p:cNvPr id="19" name="Rectangle 18"/>
          <p:cNvSpPr/>
          <p:nvPr/>
        </p:nvSpPr>
        <p:spPr>
          <a:xfrm>
            <a:off x="566928" y="411937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4069080"/>
            <a:ext cx="544982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 Agences – Télécom » n'est pas un quatrième opérateur</a:t>
            </a:r>
            <a:endParaRPr sz="1100" b="1">
              <a:solidFill>
                <a:srgbClr val="12120F"/>
              </a:solidFill>
              <a:latin typeface="Segoe UI" panose="020B0502040204020203"/>
            </a:endParaRPr>
          </a:p>
        </p:txBody>
      </p:sp>
      <p:sp>
        <p:nvSpPr>
          <p:cNvPr id="21" name="TextBox 20"/>
          <p:cNvSpPr txBox="1"/>
          <p:nvPr/>
        </p:nvSpPr>
        <p:spPr>
          <a:xfrm>
            <a:off x="740664" y="4297680"/>
            <a:ext cx="5449824" cy="637032"/>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Ses 51 lignes sont déjà contenues dans les fichiers Moov et Togocom réunis, sans un seul enregistrement propre. Empiler les fichiers afficherait 141 agences au lieu de 90 recensées après dédoublonnage (28 Moov, 62 Togocom), dont 88 actives : 2 agences Togocom déclarées fermées sont exclues des calculs.</a:t>
            </a:r>
            <a:endParaRPr sz="950" b="0">
              <a:solidFill>
                <a:srgbClr val="55544F"/>
              </a:solidFill>
              <a:latin typeface="Segoe UI" panose="020B0502040204020203"/>
            </a:endParaRPr>
          </a:p>
        </p:txBody>
      </p:sp>
      <p:sp>
        <p:nvSpPr>
          <p:cNvPr id="22" name="Rectangle 21"/>
          <p:cNvSpPr/>
          <p:nvPr/>
        </p:nvSpPr>
        <p:spPr>
          <a:xfrm>
            <a:off x="566928" y="511759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5067300"/>
            <a:ext cx="544982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 Agences – CANAL+ » est vide à la source</a:t>
            </a:r>
            <a:endParaRPr sz="1100" b="1">
              <a:solidFill>
                <a:srgbClr val="12120F"/>
              </a:solidFill>
              <a:latin typeface="Segoe UI" panose="020B0502040204020203"/>
            </a:endParaRPr>
          </a:p>
        </p:txBody>
      </p:sp>
      <p:sp>
        <p:nvSpPr>
          <p:cNvPr id="24" name="TextBox 23"/>
          <p:cNvSpPr txBox="1"/>
          <p:nvPr/>
        </p:nvSpPr>
        <p:spPr>
          <a:xfrm>
            <a:off x="740664" y="5295900"/>
            <a:ext cx="544982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Le serveur joint lui-même la mention « the query result is empty » : c'est une donnée non disponible, et non une absence d'agences sur le terrain.</a:t>
            </a:r>
            <a:endParaRPr sz="950" b="0">
              <a:solidFill>
                <a:srgbClr val="55544F"/>
              </a:solidFill>
              <a:latin typeface="Segoe UI" panose="020B0502040204020203"/>
            </a:endParaRPr>
          </a:p>
        </p:txBody>
      </p:sp>
      <p:sp>
        <p:nvSpPr>
          <p:cNvPr id="25" name="Rectangle 24"/>
          <p:cNvSpPr/>
          <p:nvPr/>
        </p:nvSpPr>
        <p:spPr>
          <a:xfrm>
            <a:off x="566928" y="579729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747004"/>
            <a:ext cx="544982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L'identifiant fourni est volatile</a:t>
            </a:r>
            <a:endParaRPr sz="1100" b="1">
              <a:solidFill>
                <a:srgbClr val="12120F"/>
              </a:solidFill>
              <a:latin typeface="Segoe UI" panose="020B0502040204020203"/>
            </a:endParaRPr>
          </a:p>
        </p:txBody>
      </p:sp>
      <p:sp>
        <p:nvSpPr>
          <p:cNvPr id="27" name="TextBox 26"/>
          <p:cNvSpPr txBox="1"/>
          <p:nvPr/>
        </p:nvSpPr>
        <p:spPr>
          <a:xfrm>
            <a:off x="740664" y="5975604"/>
            <a:ext cx="5449824" cy="477774"/>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La même agence porte un identifiant différent dans deux fichiers exportés à trois secondes d'intervalle. La déduplication repose sur le nom et les coordonnées.</a:t>
            </a:r>
            <a:endParaRPr sz="950" b="0">
              <a:solidFill>
                <a:srgbClr val="55544F"/>
              </a:solidFill>
              <a:latin typeface="Segoe UI" panose="020B0502040204020203"/>
            </a:endParaRPr>
          </a:p>
        </p:txBody>
      </p:sp>
      <p:sp>
        <p:nvSpPr>
          <p:cNvPr id="28" name="Rectangle 27"/>
          <p:cNvSpPr/>
          <p:nvPr/>
        </p:nvSpPr>
        <p:spPr>
          <a:xfrm>
            <a:off x="6583680" y="4069080"/>
            <a:ext cx="5029200" cy="2231390"/>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0" y="4069080"/>
            <a:ext cx="76200" cy="223139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12280" y="4233672"/>
            <a:ext cx="4572000" cy="274320"/>
          </a:xfrm>
          <a:prstGeom prst="rect">
            <a:avLst/>
          </a:prstGeom>
          <a:noFill/>
        </p:spPr>
        <p:txBody>
          <a:bodyPr wrap="square" lIns="0" tIns="0" rIns="0" bIns="0">
            <a:spAutoFit/>
          </a:bodyPr>
          <a:lstStyle/>
          <a:p>
            <a:pPr algn="l">
              <a:lnSpc>
                <a:spcPct val="130000"/>
              </a:lnSpc>
            </a:pPr>
            <a:r>
              <a:rPr sz="800" b="1">
                <a:solidFill>
                  <a:srgbClr val="8B8A84"/>
                </a:solidFill>
                <a:latin typeface="Consolas" panose="020B0609020204030204"/>
              </a:rPr>
              <a:t>35 CONTRÔLES ARITHMÉTIQUES, REJOUÉS À CHAQUE EXÉCUTION</a:t>
            </a:r>
            <a:endParaRPr sz="800" b="1">
              <a:solidFill>
                <a:srgbClr val="8B8A84"/>
              </a:solidFill>
              <a:latin typeface="Consolas" panose="020B0609020204030204"/>
            </a:endParaRPr>
          </a:p>
        </p:txBody>
      </p:sp>
      <p:sp>
        <p:nvSpPr>
          <p:cNvPr id="31" name="TextBox 30"/>
          <p:cNvSpPr txBox="1"/>
          <p:nvPr/>
        </p:nvSpPr>
        <p:spPr>
          <a:xfrm>
            <a:off x="6812280" y="4572000"/>
            <a:ext cx="4572000" cy="1325880"/>
          </a:xfrm>
          <a:prstGeom prst="rect">
            <a:avLst/>
          </a:prstGeom>
          <a:noFill/>
        </p:spPr>
        <p:txBody>
          <a:bodyPr wrap="square" lIns="0" tIns="0" rIns="0" bIns="0">
            <a:spAutoFit/>
          </a:bodyPr>
          <a:lstStyle/>
          <a:p>
            <a:pPr algn="l">
              <a:lnSpc>
                <a:spcPct val="130000"/>
              </a:lnSpc>
            </a:pPr>
            <a:r>
              <a:rPr sz="1000" b="0">
                <a:solidFill>
                  <a:srgbClr val="55544F"/>
                </a:solidFill>
                <a:latin typeface="Segoe UI" panose="020B0502040204020203"/>
              </a:rPr>
              <a:t>La population extraite du PDF de l'INSEED somme exactement à 8 095 498 habitants aux trois niveaux — 5 régions, 39 préfectures, 117 communes — sans écart d'une unité.</a:t>
            </a:r>
            <a:endParaRPr sz="1000" b="0">
              <a:solidFill>
                <a:srgbClr val="55544F"/>
              </a:solidFill>
              <a:latin typeface="Segoe UI" panose="020B0502040204020203"/>
            </a:endParaRPr>
          </a:p>
          <a:p>
            <a:pPr algn="l">
              <a:lnSpc>
                <a:spcPct val="130000"/>
              </a:lnSpc>
            </a:pPr>
          </a:p>
          <a:p>
            <a:pPr algn="l">
              <a:lnSpc>
                <a:spcPct val="130000"/>
              </a:lnSpc>
            </a:pPr>
            <a:r>
              <a:rPr sz="1000" b="0">
                <a:solidFill>
                  <a:srgbClr val="55544F"/>
                </a:solidFill>
                <a:latin typeface="Segoe UI" panose="020B0502040204020203"/>
              </a:rPr>
              <a:t>Ces contrôles ont servi : une jointure sur des noms accentués faisait tomber neuf préfectures à zéro point Mobile Money, et une somme régionale à 11 630 489 a révélé un double comptage du Grand Lomé.</a:t>
            </a:r>
            <a:endParaRPr sz="1000" b="0">
              <a:solidFill>
                <a:srgbClr val="55544F"/>
              </a:solidFill>
              <a:latin typeface="Segoe UI" panose="020B0502040204020203"/>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MÉTHODE</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Méthodologie</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Deux unités d'analyse, chacune utilisée là où sa validité est prouvée — et un indice dont les pondérations sont testées.</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04 / 10</a:t>
            </a:r>
            <a:endParaRPr sz="800" b="1">
              <a:solidFill>
                <a:srgbClr val="8B8A84"/>
              </a:solidFill>
              <a:latin typeface="Consolas" panose="020B0609020204030204"/>
            </a:endParaRPr>
          </a:p>
        </p:txBody>
      </p:sp>
      <p:sp>
        <p:nvSpPr>
          <p:cNvPr id="14" name="TextBox 13"/>
          <p:cNvSpPr txBox="1"/>
          <p:nvPr/>
        </p:nvSpPr>
        <p:spPr>
          <a:xfrm>
            <a:off x="566928" y="1965960"/>
            <a:ext cx="5669280" cy="237744"/>
          </a:xfrm>
          <a:prstGeom prst="rect">
            <a:avLst/>
          </a:prstGeom>
          <a:noFill/>
        </p:spPr>
        <p:txBody>
          <a:bodyPr wrap="square" lIns="0" tIns="0" rIns="0" bIns="0">
            <a:spAutoFit/>
          </a:bodyPr>
          <a:lstStyle/>
          <a:p>
            <a:pPr algn="l">
              <a:lnSpc>
                <a:spcPct val="122000"/>
              </a:lnSpc>
            </a:pPr>
            <a:r>
              <a:rPr sz="800" b="1">
                <a:solidFill>
                  <a:srgbClr val="8B8A84"/>
                </a:solidFill>
                <a:latin typeface="Consolas" panose="020B0609020204030204"/>
              </a:rPr>
              <a:t>LES DEUX UNITÉS D'ANALYSE</a:t>
            </a:r>
            <a:endParaRPr sz="800" b="1">
              <a:solidFill>
                <a:srgbClr val="8B8A84"/>
              </a:solidFill>
              <a:latin typeface="Consolas" panose="020B0609020204030204"/>
            </a:endParaRPr>
          </a:p>
        </p:txBody>
      </p:sp>
      <p:graphicFrame>
        <p:nvGraphicFramePr>
          <p:cNvPr id="15" name="Table 14"/>
          <p:cNvGraphicFramePr>
            <a:graphicFrameLocks noGrp="1"/>
          </p:cNvGraphicFramePr>
          <p:nvPr/>
        </p:nvGraphicFramePr>
        <p:xfrm>
          <a:off x="566928" y="2240280"/>
          <a:ext cx="5669278" cy="877824"/>
        </p:xfrm>
        <a:graphic>
          <a:graphicData uri="http://schemas.openxmlformats.org/drawingml/2006/table">
            <a:tbl>
              <a:tblPr firstRow="1" bandRow="1">
                <a:tableStyleId>{5C22544A-7EE6-4342-B048-85BDC9FD1C3A}</a:tableStyleId>
              </a:tblPr>
              <a:tblGrid>
                <a:gridCol w="1474012"/>
                <a:gridCol w="2097633"/>
                <a:gridCol w="2097633"/>
              </a:tblGrid>
              <a:tr h="292608">
                <a:tc>
                  <a:txBody>
                    <a:bodyPr/>
                    <a:lstStyle/>
                    <a:p>
                      <a:r>
                        <a:rPr sz="900" b="1">
                          <a:solidFill>
                            <a:srgbClr val="FFFFFF"/>
                          </a:solidFill>
                          <a:latin typeface="Segoe UI" panose="020B0502040204020203"/>
                        </a:rPr>
                        <a:t>Unité</a:t>
                      </a:r>
                      <a:endParaRPr sz="900" b="1">
                        <a:solidFill>
                          <a:srgbClr val="FFFFFF"/>
                        </a:solidFill>
                        <a:latin typeface="Segoe UI" panose="020B0502040204020203"/>
                      </a:endParaRPr>
                    </a:p>
                  </a:txBody>
                  <a:tcPr anchor="ctr">
                    <a:solidFill>
                      <a:srgbClr val="156C52"/>
                    </a:solidFill>
                  </a:tcPr>
                </a:tc>
                <a:tc>
                  <a:txBody>
                    <a:bodyPr/>
                    <a:lstStyle/>
                    <a:p>
                      <a:r>
                        <a:rPr sz="900" b="1">
                          <a:solidFill>
                            <a:srgbClr val="FFFFFF"/>
                          </a:solidFill>
                          <a:latin typeface="Segoe UI" panose="020B0502040204020203"/>
                        </a:rPr>
                        <a:t>Rôle</a:t>
                      </a:r>
                      <a:endParaRPr sz="900" b="1">
                        <a:solidFill>
                          <a:srgbClr val="FFFFFF"/>
                        </a:solidFill>
                        <a:latin typeface="Segoe UI" panose="020B0502040204020203"/>
                      </a:endParaRPr>
                    </a:p>
                  </a:txBody>
                  <a:tcPr anchor="ctr">
                    <a:solidFill>
                      <a:srgbClr val="156C52"/>
                    </a:solidFill>
                  </a:tcPr>
                </a:tc>
                <a:tc>
                  <a:txBody>
                    <a:bodyPr/>
                    <a:lstStyle/>
                    <a:p>
                      <a:r>
                        <a:rPr sz="900" b="1">
                          <a:solidFill>
                            <a:srgbClr val="FFFFFF"/>
                          </a:solidFill>
                          <a:latin typeface="Segoe UI" panose="020B0502040204020203"/>
                        </a:rPr>
                        <a:t>Justification</a:t>
                      </a:r>
                      <a:endParaRPr sz="900" b="1">
                        <a:solidFill>
                          <a:srgbClr val="FFFFFF"/>
                        </a:solidFill>
                        <a:latin typeface="Segoe UI" panose="020B0502040204020203"/>
                      </a:endParaRPr>
                    </a:p>
                  </a:txBody>
                  <a:tcPr anchor="ctr">
                    <a:solidFill>
                      <a:srgbClr val="156C52"/>
                    </a:solidFill>
                  </a:tcPr>
                </a:tc>
              </a:tr>
              <a:tr h="292608">
                <a:tc>
                  <a:txBody>
                    <a:bodyPr/>
                    <a:lstStyle/>
                    <a:p>
                      <a:r>
                        <a:rPr sz="900" b="1">
                          <a:solidFill>
                            <a:srgbClr val="12120F"/>
                          </a:solidFill>
                          <a:latin typeface="Segoe UI" panose="020B0502040204020203"/>
                        </a:rPr>
                        <a:t>Préfecture (39)</a:t>
                      </a:r>
                      <a:endParaRPr sz="900" b="1">
                        <a:solidFill>
                          <a:srgbClr val="12120F"/>
                        </a:solidFill>
                        <a:latin typeface="Segoe UI" panose="020B0502040204020203"/>
                      </a:endParaRPr>
                    </a:p>
                  </a:txBody>
                  <a:tcPr anchor="ctr">
                    <a:solidFill>
                      <a:srgbClr val="FFFFFF"/>
                    </a:solidFill>
                  </a:tcPr>
                </a:tc>
                <a:tc>
                  <a:txBody>
                    <a:bodyPr/>
                    <a:lstStyle/>
                    <a:p>
                      <a:r>
                        <a:rPr sz="900" b="0">
                          <a:solidFill>
                            <a:srgbClr val="55544F"/>
                          </a:solidFill>
                          <a:latin typeface="Segoe UI" panose="020B0502040204020203"/>
                        </a:rPr>
                        <a:t>Cartes, superficies, densités</a:t>
                      </a:r>
                      <a:endParaRPr sz="900" b="0">
                        <a:solidFill>
                          <a:srgbClr val="55544F"/>
                        </a:solidFill>
                        <a:latin typeface="Segoe UI" panose="020B0502040204020203"/>
                      </a:endParaRPr>
                    </a:p>
                  </a:txBody>
                  <a:tcPr anchor="ctr">
                    <a:solidFill>
                      <a:srgbClr val="FFFFFF"/>
                    </a:solidFill>
                  </a:tcPr>
                </a:tc>
                <a:tc>
                  <a:txBody>
                    <a:bodyPr/>
                    <a:lstStyle/>
                    <a:p>
                      <a:r>
                        <a:rPr sz="900" b="0">
                          <a:solidFill>
                            <a:srgbClr val="55544F"/>
                          </a:solidFill>
                          <a:latin typeface="Segoe UI" panose="020B0502040204020203"/>
                        </a:rPr>
                        <a:t>concordance spatiale 98,4 %</a:t>
                      </a:r>
                      <a:endParaRPr sz="900" b="0">
                        <a:solidFill>
                          <a:srgbClr val="55544F"/>
                        </a:solidFill>
                        <a:latin typeface="Segoe UI" panose="020B0502040204020203"/>
                      </a:endParaRPr>
                    </a:p>
                  </a:txBody>
                  <a:tcPr anchor="ctr">
                    <a:solidFill>
                      <a:srgbClr val="FFFFFF"/>
                    </a:solidFill>
                  </a:tcPr>
                </a:tc>
              </a:tr>
              <a:tr h="292608">
                <a:tc>
                  <a:txBody>
                    <a:bodyPr/>
                    <a:lstStyle/>
                    <a:p>
                      <a:r>
                        <a:rPr sz="900" b="1">
                          <a:solidFill>
                            <a:srgbClr val="12120F"/>
                          </a:solidFill>
                          <a:latin typeface="Segoe UI" panose="020B0502040204020203"/>
                        </a:rPr>
                        <a:t>Commune (117)</a:t>
                      </a:r>
                      <a:endParaRPr sz="900" b="1">
                        <a:solidFill>
                          <a:srgbClr val="12120F"/>
                        </a:solidFill>
                        <a:latin typeface="Segoe UI" panose="020B0502040204020203"/>
                      </a:endParaRPr>
                    </a:p>
                  </a:txBody>
                  <a:tcPr anchor="ctr">
                    <a:solidFill>
                      <a:srgbClr val="F7F7F5"/>
                    </a:solidFill>
                  </a:tcPr>
                </a:tc>
                <a:tc>
                  <a:txBody>
                    <a:bodyPr/>
                    <a:lstStyle/>
                    <a:p>
                      <a:r>
                        <a:rPr sz="900" b="0">
                          <a:solidFill>
                            <a:srgbClr val="55544F"/>
                          </a:solidFill>
                          <a:latin typeface="Segoe UI" panose="020B0502040204020203"/>
                        </a:rPr>
                        <a:t>Ratios par habitant</a:t>
                      </a:r>
                      <a:endParaRPr sz="900" b="0">
                        <a:solidFill>
                          <a:srgbClr val="55544F"/>
                        </a:solidFill>
                        <a:latin typeface="Segoe UI" panose="020B0502040204020203"/>
                      </a:endParaRPr>
                    </a:p>
                  </a:txBody>
                  <a:tcPr anchor="ctr">
                    <a:solidFill>
                      <a:srgbClr val="F7F7F5"/>
                    </a:solidFill>
                  </a:tcPr>
                </a:tc>
                <a:tc>
                  <a:txBody>
                    <a:bodyPr/>
                    <a:lstStyle/>
                    <a:p>
                      <a:r>
                        <a:rPr sz="900" b="0">
                          <a:solidFill>
                            <a:srgbClr val="55544F"/>
                          </a:solidFill>
                          <a:latin typeface="Segoe UI" panose="020B0502040204020203"/>
                        </a:rPr>
                        <a:t>population validée à l'unité près</a:t>
                      </a:r>
                      <a:endParaRPr sz="900" b="0">
                        <a:solidFill>
                          <a:srgbClr val="55544F"/>
                        </a:solidFill>
                        <a:latin typeface="Segoe UI" panose="020B0502040204020203"/>
                      </a:endParaRPr>
                    </a:p>
                  </a:txBody>
                  <a:tcPr anchor="ctr">
                    <a:solidFill>
                      <a:srgbClr val="F7F7F5"/>
                    </a:solidFill>
                  </a:tcPr>
                </a:tc>
              </a:tr>
            </a:tbl>
          </a:graphicData>
        </a:graphic>
      </p:graphicFrame>
      <p:sp>
        <p:nvSpPr>
          <p:cNvPr id="16" name="TextBox 15"/>
          <p:cNvSpPr txBox="1"/>
          <p:nvPr/>
        </p:nvSpPr>
        <p:spPr>
          <a:xfrm>
            <a:off x="566928" y="3337560"/>
            <a:ext cx="5669280" cy="1005840"/>
          </a:xfrm>
          <a:prstGeom prst="rect">
            <a:avLst/>
          </a:prstGeom>
          <a:noFill/>
        </p:spPr>
        <p:txBody>
          <a:bodyPr wrap="square" lIns="0" tIns="0" rIns="0" bIns="0">
            <a:spAutoFit/>
          </a:bodyPr>
          <a:lstStyle/>
          <a:p>
            <a:pPr algn="l">
              <a:lnSpc>
                <a:spcPct val="132000"/>
              </a:lnSpc>
            </a:pPr>
            <a:r>
              <a:rPr sz="1000" b="0">
                <a:solidFill>
                  <a:srgbClr val="55544F"/>
                </a:solidFill>
                <a:latin typeface="Segoe UI" panose="020B0502040204020203"/>
              </a:rPr>
              <a:t>Reconstruire les contours des 117 communes a été testé puis rejeté sur preuve : les découpages ne s'emboîtent pas — 65,6 % des points tombent dans une unité à cheval sur plusieurs communes. Publier ces contours aurait produit des densités fausses sans aucune alerte.</a:t>
            </a:r>
            <a:endParaRPr sz="1000" b="0">
              <a:solidFill>
                <a:srgbClr val="55544F"/>
              </a:solidFill>
              <a:latin typeface="Segoe UI" panose="020B0502040204020203"/>
            </a:endParaRPr>
          </a:p>
        </p:txBody>
      </p:sp>
      <p:sp>
        <p:nvSpPr>
          <p:cNvPr id="17" name="TextBox 16"/>
          <p:cNvSpPr txBox="1"/>
          <p:nvPr/>
        </p:nvSpPr>
        <p:spPr>
          <a:xfrm>
            <a:off x="6583680" y="1965960"/>
            <a:ext cx="5029200" cy="237744"/>
          </a:xfrm>
          <a:prstGeom prst="rect">
            <a:avLst/>
          </a:prstGeom>
          <a:noFill/>
        </p:spPr>
        <p:txBody>
          <a:bodyPr wrap="square" lIns="0" tIns="0" rIns="0" bIns="0">
            <a:spAutoFit/>
          </a:bodyPr>
          <a:lstStyle/>
          <a:p>
            <a:pPr algn="l">
              <a:lnSpc>
                <a:spcPct val="122000"/>
              </a:lnSpc>
            </a:pPr>
            <a:r>
              <a:rPr sz="800" b="1">
                <a:solidFill>
                  <a:srgbClr val="8B8A84"/>
                </a:solidFill>
                <a:latin typeface="Consolas" panose="020B0609020204030204"/>
              </a:rPr>
              <a:t>L'INDICE DE PRIORITÉ — QUATRE COMPOSANTES</a:t>
            </a:r>
            <a:endParaRPr sz="800" b="1">
              <a:solidFill>
                <a:srgbClr val="8B8A84"/>
              </a:solidFill>
              <a:latin typeface="Consolas" panose="020B0609020204030204"/>
            </a:endParaRPr>
          </a:p>
        </p:txBody>
      </p:sp>
      <p:graphicFrame>
        <p:nvGraphicFramePr>
          <p:cNvPr id="18" name="Table 17"/>
          <p:cNvGraphicFramePr>
            <a:graphicFrameLocks noGrp="1"/>
          </p:cNvGraphicFramePr>
          <p:nvPr/>
        </p:nvGraphicFramePr>
        <p:xfrm>
          <a:off x="6583680" y="2240280"/>
          <a:ext cx="5029200" cy="1463040"/>
        </p:xfrm>
        <a:graphic>
          <a:graphicData uri="http://schemas.openxmlformats.org/drawingml/2006/table">
            <a:tbl>
              <a:tblPr firstRow="1" bandRow="1">
                <a:tableStyleId>{5C22544A-7EE6-4342-B048-85BDC9FD1C3A}</a:tableStyleId>
              </a:tblPr>
              <a:tblGrid>
                <a:gridCol w="1709928"/>
                <a:gridCol w="2212848"/>
                <a:gridCol w="1106424"/>
              </a:tblGrid>
              <a:tr h="292608">
                <a:tc>
                  <a:txBody>
                    <a:bodyPr/>
                    <a:lstStyle/>
                    <a:p>
                      <a:r>
                        <a:rPr sz="900" b="1">
                          <a:solidFill>
                            <a:srgbClr val="FFFFFF"/>
                          </a:solidFill>
                          <a:latin typeface="Segoe UI" panose="020B0502040204020203"/>
                        </a:rPr>
                        <a:t>Composante</a:t>
                      </a:r>
                      <a:endParaRPr sz="900" b="1">
                        <a:solidFill>
                          <a:srgbClr val="FFFFFF"/>
                        </a:solidFill>
                        <a:latin typeface="Segoe UI" panose="020B0502040204020203"/>
                      </a:endParaRPr>
                    </a:p>
                  </a:txBody>
                  <a:tcPr anchor="ctr">
                    <a:solidFill>
                      <a:srgbClr val="156C52"/>
                    </a:solidFill>
                  </a:tcPr>
                </a:tc>
                <a:tc>
                  <a:txBody>
                    <a:bodyPr/>
                    <a:lstStyle/>
                    <a:p>
                      <a:r>
                        <a:rPr sz="900" b="1">
                          <a:solidFill>
                            <a:srgbClr val="FFFFFF"/>
                          </a:solidFill>
                          <a:latin typeface="Segoe UI" panose="020B0502040204020203"/>
                        </a:rPr>
                        <a:t>Mesure</a:t>
                      </a:r>
                      <a:endParaRPr sz="900" b="1">
                        <a:solidFill>
                          <a:srgbClr val="FFFFFF"/>
                        </a:solidFill>
                        <a:latin typeface="Segoe UI" panose="020B0502040204020203"/>
                      </a:endParaRPr>
                    </a:p>
                  </a:txBody>
                  <a:tcPr anchor="ctr">
                    <a:solidFill>
                      <a:srgbClr val="156C52"/>
                    </a:solidFill>
                  </a:tcPr>
                </a:tc>
                <a:tc>
                  <a:txBody>
                    <a:bodyPr/>
                    <a:lstStyle/>
                    <a:p>
                      <a:r>
                        <a:rPr sz="900" b="1">
                          <a:solidFill>
                            <a:srgbClr val="FFFFFF"/>
                          </a:solidFill>
                          <a:latin typeface="Segoe UI" panose="020B0502040204020203"/>
                        </a:rPr>
                        <a:t>Poids</a:t>
                      </a:r>
                      <a:endParaRPr sz="900" b="1">
                        <a:solidFill>
                          <a:srgbClr val="FFFFFF"/>
                        </a:solidFill>
                        <a:latin typeface="Segoe UI" panose="020B0502040204020203"/>
                      </a:endParaRPr>
                    </a:p>
                  </a:txBody>
                  <a:tcPr anchor="ctr">
                    <a:solidFill>
                      <a:srgbClr val="156C52"/>
                    </a:solidFill>
                  </a:tcPr>
                </a:tc>
              </a:tr>
              <a:tr h="292608">
                <a:tc>
                  <a:txBody>
                    <a:bodyPr/>
                    <a:lstStyle/>
                    <a:p>
                      <a:r>
                        <a:rPr sz="900" b="1">
                          <a:solidFill>
                            <a:srgbClr val="12120F"/>
                          </a:solidFill>
                          <a:latin typeface="Segoe UI" panose="020B0502040204020203"/>
                        </a:rPr>
                        <a:t>Déficit Mobile Money</a:t>
                      </a:r>
                      <a:endParaRPr sz="900" b="1">
                        <a:solidFill>
                          <a:srgbClr val="12120F"/>
                        </a:solidFill>
                        <a:latin typeface="Segoe UI" panose="020B0502040204020203"/>
                      </a:endParaRPr>
                    </a:p>
                  </a:txBody>
                  <a:tcPr anchor="ctr">
                    <a:solidFill>
                      <a:srgbClr val="FFFFFF"/>
                    </a:solidFill>
                  </a:tcPr>
                </a:tc>
                <a:tc>
                  <a:txBody>
                    <a:bodyPr/>
                    <a:lstStyle/>
                    <a:p>
                      <a:r>
                        <a:rPr sz="900" b="0">
                          <a:solidFill>
                            <a:srgbClr val="55544F"/>
                          </a:solidFill>
                          <a:latin typeface="Segoe UI" panose="020B0502040204020203"/>
                        </a:rPr>
                        <a:t>habitants par point</a:t>
                      </a:r>
                      <a:endParaRPr sz="900" b="0">
                        <a:solidFill>
                          <a:srgbClr val="55544F"/>
                        </a:solidFill>
                        <a:latin typeface="Segoe UI" panose="020B0502040204020203"/>
                      </a:endParaRPr>
                    </a:p>
                  </a:txBody>
                  <a:tcPr anchor="ctr">
                    <a:solidFill>
                      <a:srgbClr val="FFFFFF"/>
                    </a:solidFill>
                  </a:tcPr>
                </a:tc>
                <a:tc>
                  <a:txBody>
                    <a:bodyPr/>
                    <a:lstStyle/>
                    <a:p>
                      <a:r>
                        <a:rPr sz="900" b="0">
                          <a:solidFill>
                            <a:srgbClr val="55544F"/>
                          </a:solidFill>
                          <a:latin typeface="Segoe UI" panose="020B0502040204020203"/>
                        </a:rPr>
                        <a:t>30 %</a:t>
                      </a:r>
                      <a:endParaRPr sz="900" b="0">
                        <a:solidFill>
                          <a:srgbClr val="55544F"/>
                        </a:solidFill>
                        <a:latin typeface="Segoe UI" panose="020B0502040204020203"/>
                      </a:endParaRPr>
                    </a:p>
                  </a:txBody>
                  <a:tcPr anchor="ctr">
                    <a:solidFill>
                      <a:srgbClr val="FFFFFF"/>
                    </a:solidFill>
                  </a:tcPr>
                </a:tc>
              </a:tr>
              <a:tr h="292608">
                <a:tc>
                  <a:txBody>
                    <a:bodyPr/>
                    <a:lstStyle/>
                    <a:p>
                      <a:r>
                        <a:rPr sz="900" b="1">
                          <a:solidFill>
                            <a:srgbClr val="12120F"/>
                          </a:solidFill>
                          <a:latin typeface="Segoe UI" panose="020B0502040204020203"/>
                        </a:rPr>
                        <a:t>Déficit d'agences</a:t>
                      </a:r>
                      <a:endParaRPr sz="900" b="1">
                        <a:solidFill>
                          <a:srgbClr val="12120F"/>
                        </a:solidFill>
                        <a:latin typeface="Segoe UI" panose="020B0502040204020203"/>
                      </a:endParaRPr>
                    </a:p>
                  </a:txBody>
                  <a:tcPr anchor="ctr">
                    <a:solidFill>
                      <a:srgbClr val="F7F7F5"/>
                    </a:solidFill>
                  </a:tcPr>
                </a:tc>
                <a:tc>
                  <a:txBody>
                    <a:bodyPr/>
                    <a:lstStyle/>
                    <a:p>
                      <a:r>
                        <a:rPr sz="900" b="0">
                          <a:solidFill>
                            <a:srgbClr val="55544F"/>
                          </a:solidFill>
                          <a:latin typeface="Segoe UI" panose="020B0502040204020203"/>
                        </a:rPr>
                        <a:t>agences actives / 100 000 hab.</a:t>
                      </a:r>
                      <a:endParaRPr sz="900" b="0">
                        <a:solidFill>
                          <a:srgbClr val="55544F"/>
                        </a:solidFill>
                        <a:latin typeface="Segoe UI" panose="020B0502040204020203"/>
                      </a:endParaRPr>
                    </a:p>
                  </a:txBody>
                  <a:tcPr anchor="ctr">
                    <a:solidFill>
                      <a:srgbClr val="F7F7F5"/>
                    </a:solidFill>
                  </a:tcPr>
                </a:tc>
                <a:tc>
                  <a:txBody>
                    <a:bodyPr/>
                    <a:lstStyle/>
                    <a:p>
                      <a:r>
                        <a:rPr sz="900" b="0">
                          <a:solidFill>
                            <a:srgbClr val="55544F"/>
                          </a:solidFill>
                          <a:latin typeface="Segoe UI" panose="020B0502040204020203"/>
                        </a:rPr>
                        <a:t>25 %</a:t>
                      </a:r>
                      <a:endParaRPr sz="900" b="0">
                        <a:solidFill>
                          <a:srgbClr val="55544F"/>
                        </a:solidFill>
                        <a:latin typeface="Segoe UI" panose="020B0502040204020203"/>
                      </a:endParaRPr>
                    </a:p>
                  </a:txBody>
                  <a:tcPr anchor="ctr">
                    <a:solidFill>
                      <a:srgbClr val="F7F7F5"/>
                    </a:solidFill>
                  </a:tcPr>
                </a:tc>
              </a:tr>
              <a:tr h="292608">
                <a:tc>
                  <a:txBody>
                    <a:bodyPr/>
                    <a:lstStyle/>
                    <a:p>
                      <a:r>
                        <a:rPr sz="900" b="1">
                          <a:solidFill>
                            <a:srgbClr val="12120F"/>
                          </a:solidFill>
                          <a:latin typeface="Segoe UI" panose="020B0502040204020203"/>
                        </a:rPr>
                        <a:t>Éloignement</a:t>
                      </a:r>
                      <a:endParaRPr sz="900" b="1">
                        <a:solidFill>
                          <a:srgbClr val="12120F"/>
                        </a:solidFill>
                        <a:latin typeface="Segoe UI" panose="020B0502040204020203"/>
                      </a:endParaRPr>
                    </a:p>
                  </a:txBody>
                  <a:tcPr anchor="ctr">
                    <a:solidFill>
                      <a:srgbClr val="FFFFFF"/>
                    </a:solidFill>
                  </a:tcPr>
                </a:tc>
                <a:tc>
                  <a:txBody>
                    <a:bodyPr/>
                    <a:lstStyle/>
                    <a:p>
                      <a:r>
                        <a:rPr sz="900" b="0">
                          <a:solidFill>
                            <a:srgbClr val="55544F"/>
                          </a:solidFill>
                          <a:latin typeface="Segoe UI" panose="020B0502040204020203"/>
                        </a:rPr>
                        <a:t>distance à l'agence active</a:t>
                      </a:r>
                      <a:endParaRPr sz="900" b="0">
                        <a:solidFill>
                          <a:srgbClr val="55544F"/>
                        </a:solidFill>
                        <a:latin typeface="Segoe UI" panose="020B0502040204020203"/>
                      </a:endParaRPr>
                    </a:p>
                  </a:txBody>
                  <a:tcPr anchor="ctr">
                    <a:solidFill>
                      <a:srgbClr val="FFFFFF"/>
                    </a:solidFill>
                  </a:tcPr>
                </a:tc>
                <a:tc>
                  <a:txBody>
                    <a:bodyPr/>
                    <a:lstStyle/>
                    <a:p>
                      <a:r>
                        <a:rPr sz="900" b="0">
                          <a:solidFill>
                            <a:srgbClr val="55544F"/>
                          </a:solidFill>
                          <a:latin typeface="Segoe UI" panose="020B0502040204020203"/>
                        </a:rPr>
                        <a:t>25 %</a:t>
                      </a:r>
                      <a:endParaRPr sz="900" b="0">
                        <a:solidFill>
                          <a:srgbClr val="55544F"/>
                        </a:solidFill>
                        <a:latin typeface="Segoe UI" panose="020B0502040204020203"/>
                      </a:endParaRPr>
                    </a:p>
                  </a:txBody>
                  <a:tcPr anchor="ctr">
                    <a:solidFill>
                      <a:srgbClr val="FFFFFF"/>
                    </a:solidFill>
                  </a:tcPr>
                </a:tc>
              </a:tr>
              <a:tr h="292608">
                <a:tc>
                  <a:txBody>
                    <a:bodyPr/>
                    <a:lstStyle/>
                    <a:p>
                      <a:r>
                        <a:rPr sz="900" b="1">
                          <a:solidFill>
                            <a:srgbClr val="12120F"/>
                          </a:solidFill>
                          <a:latin typeface="Segoe UI" panose="020B0502040204020203"/>
                        </a:rPr>
                        <a:t>Enjeu démographique</a:t>
                      </a:r>
                      <a:endParaRPr sz="900" b="1">
                        <a:solidFill>
                          <a:srgbClr val="12120F"/>
                        </a:solidFill>
                        <a:latin typeface="Segoe UI" panose="020B0502040204020203"/>
                      </a:endParaRPr>
                    </a:p>
                  </a:txBody>
                  <a:tcPr anchor="ctr">
                    <a:solidFill>
                      <a:srgbClr val="F7F7F5"/>
                    </a:solidFill>
                  </a:tcPr>
                </a:tc>
                <a:tc>
                  <a:txBody>
                    <a:bodyPr/>
                    <a:lstStyle/>
                    <a:p>
                      <a:r>
                        <a:rPr sz="900" b="0">
                          <a:solidFill>
                            <a:srgbClr val="55544F"/>
                          </a:solidFill>
                          <a:latin typeface="Segoe UI" panose="020B0502040204020203"/>
                        </a:rPr>
                        <a:t>population concernée</a:t>
                      </a:r>
                      <a:endParaRPr sz="900" b="0">
                        <a:solidFill>
                          <a:srgbClr val="55544F"/>
                        </a:solidFill>
                        <a:latin typeface="Segoe UI" panose="020B0502040204020203"/>
                      </a:endParaRPr>
                    </a:p>
                  </a:txBody>
                  <a:tcPr anchor="ctr">
                    <a:solidFill>
                      <a:srgbClr val="F7F7F5"/>
                    </a:solidFill>
                  </a:tcPr>
                </a:tc>
                <a:tc>
                  <a:txBody>
                    <a:bodyPr/>
                    <a:lstStyle/>
                    <a:p>
                      <a:r>
                        <a:rPr sz="900" b="0">
                          <a:solidFill>
                            <a:srgbClr val="55544F"/>
                          </a:solidFill>
                          <a:latin typeface="Segoe UI" panose="020B0502040204020203"/>
                        </a:rPr>
                        <a:t>20 %</a:t>
                      </a:r>
                      <a:endParaRPr sz="900" b="0">
                        <a:solidFill>
                          <a:srgbClr val="55544F"/>
                        </a:solidFill>
                        <a:latin typeface="Segoe UI" panose="020B0502040204020203"/>
                      </a:endParaRPr>
                    </a:p>
                  </a:txBody>
                  <a:tcPr anchor="ctr">
                    <a:solidFill>
                      <a:srgbClr val="F7F7F5"/>
                    </a:solidFill>
                  </a:tcPr>
                </a:tc>
              </a:tr>
            </a:tbl>
          </a:graphicData>
        </a:graphic>
      </p:graphicFrame>
      <p:sp>
        <p:nvSpPr>
          <p:cNvPr id="19" name="TextBox 18"/>
          <p:cNvSpPr txBox="1"/>
          <p:nvPr/>
        </p:nvSpPr>
        <p:spPr>
          <a:xfrm>
            <a:off x="6583680" y="3977639"/>
            <a:ext cx="5029200" cy="1188720"/>
          </a:xfrm>
          <a:prstGeom prst="rect">
            <a:avLst/>
          </a:prstGeom>
          <a:noFill/>
        </p:spPr>
        <p:txBody>
          <a:bodyPr wrap="square" lIns="0" tIns="0" rIns="0" bIns="0">
            <a:spAutoFit/>
          </a:bodyPr>
          <a:lstStyle/>
          <a:p>
            <a:pPr algn="l">
              <a:lnSpc>
                <a:spcPct val="132000"/>
              </a:lnSpc>
            </a:pPr>
            <a:r>
              <a:rPr sz="1000" b="0">
                <a:solidFill>
                  <a:srgbClr val="55544F"/>
                </a:solidFill>
                <a:latin typeface="Segoe UI" panose="020B0502040204020203"/>
              </a:rPr>
              <a:t>Le déficit Mobile Money reprend la définition officielle du géoportail national — « nombre d'habitants par point mobile money ». L'indicateur central n'a pas été inventé pour ce travail.</a:t>
            </a:r>
            <a:endParaRPr sz="1000" b="0">
              <a:solidFill>
                <a:srgbClr val="55544F"/>
              </a:solidFill>
              <a:latin typeface="Segoe UI" panose="020B0502040204020203"/>
            </a:endParaRPr>
          </a:p>
          <a:p>
            <a:pPr algn="l">
              <a:lnSpc>
                <a:spcPct val="132000"/>
              </a:lnSpc>
            </a:pPr>
          </a:p>
          <a:p>
            <a:pPr algn="l">
              <a:lnSpc>
                <a:spcPct val="132000"/>
              </a:lnSpc>
            </a:pPr>
            <a:r>
              <a:rPr sz="1000" b="0">
                <a:solidFill>
                  <a:srgbClr val="55544F"/>
                </a:solidFill>
                <a:latin typeface="Segoe UI" panose="020B0502040204020203"/>
              </a:rPr>
              <a:t>Ces pondérations sont un choix assumé. C'est exactement pourquoi 2 000 pondérations alternatives sont testées.</a:t>
            </a:r>
            <a:endParaRPr sz="1000" b="0">
              <a:solidFill>
                <a:srgbClr val="55544F"/>
              </a:solidFill>
              <a:latin typeface="Segoe UI" panose="020B0502040204020203"/>
            </a:endParaRPr>
          </a:p>
        </p:txBody>
      </p:sp>
      <p:sp>
        <p:nvSpPr>
          <p:cNvPr id="20" name="TextBox 19"/>
          <p:cNvSpPr txBox="1"/>
          <p:nvPr/>
        </p:nvSpPr>
        <p:spPr>
          <a:xfrm>
            <a:off x="566928" y="4663440"/>
            <a:ext cx="5669280" cy="1097280"/>
          </a:xfrm>
          <a:prstGeom prst="rect">
            <a:avLst/>
          </a:prstGeom>
          <a:noFill/>
        </p:spPr>
        <p:txBody>
          <a:bodyPr wrap="square" lIns="0" tIns="0" rIns="0" bIns="0">
            <a:spAutoFit/>
          </a:bodyPr>
          <a:lstStyle/>
          <a:p>
            <a:pPr algn="l">
              <a:lnSpc>
                <a:spcPct val="132000"/>
              </a:lnSpc>
            </a:pPr>
            <a:r>
              <a:rPr sz="1000" b="0">
                <a:solidFill>
                  <a:srgbClr val="55544F"/>
                </a:solidFill>
                <a:latin typeface="Segoe UI" panose="020B0502040204020203"/>
              </a:rPr>
              <a:t>Aucune valeur n'est imputée ni estimée. Toute donnée absente est déclarée absente. Aucun écrêtage n'est appliqué aux valeurs extrêmes : elles sont des faits, et leur influence est mesurée par une variante de calcul insensible aux extrêmes.</a:t>
            </a:r>
            <a:endParaRPr sz="1000" b="0">
              <a:solidFill>
                <a:srgbClr val="55544F"/>
              </a:solidFill>
              <a:latin typeface="Segoe UI" panose="020B0502040204020203"/>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DIAGNOSTIC</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Diagnostic national</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409 habitants par point de service en moyenne, mais un rapport de 1 à 12,7 entre préfectures.</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05 / 10</a:t>
            </a:r>
            <a:endParaRPr sz="800" b="1">
              <a:solidFill>
                <a:srgbClr val="8B8A84"/>
              </a:solidFill>
              <a:latin typeface="Consolas" panose="020B0609020204030204"/>
            </a:endParaRPr>
          </a:p>
        </p:txBody>
      </p:sp>
      <p:pic>
        <p:nvPicPr>
          <p:cNvPr id="14" name="Picture 13" descr="ecart_desserte.png"/>
          <p:cNvPicPr>
            <a:picLocks noChangeAspect="1"/>
          </p:cNvPicPr>
          <p:nvPr/>
        </p:nvPicPr>
        <p:blipFill>
          <a:blip r:embed="rId1"/>
          <a:stretch>
            <a:fillRect/>
          </a:stretch>
        </p:blipFill>
        <p:spPr>
          <a:xfrm>
            <a:off x="3977639" y="1874519"/>
            <a:ext cx="7404482" cy="4297680"/>
          </a:xfrm>
          <a:prstGeom prst="rect">
            <a:avLst/>
          </a:prstGeom>
        </p:spPr>
      </p:pic>
      <p:sp>
        <p:nvSpPr>
          <p:cNvPr id="15" name="Rectangle 14"/>
          <p:cNvSpPr/>
          <p:nvPr/>
        </p:nvSpPr>
        <p:spPr>
          <a:xfrm>
            <a:off x="566928" y="1965960"/>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1965960"/>
            <a:ext cx="3200400" cy="34747"/>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121408"/>
            <a:ext cx="290779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MOYENNE NATIONALE</a:t>
            </a:r>
            <a:endParaRPr sz="750" b="1">
              <a:solidFill>
                <a:srgbClr val="8B8A84"/>
              </a:solidFill>
              <a:latin typeface="Consolas" panose="020B0609020204030204"/>
            </a:endParaRPr>
          </a:p>
        </p:txBody>
      </p:sp>
      <p:sp>
        <p:nvSpPr>
          <p:cNvPr id="18" name="TextBox 17"/>
          <p:cNvSpPr txBox="1"/>
          <p:nvPr/>
        </p:nvSpPr>
        <p:spPr>
          <a:xfrm>
            <a:off x="713232" y="2441448"/>
            <a:ext cx="290779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409</a:t>
            </a:r>
            <a:endParaRPr sz="2300" b="1">
              <a:solidFill>
                <a:srgbClr val="12120F"/>
              </a:solidFill>
              <a:latin typeface="Segoe UI" panose="020B0502040204020203"/>
            </a:endParaRPr>
          </a:p>
        </p:txBody>
      </p:sp>
      <p:sp>
        <p:nvSpPr>
          <p:cNvPr id="19" name="TextBox 18"/>
          <p:cNvSpPr txBox="1"/>
          <p:nvPr/>
        </p:nvSpPr>
        <p:spPr>
          <a:xfrm>
            <a:off x="713232" y="2871216"/>
            <a:ext cx="290779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habitants par point Mobile Money</a:t>
            </a:r>
            <a:endParaRPr sz="800" b="0">
              <a:solidFill>
                <a:srgbClr val="55544F"/>
              </a:solidFill>
              <a:latin typeface="Segoe UI" panose="020B0502040204020203"/>
            </a:endParaRPr>
          </a:p>
        </p:txBody>
      </p:sp>
      <p:sp>
        <p:nvSpPr>
          <p:cNvPr id="20" name="Rectangle 19"/>
          <p:cNvSpPr/>
          <p:nvPr/>
        </p:nvSpPr>
        <p:spPr>
          <a:xfrm>
            <a:off x="566928" y="3081528"/>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081528"/>
            <a:ext cx="3200400" cy="34747"/>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3236976"/>
            <a:ext cx="290779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PRÉFECTURE LA MOINS DESSERVIE</a:t>
            </a:r>
            <a:endParaRPr sz="750" b="1">
              <a:solidFill>
                <a:srgbClr val="8B8A84"/>
              </a:solidFill>
              <a:latin typeface="Consolas" panose="020B0609020204030204"/>
            </a:endParaRPr>
          </a:p>
        </p:txBody>
      </p:sp>
      <p:sp>
        <p:nvSpPr>
          <p:cNvPr id="23" name="TextBox 22"/>
          <p:cNvSpPr txBox="1"/>
          <p:nvPr/>
        </p:nvSpPr>
        <p:spPr>
          <a:xfrm>
            <a:off x="713232" y="3557016"/>
            <a:ext cx="290779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2 155</a:t>
            </a:r>
            <a:endParaRPr sz="2300" b="1">
              <a:solidFill>
                <a:srgbClr val="12120F"/>
              </a:solidFill>
              <a:latin typeface="Segoe UI" panose="020B0502040204020203"/>
            </a:endParaRPr>
          </a:p>
        </p:txBody>
      </p:sp>
      <p:sp>
        <p:nvSpPr>
          <p:cNvPr id="24" name="TextBox 23"/>
          <p:cNvSpPr txBox="1"/>
          <p:nvPr/>
        </p:nvSpPr>
        <p:spPr>
          <a:xfrm>
            <a:off x="713232" y="3986784"/>
            <a:ext cx="290779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Kpendjal · 5,3 × la moyenne</a:t>
            </a:r>
            <a:endParaRPr sz="800" b="0">
              <a:solidFill>
                <a:srgbClr val="55544F"/>
              </a:solidFill>
              <a:latin typeface="Segoe UI" panose="020B0502040204020203"/>
            </a:endParaRPr>
          </a:p>
        </p:txBody>
      </p:sp>
      <p:sp>
        <p:nvSpPr>
          <p:cNvPr id="25" name="Rectangle 24"/>
          <p:cNvSpPr/>
          <p:nvPr/>
        </p:nvSpPr>
        <p:spPr>
          <a:xfrm>
            <a:off x="566928" y="4197096"/>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197096"/>
            <a:ext cx="3200400" cy="34747"/>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352544"/>
            <a:ext cx="290779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PRÉFECTURES AU-DESSUS DE LA MOYENNE</a:t>
            </a:r>
            <a:endParaRPr sz="750" b="1">
              <a:solidFill>
                <a:srgbClr val="8B8A84"/>
              </a:solidFill>
              <a:latin typeface="Consolas" panose="020B0609020204030204"/>
            </a:endParaRPr>
          </a:p>
        </p:txBody>
      </p:sp>
      <p:sp>
        <p:nvSpPr>
          <p:cNvPr id="28" name="TextBox 27"/>
          <p:cNvSpPr txBox="1"/>
          <p:nvPr/>
        </p:nvSpPr>
        <p:spPr>
          <a:xfrm>
            <a:off x="713232" y="4672584"/>
            <a:ext cx="290779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24 / 39</a:t>
            </a:r>
            <a:endParaRPr sz="2300" b="1">
              <a:solidFill>
                <a:srgbClr val="12120F"/>
              </a:solidFill>
              <a:latin typeface="Segoe UI" panose="020B0502040204020203"/>
            </a:endParaRPr>
          </a:p>
        </p:txBody>
      </p:sp>
      <p:sp>
        <p:nvSpPr>
          <p:cNvPr id="29" name="TextBox 28"/>
          <p:cNvSpPr txBox="1"/>
          <p:nvPr/>
        </p:nvSpPr>
        <p:spPr>
          <a:xfrm>
            <a:off x="713232" y="5102352"/>
            <a:ext cx="290779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moins bien desservies que le pays</a:t>
            </a:r>
            <a:endParaRPr sz="800" b="0">
              <a:solidFill>
                <a:srgbClr val="55544F"/>
              </a:solidFill>
              <a:latin typeface="Segoe UI" panose="020B0502040204020203"/>
            </a:endParaRPr>
          </a:p>
        </p:txBody>
      </p:sp>
      <p:sp>
        <p:nvSpPr>
          <p:cNvPr id="30" name="Rectangle 29"/>
          <p:cNvSpPr/>
          <p:nvPr/>
        </p:nvSpPr>
        <p:spPr>
          <a:xfrm>
            <a:off x="566928" y="5312664"/>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5312664"/>
            <a:ext cx="3200400" cy="34747"/>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5468112"/>
            <a:ext cx="2907792" cy="274320"/>
          </a:xfrm>
          <a:prstGeom prst="rect">
            <a:avLst/>
          </a:prstGeom>
          <a:noFill/>
        </p:spPr>
        <p:txBody>
          <a:bodyPr wrap="square" lIns="0" tIns="0" rIns="0" bIns="0">
            <a:spAutoFit/>
          </a:bodyPr>
          <a:lstStyle/>
          <a:p>
            <a:pPr algn="l">
              <a:lnSpc>
                <a:spcPct val="130000"/>
              </a:lnSpc>
            </a:pPr>
            <a:r>
              <a:rPr sz="750" b="1">
                <a:solidFill>
                  <a:srgbClr val="8B8A84"/>
                </a:solidFill>
                <a:latin typeface="Consolas" panose="020B0609020204030204"/>
              </a:rPr>
              <a:t>COMMUNES SANS AGENCE ACTIVE</a:t>
            </a:r>
            <a:endParaRPr sz="750" b="1">
              <a:solidFill>
                <a:srgbClr val="8B8A84"/>
              </a:solidFill>
              <a:latin typeface="Consolas" panose="020B0609020204030204"/>
            </a:endParaRPr>
          </a:p>
        </p:txBody>
      </p:sp>
      <p:sp>
        <p:nvSpPr>
          <p:cNvPr id="33" name="TextBox 32"/>
          <p:cNvSpPr txBox="1"/>
          <p:nvPr/>
        </p:nvSpPr>
        <p:spPr>
          <a:xfrm>
            <a:off x="713232" y="5788152"/>
            <a:ext cx="2907792" cy="384048"/>
          </a:xfrm>
          <a:prstGeom prst="rect">
            <a:avLst/>
          </a:prstGeom>
          <a:noFill/>
        </p:spPr>
        <p:txBody>
          <a:bodyPr wrap="square" lIns="0" tIns="0" rIns="0" bIns="0">
            <a:spAutoFit/>
          </a:bodyPr>
          <a:lstStyle/>
          <a:p>
            <a:pPr algn="l">
              <a:lnSpc>
                <a:spcPct val="122000"/>
              </a:lnSpc>
            </a:pPr>
            <a:r>
              <a:rPr sz="2300" b="1">
                <a:solidFill>
                  <a:srgbClr val="12120F"/>
                </a:solidFill>
                <a:latin typeface="Segoe UI" panose="020B0502040204020203"/>
              </a:rPr>
              <a:t>75 / 117</a:t>
            </a:r>
            <a:endParaRPr sz="2300" b="1">
              <a:solidFill>
                <a:srgbClr val="12120F"/>
              </a:solidFill>
              <a:latin typeface="Segoe UI" panose="020B0502040204020203"/>
            </a:endParaRPr>
          </a:p>
        </p:txBody>
      </p:sp>
      <p:sp>
        <p:nvSpPr>
          <p:cNvPr id="34" name="TextBox 33"/>
          <p:cNvSpPr txBox="1"/>
          <p:nvPr/>
        </p:nvSpPr>
        <p:spPr>
          <a:xfrm>
            <a:off x="713232" y="6217920"/>
            <a:ext cx="2907792" cy="274320"/>
          </a:xfrm>
          <a:prstGeom prst="rect">
            <a:avLst/>
          </a:prstGeom>
          <a:noFill/>
        </p:spPr>
        <p:txBody>
          <a:bodyPr wrap="square" lIns="0" tIns="0" rIns="0" bIns="0">
            <a:spAutoFit/>
          </a:bodyPr>
          <a:lstStyle/>
          <a:p>
            <a:pPr algn="l">
              <a:lnSpc>
                <a:spcPct val="125000"/>
              </a:lnSpc>
            </a:pPr>
            <a:r>
              <a:rPr sz="800" b="0">
                <a:solidFill>
                  <a:srgbClr val="55544F"/>
                </a:solidFill>
                <a:latin typeface="Segoe UI" panose="020B0502040204020203"/>
              </a:rPr>
              <a:t>3 371 081 habitants</a:t>
            </a:r>
            <a:endParaRPr sz="800" b="0">
              <a:solidFill>
                <a:srgbClr val="55544F"/>
              </a:solidFill>
              <a:latin typeface="Segoe UI" panose="020B0502040204020203"/>
            </a:endParaRPr>
          </a:p>
        </p:txBody>
      </p:sp>
      <p:sp>
        <p:nvSpPr>
          <p:cNvPr id="35" name="TextBox 34"/>
          <p:cNvSpPr txBox="1"/>
          <p:nvPr/>
        </p:nvSpPr>
        <p:spPr>
          <a:xfrm>
            <a:off x="566928" y="6400800"/>
            <a:ext cx="3200400" cy="274320"/>
          </a:xfrm>
          <a:prstGeom prst="rect">
            <a:avLst/>
          </a:prstGeom>
          <a:noFill/>
        </p:spPr>
        <p:txBody>
          <a:bodyPr wrap="square" lIns="0" tIns="0" rIns="0" bIns="0">
            <a:spAutoFit/>
          </a:bodyPr>
          <a:lstStyle/>
          <a:p>
            <a:pPr algn="l">
              <a:lnSpc>
                <a:spcPct val="122000"/>
              </a:lnSpc>
            </a:pPr>
            <a:endParaRPr sz="800" b="0">
              <a:solidFill>
                <a:srgbClr val="55544F"/>
              </a:solidFill>
              <a:latin typeface="Segoe UI" panose="020B0502040204020203"/>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GÉOSPATIAL</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Analyse géospatiale et inégalités territoriales</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La moitié la moins bien desservie de la population ne dispose que de 27 % des points de service.</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06 / 10</a:t>
            </a:r>
            <a:endParaRPr sz="800" b="1">
              <a:solidFill>
                <a:srgbClr val="8B8A84"/>
              </a:solidFill>
              <a:latin typeface="Consolas" panose="020B0609020204030204"/>
            </a:endParaRPr>
          </a:p>
        </p:txBody>
      </p:sp>
      <p:pic>
        <p:nvPicPr>
          <p:cNvPr id="14" name="Picture 13" descr="quadrant.png"/>
          <p:cNvPicPr>
            <a:picLocks noChangeAspect="1"/>
          </p:cNvPicPr>
          <p:nvPr/>
        </p:nvPicPr>
        <p:blipFill>
          <a:blip r:embed="rId1"/>
          <a:stretch>
            <a:fillRect/>
          </a:stretch>
        </p:blipFill>
        <p:spPr>
          <a:xfrm>
            <a:off x="502920" y="1920240"/>
            <a:ext cx="5015010" cy="3931920"/>
          </a:xfrm>
          <a:prstGeom prst="rect">
            <a:avLst/>
          </a:prstGeom>
        </p:spPr>
      </p:pic>
      <p:pic>
        <p:nvPicPr>
          <p:cNvPr id="15" name="Picture 14" descr="concentration.png"/>
          <p:cNvPicPr>
            <a:picLocks noChangeAspect="1"/>
          </p:cNvPicPr>
          <p:nvPr/>
        </p:nvPicPr>
        <p:blipFill>
          <a:blip r:embed="rId2"/>
          <a:stretch>
            <a:fillRect/>
          </a:stretch>
        </p:blipFill>
        <p:spPr>
          <a:xfrm>
            <a:off x="6400800" y="1920240"/>
            <a:ext cx="4842305" cy="3931920"/>
          </a:xfrm>
          <a:prstGeom prst="rect">
            <a:avLst/>
          </a:prstGeom>
        </p:spPr>
      </p:pic>
      <p:sp>
        <p:nvSpPr>
          <p:cNvPr id="16" name="TextBox 15"/>
          <p:cNvSpPr txBox="1"/>
          <p:nvPr/>
        </p:nvSpPr>
        <p:spPr>
          <a:xfrm>
            <a:off x="502920" y="5943600"/>
            <a:ext cx="5486400" cy="457200"/>
          </a:xfrm>
          <a:prstGeom prst="rect">
            <a:avLst/>
          </a:prstGeom>
          <a:noFill/>
        </p:spPr>
        <p:txBody>
          <a:bodyPr wrap="square" lIns="0" tIns="0" rIns="0" bIns="0">
            <a:spAutoFit/>
          </a:bodyPr>
          <a:lstStyle/>
          <a:p>
            <a:pPr algn="l">
              <a:lnSpc>
                <a:spcPct val="130000"/>
              </a:lnSpc>
            </a:pPr>
            <a:r>
              <a:rPr sz="1000" b="0">
                <a:solidFill>
                  <a:srgbClr val="55544F"/>
                </a:solidFill>
                <a:latin typeface="Segoe UI" panose="020B0502040204020203"/>
              </a:rPr>
              <a:t>12 préfectures sont à la fois plus peuplées que la médiane nationale et moins bien desservies que la moyenne : c'est là qu'un investissement touche le plus d'habitants.</a:t>
            </a:r>
            <a:endParaRPr sz="1000" b="0">
              <a:solidFill>
                <a:srgbClr val="55544F"/>
              </a:solidFill>
              <a:latin typeface="Segoe UI" panose="020B0502040204020203"/>
            </a:endParaRPr>
          </a:p>
        </p:txBody>
      </p:sp>
      <p:sp>
        <p:nvSpPr>
          <p:cNvPr id="17" name="TextBox 16"/>
          <p:cNvSpPr txBox="1"/>
          <p:nvPr/>
        </p:nvSpPr>
        <p:spPr>
          <a:xfrm>
            <a:off x="6400800" y="5943600"/>
            <a:ext cx="5212080" cy="457200"/>
          </a:xfrm>
          <a:prstGeom prst="rect">
            <a:avLst/>
          </a:prstGeom>
          <a:noFill/>
        </p:spPr>
        <p:txBody>
          <a:bodyPr wrap="square" lIns="0" tIns="0" rIns="0" bIns="0">
            <a:spAutoFit/>
          </a:bodyPr>
          <a:lstStyle/>
          <a:p>
            <a:pPr algn="l">
              <a:lnSpc>
                <a:spcPct val="130000"/>
              </a:lnSpc>
            </a:pPr>
            <a:r>
              <a:rPr sz="1000" b="0">
                <a:solidFill>
                  <a:srgbClr val="55544F"/>
                </a:solidFill>
                <a:latin typeface="Segoe UI" panose="020B0502040204020203"/>
              </a:rPr>
              <a:t>L'écart à la diagonale mesure la concentration. Les distances sont calculées après reprojection métrique — en degrés, elles seraient fausses.</a:t>
            </a:r>
            <a:endParaRPr sz="1000" b="0">
              <a:solidFill>
                <a:srgbClr val="55544F"/>
              </a:solidFill>
              <a:latin typeface="Segoe UI" panose="020B0502040204020203"/>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PRIORISATION</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Zones prioritaires · indice DCPI</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Neuf préfectures restent dans le top 10 pour au moins 90 % de 2 000 pondérations testées : leur priorité ne dépend pas de la méthode.</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07 / 10</a:t>
            </a:r>
            <a:endParaRPr sz="800" b="1">
              <a:solidFill>
                <a:srgbClr val="8B8A84"/>
              </a:solidFill>
              <a:latin typeface="Consolas" panose="020B0609020204030204"/>
            </a:endParaRPr>
          </a:p>
        </p:txBody>
      </p:sp>
      <p:pic>
        <p:nvPicPr>
          <p:cNvPr id="14" name="Picture 13" descr="carte_priorite.png"/>
          <p:cNvPicPr>
            <a:picLocks noChangeAspect="1"/>
          </p:cNvPicPr>
          <p:nvPr/>
        </p:nvPicPr>
        <p:blipFill>
          <a:blip r:embed="rId1"/>
          <a:stretch>
            <a:fillRect/>
          </a:stretch>
        </p:blipFill>
        <p:spPr>
          <a:xfrm>
            <a:off x="548640" y="1874519"/>
            <a:ext cx="2170081" cy="4343400"/>
          </a:xfrm>
          <a:prstGeom prst="rect">
            <a:avLst/>
          </a:prstGeom>
        </p:spPr>
      </p:pic>
      <p:pic>
        <p:nvPicPr>
          <p:cNvPr id="15" name="Picture 14" descr="sensibilite.png"/>
          <p:cNvPicPr>
            <a:picLocks noChangeAspect="1"/>
          </p:cNvPicPr>
          <p:nvPr/>
        </p:nvPicPr>
        <p:blipFill>
          <a:blip r:embed="rId2"/>
          <a:stretch>
            <a:fillRect/>
          </a:stretch>
        </p:blipFill>
        <p:spPr>
          <a:xfrm>
            <a:off x="4114800" y="1874519"/>
            <a:ext cx="3637598" cy="2834640"/>
          </a:xfrm>
          <a:prstGeom prst="rect">
            <a:avLst/>
          </a:prstGeom>
        </p:spPr>
      </p:pic>
      <p:graphicFrame>
        <p:nvGraphicFramePr>
          <p:cNvPr id="16" name="Table 15"/>
          <p:cNvGraphicFramePr>
            <a:graphicFrameLocks noGrp="1"/>
          </p:cNvGraphicFramePr>
          <p:nvPr/>
        </p:nvGraphicFramePr>
        <p:xfrm>
          <a:off x="7863840" y="1874519"/>
          <a:ext cx="3794756" cy="2048256"/>
        </p:xfrm>
        <a:graphic>
          <a:graphicData uri="http://schemas.openxmlformats.org/drawingml/2006/table">
            <a:tbl>
              <a:tblPr firstRow="1" bandRow="1">
                <a:tableStyleId>{5C22544A-7EE6-4342-B048-85BDC9FD1C3A}</a:tableStyleId>
              </a:tblPr>
              <a:tblGrid>
                <a:gridCol w="303580"/>
                <a:gridCol w="1062532"/>
                <a:gridCol w="607161"/>
                <a:gridCol w="607161"/>
                <a:gridCol w="531266"/>
                <a:gridCol w="683056"/>
              </a:tblGrid>
              <a:tr h="292608">
                <a:tc>
                  <a:txBody>
                    <a:bodyPr/>
                    <a:lstStyle/>
                    <a:p>
                      <a:r>
                        <a:rPr sz="850" b="1">
                          <a:solidFill>
                            <a:srgbClr val="FFFFFF"/>
                          </a:solidFill>
                          <a:latin typeface="Segoe UI" panose="020B0502040204020203"/>
                        </a:rPr>
                        <a:t>#</a:t>
                      </a:r>
                      <a:endParaRPr sz="850" b="1">
                        <a:solidFill>
                          <a:srgbClr val="FFFFFF"/>
                        </a:solidFill>
                        <a:latin typeface="Segoe UI" panose="020B0502040204020203"/>
                      </a:endParaRPr>
                    </a:p>
                  </a:txBody>
                  <a:tcPr anchor="ctr">
                    <a:solidFill>
                      <a:srgbClr val="156C52"/>
                    </a:solidFill>
                  </a:tcPr>
                </a:tc>
                <a:tc>
                  <a:txBody>
                    <a:bodyPr/>
                    <a:lstStyle/>
                    <a:p>
                      <a:r>
                        <a:rPr sz="850" b="1">
                          <a:solidFill>
                            <a:srgbClr val="FFFFFF"/>
                          </a:solidFill>
                          <a:latin typeface="Segoe UI" panose="020B0502040204020203"/>
                        </a:rPr>
                        <a:t>Préfecture</a:t>
                      </a:r>
                      <a:endParaRPr sz="850" b="1">
                        <a:solidFill>
                          <a:srgbClr val="FFFFFF"/>
                        </a:solidFill>
                        <a:latin typeface="Segoe UI" panose="020B0502040204020203"/>
                      </a:endParaRPr>
                    </a:p>
                  </a:txBody>
                  <a:tcPr anchor="ctr">
                    <a:solidFill>
                      <a:srgbClr val="156C52"/>
                    </a:solidFill>
                  </a:tcPr>
                </a:tc>
                <a:tc>
                  <a:txBody>
                    <a:bodyPr/>
                    <a:lstStyle/>
                    <a:p>
                      <a:r>
                        <a:rPr sz="850" b="1">
                          <a:solidFill>
                            <a:srgbClr val="FFFFFF"/>
                          </a:solidFill>
                          <a:latin typeface="Segoe UI" panose="020B0502040204020203"/>
                        </a:rPr>
                        <a:t>Hab.</a:t>
                      </a:r>
                      <a:endParaRPr sz="850" b="1">
                        <a:solidFill>
                          <a:srgbClr val="FFFFFF"/>
                        </a:solidFill>
                        <a:latin typeface="Segoe UI" panose="020B0502040204020203"/>
                      </a:endParaRPr>
                    </a:p>
                  </a:txBody>
                  <a:tcPr anchor="ctr">
                    <a:solidFill>
                      <a:srgbClr val="156C52"/>
                    </a:solidFill>
                  </a:tcPr>
                </a:tc>
                <a:tc>
                  <a:txBody>
                    <a:bodyPr/>
                    <a:lstStyle/>
                    <a:p>
                      <a:r>
                        <a:rPr sz="850" b="1">
                          <a:solidFill>
                            <a:srgbClr val="FFFFFF"/>
                          </a:solidFill>
                          <a:latin typeface="Segoe UI" panose="020B0502040204020203"/>
                        </a:rPr>
                        <a:t>Hab./pt</a:t>
                      </a:r>
                      <a:endParaRPr sz="850" b="1">
                        <a:solidFill>
                          <a:srgbClr val="FFFFFF"/>
                        </a:solidFill>
                        <a:latin typeface="Segoe UI" panose="020B0502040204020203"/>
                      </a:endParaRPr>
                    </a:p>
                  </a:txBody>
                  <a:tcPr anchor="ctr">
                    <a:solidFill>
                      <a:srgbClr val="156C52"/>
                    </a:solidFill>
                  </a:tcPr>
                </a:tc>
                <a:tc>
                  <a:txBody>
                    <a:bodyPr/>
                    <a:lstStyle/>
                    <a:p>
                      <a:r>
                        <a:rPr sz="850" b="1">
                          <a:solidFill>
                            <a:srgbClr val="FFFFFF"/>
                          </a:solidFill>
                          <a:latin typeface="Segoe UI" panose="020B0502040204020203"/>
                        </a:rPr>
                        <a:t>Ag.</a:t>
                      </a:r>
                      <a:endParaRPr sz="850" b="1">
                        <a:solidFill>
                          <a:srgbClr val="FFFFFF"/>
                        </a:solidFill>
                        <a:latin typeface="Segoe UI" panose="020B0502040204020203"/>
                      </a:endParaRPr>
                    </a:p>
                  </a:txBody>
                  <a:tcPr anchor="ctr">
                    <a:solidFill>
                      <a:srgbClr val="156C52"/>
                    </a:solidFill>
                  </a:tcPr>
                </a:tc>
                <a:tc>
                  <a:txBody>
                    <a:bodyPr/>
                    <a:lstStyle/>
                    <a:p>
                      <a:r>
                        <a:rPr sz="850" b="1">
                          <a:solidFill>
                            <a:srgbClr val="FFFFFF"/>
                          </a:solidFill>
                          <a:latin typeface="Segoe UI" panose="020B0502040204020203"/>
                        </a:rPr>
                        <a:t>Dist.</a:t>
                      </a:r>
                      <a:endParaRPr sz="850" b="1">
                        <a:solidFill>
                          <a:srgbClr val="FFFFFF"/>
                        </a:solidFill>
                        <a:latin typeface="Segoe UI" panose="020B0502040204020203"/>
                      </a:endParaRPr>
                    </a:p>
                  </a:txBody>
                  <a:tcPr anchor="ctr">
                    <a:solidFill>
                      <a:srgbClr val="156C52"/>
                    </a:solidFill>
                  </a:tcPr>
                </a:tc>
              </a:tr>
              <a:tr h="292608">
                <a:tc>
                  <a:txBody>
                    <a:bodyPr/>
                    <a:lstStyle/>
                    <a:p>
                      <a:r>
                        <a:rPr sz="850" b="1">
                          <a:solidFill>
                            <a:srgbClr val="12120F"/>
                          </a:solidFill>
                          <a:latin typeface="Segoe UI" panose="020B0502040204020203"/>
                        </a:rPr>
                        <a:t>1</a:t>
                      </a:r>
                      <a:endParaRPr sz="850" b="1">
                        <a:solidFill>
                          <a:srgbClr val="12120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Kpendjal</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88 365</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2 155</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0</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47 km</a:t>
                      </a:r>
                      <a:endParaRPr sz="850" b="0">
                        <a:solidFill>
                          <a:srgbClr val="55544F"/>
                        </a:solidFill>
                        <a:latin typeface="Segoe UI" panose="020B0502040204020203"/>
                      </a:endParaRPr>
                    </a:p>
                  </a:txBody>
                  <a:tcPr anchor="ctr">
                    <a:solidFill>
                      <a:srgbClr val="FFFFFF"/>
                    </a:solidFill>
                  </a:tcPr>
                </a:tc>
              </a:tr>
              <a:tr h="292608">
                <a:tc>
                  <a:txBody>
                    <a:bodyPr/>
                    <a:lstStyle/>
                    <a:p>
                      <a:r>
                        <a:rPr sz="850" b="1">
                          <a:solidFill>
                            <a:srgbClr val="12120F"/>
                          </a:solidFill>
                          <a:latin typeface="Segoe UI" panose="020B0502040204020203"/>
                        </a:rPr>
                        <a:t>2</a:t>
                      </a:r>
                      <a:endParaRPr sz="850" b="1">
                        <a:solidFill>
                          <a:srgbClr val="12120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Mô</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52 448</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1 639</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0</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45 km</a:t>
                      </a:r>
                      <a:endParaRPr sz="850" b="0">
                        <a:solidFill>
                          <a:srgbClr val="55544F"/>
                        </a:solidFill>
                        <a:latin typeface="Segoe UI" panose="020B0502040204020203"/>
                      </a:endParaRPr>
                    </a:p>
                  </a:txBody>
                  <a:tcPr anchor="ctr">
                    <a:solidFill>
                      <a:srgbClr val="F7F7F5"/>
                    </a:solidFill>
                  </a:tcPr>
                </a:tc>
              </a:tr>
              <a:tr h="292608">
                <a:tc>
                  <a:txBody>
                    <a:bodyPr/>
                    <a:lstStyle/>
                    <a:p>
                      <a:r>
                        <a:rPr sz="850" b="1">
                          <a:solidFill>
                            <a:srgbClr val="12120F"/>
                          </a:solidFill>
                          <a:latin typeface="Segoe UI" panose="020B0502040204020203"/>
                        </a:rPr>
                        <a:t>3</a:t>
                      </a:r>
                      <a:endParaRPr sz="850" b="1">
                        <a:solidFill>
                          <a:srgbClr val="12120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Est-Mono</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164 460</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787</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0</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46 km</a:t>
                      </a:r>
                      <a:endParaRPr sz="850" b="0">
                        <a:solidFill>
                          <a:srgbClr val="55544F"/>
                        </a:solidFill>
                        <a:latin typeface="Segoe UI" panose="020B0502040204020203"/>
                      </a:endParaRPr>
                    </a:p>
                  </a:txBody>
                  <a:tcPr anchor="ctr">
                    <a:solidFill>
                      <a:srgbClr val="FFFFFF"/>
                    </a:solidFill>
                  </a:tcPr>
                </a:tc>
              </a:tr>
              <a:tr h="292608">
                <a:tc>
                  <a:txBody>
                    <a:bodyPr/>
                    <a:lstStyle/>
                    <a:p>
                      <a:r>
                        <a:rPr sz="850" b="1">
                          <a:solidFill>
                            <a:srgbClr val="12120F"/>
                          </a:solidFill>
                          <a:latin typeface="Segoe UI" panose="020B0502040204020203"/>
                        </a:rPr>
                        <a:t>4</a:t>
                      </a:r>
                      <a:endParaRPr sz="850" b="1">
                        <a:solidFill>
                          <a:srgbClr val="12120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Akébou</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73 830</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849</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0</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43 km</a:t>
                      </a:r>
                      <a:endParaRPr sz="850" b="0">
                        <a:solidFill>
                          <a:srgbClr val="55544F"/>
                        </a:solidFill>
                        <a:latin typeface="Segoe UI" panose="020B0502040204020203"/>
                      </a:endParaRPr>
                    </a:p>
                  </a:txBody>
                  <a:tcPr anchor="ctr">
                    <a:solidFill>
                      <a:srgbClr val="F7F7F5"/>
                    </a:solidFill>
                  </a:tcPr>
                </a:tc>
              </a:tr>
              <a:tr h="292608">
                <a:tc>
                  <a:txBody>
                    <a:bodyPr/>
                    <a:lstStyle/>
                    <a:p>
                      <a:r>
                        <a:rPr sz="850" b="1">
                          <a:solidFill>
                            <a:srgbClr val="12120F"/>
                          </a:solidFill>
                          <a:latin typeface="Segoe UI" panose="020B0502040204020203"/>
                        </a:rPr>
                        <a:t>5</a:t>
                      </a:r>
                      <a:endParaRPr sz="850" b="1">
                        <a:solidFill>
                          <a:srgbClr val="12120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Blitta</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163 272</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1 814</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2</a:t>
                      </a:r>
                      <a:endParaRPr sz="850" b="0">
                        <a:solidFill>
                          <a:srgbClr val="55544F"/>
                        </a:solidFill>
                        <a:latin typeface="Segoe UI" panose="020B0502040204020203"/>
                      </a:endParaRPr>
                    </a:p>
                  </a:txBody>
                  <a:tcPr anchor="ctr">
                    <a:solidFill>
                      <a:srgbClr val="FFFFFF"/>
                    </a:solidFill>
                  </a:tcPr>
                </a:tc>
                <a:tc>
                  <a:txBody>
                    <a:bodyPr/>
                    <a:lstStyle/>
                    <a:p>
                      <a:r>
                        <a:rPr sz="850" b="0">
                          <a:solidFill>
                            <a:srgbClr val="55544F"/>
                          </a:solidFill>
                          <a:latin typeface="Segoe UI" panose="020B0502040204020203"/>
                        </a:rPr>
                        <a:t>28 km</a:t>
                      </a:r>
                      <a:endParaRPr sz="850" b="0">
                        <a:solidFill>
                          <a:srgbClr val="55544F"/>
                        </a:solidFill>
                        <a:latin typeface="Segoe UI" panose="020B0502040204020203"/>
                      </a:endParaRPr>
                    </a:p>
                  </a:txBody>
                  <a:tcPr anchor="ctr">
                    <a:solidFill>
                      <a:srgbClr val="FFFFFF"/>
                    </a:solidFill>
                  </a:tcPr>
                </a:tc>
              </a:tr>
              <a:tr h="292608">
                <a:tc>
                  <a:txBody>
                    <a:bodyPr/>
                    <a:lstStyle/>
                    <a:p>
                      <a:r>
                        <a:rPr sz="850" b="1">
                          <a:solidFill>
                            <a:srgbClr val="12120F"/>
                          </a:solidFill>
                          <a:latin typeface="Segoe UI" panose="020B0502040204020203"/>
                        </a:rPr>
                        <a:t>6</a:t>
                      </a:r>
                      <a:endParaRPr sz="850" b="1">
                        <a:solidFill>
                          <a:srgbClr val="12120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Wawa</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101 300</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415</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0</a:t>
                      </a:r>
                      <a:endParaRPr sz="850" b="0">
                        <a:solidFill>
                          <a:srgbClr val="55544F"/>
                        </a:solidFill>
                        <a:latin typeface="Segoe UI" panose="020B0502040204020203"/>
                      </a:endParaRPr>
                    </a:p>
                  </a:txBody>
                  <a:tcPr anchor="ctr">
                    <a:solidFill>
                      <a:srgbClr val="F7F7F5"/>
                    </a:solidFill>
                  </a:tcPr>
                </a:tc>
                <a:tc>
                  <a:txBody>
                    <a:bodyPr/>
                    <a:lstStyle/>
                    <a:p>
                      <a:r>
                        <a:rPr sz="850" b="0">
                          <a:solidFill>
                            <a:srgbClr val="55544F"/>
                          </a:solidFill>
                          <a:latin typeface="Segoe UI" panose="020B0502040204020203"/>
                        </a:rPr>
                        <a:t>44 km</a:t>
                      </a:r>
                      <a:endParaRPr sz="850" b="0">
                        <a:solidFill>
                          <a:srgbClr val="55544F"/>
                        </a:solidFill>
                        <a:latin typeface="Segoe UI" panose="020B0502040204020203"/>
                      </a:endParaRPr>
                    </a:p>
                  </a:txBody>
                  <a:tcPr anchor="ctr">
                    <a:solidFill>
                      <a:srgbClr val="F7F7F5"/>
                    </a:solidFill>
                  </a:tcPr>
                </a:tc>
              </a:tr>
            </a:tbl>
          </a:graphicData>
        </a:graphic>
      </p:graphicFrame>
      <p:sp>
        <p:nvSpPr>
          <p:cNvPr id="17" name="TextBox 16"/>
          <p:cNvSpPr txBox="1"/>
          <p:nvPr/>
        </p:nvSpPr>
        <p:spPr>
          <a:xfrm>
            <a:off x="7863840" y="4160520"/>
            <a:ext cx="3794760" cy="1920240"/>
          </a:xfrm>
          <a:prstGeom prst="rect">
            <a:avLst/>
          </a:prstGeom>
          <a:noFill/>
        </p:spPr>
        <p:txBody>
          <a:bodyPr wrap="square" lIns="0" tIns="0" rIns="0" bIns="0">
            <a:spAutoFit/>
          </a:bodyPr>
          <a:lstStyle/>
          <a:p>
            <a:pPr algn="l">
              <a:lnSpc>
                <a:spcPct val="132000"/>
              </a:lnSpc>
            </a:pPr>
            <a:r>
              <a:rPr sz="1000" b="0">
                <a:solidFill>
                  <a:srgbClr val="55544F"/>
                </a:solidFill>
                <a:latin typeface="Segoe UI" panose="020B0502040204020203"/>
              </a:rPr>
              <a:t>Corrélation de Spearman moyenne avec le classement de référence : 0,971 sur 2 000 pondérations aléatoires, plus huit variantes structurelles (retrait de chaque composante, poids égaux, normalisation par rang).</a:t>
            </a:r>
            <a:endParaRPr sz="1000" b="0">
              <a:solidFill>
                <a:srgbClr val="55544F"/>
              </a:solidFill>
              <a:latin typeface="Segoe UI" panose="020B0502040204020203"/>
            </a:endParaRPr>
          </a:p>
          <a:p>
            <a:pPr algn="l">
              <a:lnSpc>
                <a:spcPct val="132000"/>
              </a:lnSpc>
            </a:pPr>
          </a:p>
          <a:p>
            <a:pPr algn="l">
              <a:lnSpc>
                <a:spcPct val="132000"/>
              </a:lnSpc>
            </a:pPr>
            <a:r>
              <a:rPr sz="1000" b="0">
                <a:solidFill>
                  <a:srgbClr val="55544F"/>
                </a:solidFill>
                <a:latin typeface="Segoe UI" panose="020B0502040204020203"/>
              </a:rPr>
              <a:t>Les territoires dont le rang dépend des pondérations ne sont pas présentés comme prioritaires.</a:t>
            </a:r>
            <a:endParaRPr sz="1000" b="0">
              <a:solidFill>
                <a:srgbClr val="55544F"/>
              </a:solidFill>
              <a:latin typeface="Segoe UI" panose="020B0502040204020203"/>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DÉCISION</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Recommandations stratégiques</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Cinq leviers, chacun déclenché par un seuil mesuré — aucune recommandation sans le chiffre qui la justifie.</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08 / 10</a:t>
            </a:r>
            <a:endParaRPr sz="800" b="1">
              <a:solidFill>
                <a:srgbClr val="8B8A84"/>
              </a:solidFill>
              <a:latin typeface="Consolas" panose="020B0609020204030204"/>
            </a:endParaRPr>
          </a:p>
        </p:txBody>
      </p:sp>
      <p:pic>
        <p:nvPicPr>
          <p:cNvPr id="14" name="Picture 13" descr="leviers.png"/>
          <p:cNvPicPr>
            <a:picLocks noChangeAspect="1"/>
          </p:cNvPicPr>
          <p:nvPr/>
        </p:nvPicPr>
        <p:blipFill>
          <a:blip r:embed="rId1"/>
          <a:stretch>
            <a:fillRect/>
          </a:stretch>
        </p:blipFill>
        <p:spPr>
          <a:xfrm>
            <a:off x="6309360" y="2148840"/>
            <a:ext cx="5349240" cy="2458581"/>
          </a:xfrm>
          <a:prstGeom prst="rect">
            <a:avLst/>
          </a:prstGeom>
        </p:spPr>
      </p:pic>
      <p:sp>
        <p:nvSpPr>
          <p:cNvPr id="15" name="Rectangle 14"/>
          <p:cNvSpPr/>
          <p:nvPr/>
        </p:nvSpPr>
        <p:spPr>
          <a:xfrm>
            <a:off x="566928"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1965960"/>
            <a:ext cx="531266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Densifier le réseau d'agents Mobile Money — levier rapide</a:t>
            </a:r>
            <a:endParaRPr sz="1100" b="1">
              <a:solidFill>
                <a:srgbClr val="12120F"/>
              </a:solidFill>
              <a:latin typeface="Segoe UI" panose="020B0502040204020203"/>
            </a:endParaRPr>
          </a:p>
        </p:txBody>
      </p:sp>
      <p:sp>
        <p:nvSpPr>
          <p:cNvPr id="17" name="TextBox 16"/>
          <p:cNvSpPr txBox="1"/>
          <p:nvPr/>
        </p:nvSpPr>
        <p:spPr>
          <a:xfrm>
            <a:off x="740664" y="2194560"/>
            <a:ext cx="531266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Déclencheur : plus de 800 habitants par point. S'appuie sur des commerces existants, sans construction.</a:t>
            </a:r>
            <a:endParaRPr sz="950" b="0">
              <a:solidFill>
                <a:srgbClr val="55544F"/>
              </a:solidFill>
              <a:latin typeface="Segoe UI" panose="020B0502040204020203"/>
            </a:endParaRPr>
          </a:p>
        </p:txBody>
      </p:sp>
      <p:sp>
        <p:nvSpPr>
          <p:cNvPr id="18" name="Rectangle 17"/>
          <p:cNvSpPr/>
          <p:nvPr/>
        </p:nvSpPr>
        <p:spPr>
          <a:xfrm>
            <a:off x="566928" y="269595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645664"/>
            <a:ext cx="531266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Implanter un point de présence opérateur — levier structurel</a:t>
            </a:r>
            <a:endParaRPr sz="1100" b="1">
              <a:solidFill>
                <a:srgbClr val="12120F"/>
              </a:solidFill>
              <a:latin typeface="Segoe UI" panose="020B0502040204020203"/>
            </a:endParaRPr>
          </a:p>
        </p:txBody>
      </p:sp>
      <p:sp>
        <p:nvSpPr>
          <p:cNvPr id="20" name="TextBox 19"/>
          <p:cNvSpPr txBox="1"/>
          <p:nvPr/>
        </p:nvSpPr>
        <p:spPr>
          <a:xfrm>
            <a:off x="740664" y="2874264"/>
            <a:ext cx="531266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Déclencheur : aucune agence active. Seul levier créant un guichet là où il n'en existe aucun.</a:t>
            </a:r>
            <a:endParaRPr sz="950" b="0">
              <a:solidFill>
                <a:srgbClr val="55544F"/>
              </a:solidFill>
              <a:latin typeface="Segoe UI" panose="020B0502040204020203"/>
            </a:endParaRPr>
          </a:p>
        </p:txBody>
      </p:sp>
      <p:sp>
        <p:nvSpPr>
          <p:cNvPr id="21" name="Rectangle 20"/>
          <p:cNvSpPr/>
          <p:nvPr/>
        </p:nvSpPr>
        <p:spPr>
          <a:xfrm>
            <a:off x="566928" y="3375660"/>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325368"/>
            <a:ext cx="531266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Répartir le maillage plutôt qu'un point unique</a:t>
            </a:r>
            <a:endParaRPr sz="1100" b="1">
              <a:solidFill>
                <a:srgbClr val="12120F"/>
              </a:solidFill>
              <a:latin typeface="Segoe UI" panose="020B0502040204020203"/>
            </a:endParaRPr>
          </a:p>
        </p:txBody>
      </p:sp>
      <p:sp>
        <p:nvSpPr>
          <p:cNvPr id="23" name="TextBox 22"/>
          <p:cNvSpPr txBox="1"/>
          <p:nvPr/>
        </p:nvSpPr>
        <p:spPr>
          <a:xfrm>
            <a:off x="740664" y="3553968"/>
            <a:ext cx="531266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Déclencheur : 25 km ou plus jusqu'à une agence active. Quand l'éloignement domine, un guichet au chef-lieu ne règle rien.</a:t>
            </a:r>
            <a:endParaRPr sz="950" b="0">
              <a:solidFill>
                <a:srgbClr val="55544F"/>
              </a:solidFill>
              <a:latin typeface="Segoe UI" panose="020B0502040204020203"/>
            </a:endParaRPr>
          </a:p>
        </p:txBody>
      </p:sp>
      <p:sp>
        <p:nvSpPr>
          <p:cNvPr id="24" name="Rectangle 23"/>
          <p:cNvSpPr/>
          <p:nvPr/>
        </p:nvSpPr>
        <p:spPr>
          <a:xfrm>
            <a:off x="566928" y="4055364"/>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4005072"/>
            <a:ext cx="531266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Ouvrir la concurrence entre opérateurs</a:t>
            </a:r>
            <a:endParaRPr sz="1100" b="1">
              <a:solidFill>
                <a:srgbClr val="12120F"/>
              </a:solidFill>
              <a:latin typeface="Segoe UI" panose="020B0502040204020203"/>
            </a:endParaRPr>
          </a:p>
        </p:txBody>
      </p:sp>
      <p:sp>
        <p:nvSpPr>
          <p:cNvPr id="26" name="TextBox 25"/>
          <p:cNvSpPr txBox="1"/>
          <p:nvPr/>
        </p:nvSpPr>
        <p:spPr>
          <a:xfrm>
            <a:off x="740664" y="4233672"/>
            <a:ext cx="531266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Déclencheur : un seul opérateur présent. 4 773 points ne servent que Togocom contre 1 018 pour Moov seul.</a:t>
            </a:r>
            <a:endParaRPr sz="950" b="0">
              <a:solidFill>
                <a:srgbClr val="55544F"/>
              </a:solidFill>
              <a:latin typeface="Segoe UI" panose="020B0502040204020203"/>
            </a:endParaRPr>
          </a:p>
        </p:txBody>
      </p:sp>
      <p:sp>
        <p:nvSpPr>
          <p:cNvPr id="27" name="Rectangle 26"/>
          <p:cNvSpPr/>
          <p:nvPr/>
        </p:nvSpPr>
        <p:spPr>
          <a:xfrm>
            <a:off x="6309360" y="4937760"/>
            <a:ext cx="5349240" cy="1234440"/>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937760"/>
            <a:ext cx="32004" cy="123444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5120640"/>
            <a:ext cx="4937760" cy="914400"/>
          </a:xfrm>
          <a:prstGeom prst="rect">
            <a:avLst/>
          </a:prstGeom>
          <a:noFill/>
        </p:spPr>
        <p:txBody>
          <a:bodyPr wrap="square" lIns="0" tIns="0" rIns="0" bIns="0">
            <a:spAutoFit/>
          </a:bodyPr>
          <a:lstStyle/>
          <a:p>
            <a:pPr algn="l">
              <a:lnSpc>
                <a:spcPct val="132000"/>
              </a:lnSpc>
            </a:pPr>
            <a:r>
              <a:rPr sz="1000" b="0">
                <a:solidFill>
                  <a:srgbClr val="55544F"/>
                </a:solidFill>
                <a:latin typeface="Segoe UI" panose="020B0502040204020203"/>
              </a:rPr>
              <a:t>Les 9 territoires prioritaires représentent 1 080 723 habitants, soit 13 % de la population nationale. Les porter à 409 hab./point demanderait 1 497 points Mobile Money supplémentaires.</a:t>
            </a:r>
            <a:endParaRPr sz="1000" b="0">
              <a:solidFill>
                <a:srgbClr val="55544F"/>
              </a:solidFill>
              <a:latin typeface="Segoe UI" panose="020B0502040204020203"/>
            </a:endParaRPr>
          </a:p>
          <a:p>
            <a:pPr algn="l">
              <a:lnSpc>
                <a:spcPct val="132000"/>
              </a:lnSpc>
            </a:pPr>
            <a:r>
              <a:rPr sz="1000" b="0">
                <a:solidFill>
                  <a:srgbClr val="55544F"/>
                </a:solidFill>
                <a:latin typeface="Segoe UI" panose="020B0502040204020203"/>
              </a:rPr>
              <a:t>Un même territoire peut relever de plusieurs leviers : les populations ne s'additionnent pas d'un levier à l'autre.</a:t>
            </a:r>
            <a:endParaRPr sz="1000" b="0">
              <a:solidFill>
                <a:srgbClr val="55544F"/>
              </a:solidFill>
              <a:latin typeface="Segoe UI" panose="020B0502040204020203"/>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PRÉCAUTIONS</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Limites et précautions d'interprétation</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Ce diagnostic mesure un déficit d'accès aux services — pas une absence de réseau mobile. La distinction est décisive.</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09 / 10</a:t>
            </a:r>
            <a:endParaRPr sz="800" b="1">
              <a:solidFill>
                <a:srgbClr val="8B8A84"/>
              </a:solidFill>
              <a:latin typeface="Consolas" panose="020B0609020204030204"/>
            </a:endParaRPr>
          </a:p>
        </p:txBody>
      </p:sp>
      <p:sp>
        <p:nvSpPr>
          <p:cNvPr id="14" name="Rectangle 13"/>
          <p:cNvSpPr/>
          <p:nvPr/>
        </p:nvSpPr>
        <p:spPr>
          <a:xfrm>
            <a:off x="566928"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1965960"/>
            <a:ext cx="540410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La couverture réseau n'est pas mesurée</a:t>
            </a:r>
            <a:endParaRPr sz="1100" b="1">
              <a:solidFill>
                <a:srgbClr val="12120F"/>
              </a:solidFill>
              <a:latin typeface="Segoe UI" panose="020B0502040204020203"/>
            </a:endParaRPr>
          </a:p>
        </p:txBody>
      </p:sp>
      <p:sp>
        <p:nvSpPr>
          <p:cNvPr id="16" name="TextBox 15"/>
          <p:cNvSpPr txBox="1"/>
          <p:nvPr/>
        </p:nvSpPr>
        <p:spPr>
          <a:xfrm>
            <a:off x="740664" y="2194560"/>
            <a:ext cx="5404104" cy="477774"/>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Une zone sans agence ni agent Mobile Money n'est pas nécessairement une zone sans réseau mobile. Les 41 cantons signalés par le proxy sont à vérifier, pas des zones blanches avérées.</a:t>
            </a:r>
            <a:endParaRPr sz="950" b="0">
              <a:solidFill>
                <a:srgbClr val="55544F"/>
              </a:solidFill>
              <a:latin typeface="Segoe UI" panose="020B0502040204020203"/>
            </a:endParaRPr>
          </a:p>
        </p:txBody>
      </p:sp>
      <p:sp>
        <p:nvSpPr>
          <p:cNvPr id="17" name="Rectangle 16"/>
          <p:cNvSpPr/>
          <p:nvPr/>
        </p:nvSpPr>
        <p:spPr>
          <a:xfrm>
            <a:off x="566928" y="2855214"/>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04922"/>
            <a:ext cx="540410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Les agences CANAL+ sont absentes</a:t>
            </a:r>
            <a:endParaRPr sz="1100" b="1">
              <a:solidFill>
                <a:srgbClr val="12120F"/>
              </a:solidFill>
              <a:latin typeface="Segoe UI" panose="020B0502040204020203"/>
            </a:endParaRPr>
          </a:p>
        </p:txBody>
      </p:sp>
      <p:sp>
        <p:nvSpPr>
          <p:cNvPr id="19" name="TextBox 18"/>
          <p:cNvSpPr txBox="1"/>
          <p:nvPr/>
        </p:nvSpPr>
        <p:spPr>
          <a:xfrm>
            <a:off x="740664" y="3033522"/>
            <a:ext cx="540410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Fichier source vide. Le déficit porte sur les 88 agences actives Moov et Togocom (2 fermées exclues sur 90 recensées).</a:t>
            </a:r>
            <a:endParaRPr sz="950" b="0">
              <a:solidFill>
                <a:srgbClr val="55544F"/>
              </a:solidFill>
              <a:latin typeface="Segoe UI" panose="020B0502040204020203"/>
            </a:endParaRPr>
          </a:p>
        </p:txBody>
      </p:sp>
      <p:sp>
        <p:nvSpPr>
          <p:cNvPr id="20" name="Rectangle 19"/>
          <p:cNvSpPr/>
          <p:nvPr/>
        </p:nvSpPr>
        <p:spPr>
          <a:xfrm>
            <a:off x="566928" y="3534918"/>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3484626"/>
            <a:ext cx="540410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Le diagnostic décrit 2021-2022</a:t>
            </a:r>
            <a:endParaRPr sz="1100" b="1">
              <a:solidFill>
                <a:srgbClr val="12120F"/>
              </a:solidFill>
              <a:latin typeface="Segoe UI" panose="020B0502040204020203"/>
            </a:endParaRPr>
          </a:p>
        </p:txBody>
      </p:sp>
      <p:sp>
        <p:nvSpPr>
          <p:cNvPr id="22" name="TextBox 21"/>
          <p:cNvSpPr txBox="1"/>
          <p:nvPr/>
        </p:nvSpPr>
        <p:spPr>
          <a:xfrm>
            <a:off x="740664" y="3713226"/>
            <a:ext cx="540410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Tout déploiement postérieur est invisible. La hiérarchie des besoins reste valable tant que les écarts ne sont pas comblés.</a:t>
            </a:r>
            <a:endParaRPr sz="950" b="0">
              <a:solidFill>
                <a:srgbClr val="55544F"/>
              </a:solidFill>
              <a:latin typeface="Segoe UI" panose="020B0502040204020203"/>
            </a:endParaRPr>
          </a:p>
        </p:txBody>
      </p:sp>
      <p:sp>
        <p:nvSpPr>
          <p:cNvPr id="23" name="Rectangle 22"/>
          <p:cNvSpPr/>
          <p:nvPr/>
        </p:nvSpPr>
        <p:spPr>
          <a:xfrm>
            <a:off x="6492240"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1965960"/>
            <a:ext cx="494690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Les scores communaux et préfectoraux ne sont pas comparables</a:t>
            </a:r>
            <a:endParaRPr sz="1100" b="1">
              <a:solidFill>
                <a:srgbClr val="12120F"/>
              </a:solidFill>
              <a:latin typeface="Segoe UI" panose="020B0502040204020203"/>
            </a:endParaRPr>
          </a:p>
        </p:txBody>
      </p:sp>
      <p:sp>
        <p:nvSpPr>
          <p:cNvPr id="25" name="TextBox 24"/>
          <p:cNvSpPr txBox="1"/>
          <p:nvPr/>
        </p:nvSpPr>
        <p:spPr>
          <a:xfrm>
            <a:off x="6665976" y="2194560"/>
            <a:ext cx="4946904" cy="318516"/>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La composante d'éloignement ne repose pas sur la même mesure aux deux niveaux. Les rangs se lisent à l'intérieur de chaque niveau.</a:t>
            </a:r>
            <a:endParaRPr sz="950" b="0">
              <a:solidFill>
                <a:srgbClr val="55544F"/>
              </a:solidFill>
              <a:latin typeface="Segoe UI" panose="020B0502040204020203"/>
            </a:endParaRPr>
          </a:p>
        </p:txBody>
      </p:sp>
      <p:sp>
        <p:nvSpPr>
          <p:cNvPr id="26" name="Rectangle 25"/>
          <p:cNvSpPr/>
          <p:nvPr/>
        </p:nvSpPr>
        <p:spPr>
          <a:xfrm>
            <a:off x="6492240" y="269595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65976" y="2645664"/>
            <a:ext cx="494690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Un score élevé signale un besoin, pas une solution</a:t>
            </a:r>
            <a:endParaRPr sz="1100" b="1">
              <a:solidFill>
                <a:srgbClr val="12120F"/>
              </a:solidFill>
              <a:latin typeface="Segoe UI" panose="020B0502040204020203"/>
            </a:endParaRPr>
          </a:p>
        </p:txBody>
      </p:sp>
      <p:sp>
        <p:nvSpPr>
          <p:cNvPr id="28" name="TextBox 27"/>
          <p:cNvSpPr txBox="1"/>
          <p:nvPr/>
        </p:nvSpPr>
        <p:spPr>
          <a:xfrm>
            <a:off x="6665976" y="2874264"/>
            <a:ext cx="4946904" cy="477774"/>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L'indice ne dit rien du coût, de la faisabilité ni de la rentabilité d'une intervention. Il hiérarchise des besoins mesurés — préalable à un arbitrage, jamais son substitut.</a:t>
            </a:r>
            <a:endParaRPr sz="950" b="0">
              <a:solidFill>
                <a:srgbClr val="55544F"/>
              </a:solidFill>
              <a:latin typeface="Segoe UI" panose="020B0502040204020203"/>
            </a:endParaRPr>
          </a:p>
        </p:txBody>
      </p:sp>
      <p:sp>
        <p:nvSpPr>
          <p:cNvPr id="29" name="Rectangle 28"/>
          <p:cNvSpPr/>
          <p:nvPr/>
        </p:nvSpPr>
        <p:spPr>
          <a:xfrm>
            <a:off x="6492240" y="3534918"/>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65976" y="3484626"/>
            <a:ext cx="4946904" cy="219456"/>
          </a:xfrm>
          <a:prstGeom prst="rect">
            <a:avLst/>
          </a:prstGeom>
          <a:noFill/>
        </p:spPr>
        <p:txBody>
          <a:bodyPr wrap="square" lIns="0" tIns="0" rIns="0" bIns="0">
            <a:spAutoFit/>
          </a:bodyPr>
          <a:lstStyle/>
          <a:p>
            <a:pPr algn="l">
              <a:lnSpc>
                <a:spcPct val="122000"/>
              </a:lnSpc>
            </a:pPr>
            <a:r>
              <a:rPr sz="1100" b="1">
                <a:solidFill>
                  <a:srgbClr val="12120F"/>
                </a:solidFill>
                <a:latin typeface="Segoe UI" panose="020B0502040204020203"/>
              </a:rPr>
              <a:t>La structure par âge n'est pas prise en compte</a:t>
            </a:r>
            <a:endParaRPr sz="1100" b="1">
              <a:solidFill>
                <a:srgbClr val="12120F"/>
              </a:solidFill>
              <a:latin typeface="Segoe UI" panose="020B0502040204020203"/>
            </a:endParaRPr>
          </a:p>
        </p:txBody>
      </p:sp>
      <p:sp>
        <p:nvSpPr>
          <p:cNvPr id="31" name="TextBox 30"/>
          <p:cNvSpPr txBox="1"/>
          <p:nvPr/>
        </p:nvSpPr>
        <p:spPr>
          <a:xfrm>
            <a:off x="6665976" y="3713226"/>
            <a:ext cx="4946904" cy="477774"/>
          </a:xfrm>
          <a:prstGeom prst="rect">
            <a:avLst/>
          </a:prstGeom>
          <a:noFill/>
        </p:spPr>
        <p:txBody>
          <a:bodyPr wrap="square" lIns="0" tIns="0" rIns="0" bIns="0">
            <a:spAutoFit/>
          </a:bodyPr>
          <a:lstStyle/>
          <a:p>
            <a:pPr algn="l">
              <a:lnSpc>
                <a:spcPct val="132000"/>
              </a:lnSpc>
            </a:pPr>
            <a:r>
              <a:rPr sz="950" b="0">
                <a:solidFill>
                  <a:srgbClr val="55544F"/>
                </a:solidFill>
                <a:latin typeface="Segoe UI" panose="020B0502040204020203"/>
              </a:rPr>
              <a:t>Un dénominateur « 15 ans et plus » serait plus juste. Les tableaux d'âges n'ont pas pu être extraits avec une garantie arithmétique suffisante : ils ont été écartés plutôt que repris sans contrôle.</a:t>
            </a:r>
            <a:endParaRPr sz="950" b="0">
              <a:solidFill>
                <a:srgbClr val="55544F"/>
              </a:solidFill>
              <a:latin typeface="Segoe UI" panose="020B0502040204020203"/>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tIns="0" rIns="0" bIns="0">
            <a:spAutoFit/>
          </a:bodyPr>
          <a:lstStyle/>
          <a:p>
            <a:pPr algn="l">
              <a:lnSpc>
                <a:spcPct val="122000"/>
              </a:lnSpc>
            </a:pPr>
            <a:r>
              <a:rPr sz="900" b="1">
                <a:solidFill>
                  <a:srgbClr val="8B8A84"/>
                </a:solidFill>
                <a:latin typeface="Consolas" panose="020B0609020204030204"/>
              </a:rPr>
              <a:t>CONCLUSION</a:t>
            </a:r>
            <a:endParaRPr sz="900" b="1">
              <a:solidFill>
                <a:srgbClr val="8B8A84"/>
              </a:solidFill>
              <a:latin typeface="Consolas" panose="020B0609020204030204"/>
            </a:endParaRPr>
          </a:p>
        </p:txBody>
      </p:sp>
      <p:sp>
        <p:nvSpPr>
          <p:cNvPr id="7" name="TextBox 6"/>
          <p:cNvSpPr txBox="1"/>
          <p:nvPr/>
        </p:nvSpPr>
        <p:spPr>
          <a:xfrm>
            <a:off x="566928" y="548640"/>
            <a:ext cx="8595360" cy="566928"/>
          </a:xfrm>
          <a:prstGeom prst="rect">
            <a:avLst/>
          </a:prstGeom>
          <a:noFill/>
        </p:spPr>
        <p:txBody>
          <a:bodyPr wrap="square" lIns="0" tIns="0" rIns="0" bIns="0">
            <a:spAutoFit/>
          </a:bodyPr>
          <a:lstStyle/>
          <a:p>
            <a:pPr algn="l">
              <a:lnSpc>
                <a:spcPct val="122000"/>
              </a:lnSpc>
            </a:pPr>
            <a:r>
              <a:rPr sz="2800" b="1">
                <a:solidFill>
                  <a:srgbClr val="12120F"/>
                </a:solidFill>
                <a:latin typeface="Segoe UI" panose="020B0502040204020203"/>
              </a:rPr>
              <a:t>Objectifs du sujet → réponses fournies</a:t>
            </a:r>
            <a:endParaRPr sz="2800" b="1">
              <a:solidFill>
                <a:srgbClr val="12120F"/>
              </a:solidFill>
              <a:latin typeface="Segoe UI" panose="020B0502040204020203"/>
            </a:endParaRP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tIns="0" rIns="0" bIns="0">
            <a:spAutoFit/>
          </a:bodyPr>
          <a:lstStyle/>
          <a:p>
            <a:pPr algn="l">
              <a:lnSpc>
                <a:spcPct val="122000"/>
              </a:lnSpc>
            </a:pPr>
            <a:r>
              <a:rPr sz="1350" b="1">
                <a:solidFill>
                  <a:srgbClr val="0F4D3B"/>
                </a:solidFill>
                <a:latin typeface="Segoe UI" panose="020B0502040204020203"/>
              </a:rPr>
              <a:t>Quatre objectifs traités ; la couverture mobile, non mesurable en open data, devient une limite critique.</a:t>
            </a:r>
            <a:endParaRPr sz="1350" b="1">
              <a:solidFill>
                <a:srgbClr val="0F4D3B"/>
              </a:solidFill>
              <a:latin typeface="Segoe UI" panose="020B0502040204020203"/>
            </a:endParaRP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tIns="0" rIns="0" bIns="0">
            <a:spAutoFit/>
          </a:bodyPr>
          <a:lstStyle/>
          <a:p>
            <a:pPr algn="l">
              <a:lnSpc>
                <a:spcPct val="122000"/>
              </a:lnSpc>
            </a:pPr>
            <a:r>
              <a:rPr sz="800" b="0">
                <a:solidFill>
                  <a:srgbClr val="8B8A84"/>
                </a:solidFill>
                <a:latin typeface="Consolas" panose="020B0609020204030204"/>
              </a:rPr>
              <a:t>République togolaise · Défi Économie numérique · Données ouvertes PRISE 2021-2022, RGPH-5 2022, COD-AB 2021</a:t>
            </a:r>
            <a:endParaRPr sz="800" b="0">
              <a:solidFill>
                <a:srgbClr val="8B8A84"/>
              </a:solidFill>
              <a:latin typeface="Consolas" panose="020B0609020204030204"/>
            </a:endParaRPr>
          </a:p>
        </p:txBody>
      </p:sp>
      <p:sp>
        <p:nvSpPr>
          <p:cNvPr id="13" name="TextBox 12"/>
          <p:cNvSpPr txBox="1"/>
          <p:nvPr/>
        </p:nvSpPr>
        <p:spPr>
          <a:xfrm>
            <a:off x="10527487" y="6473952"/>
            <a:ext cx="1097280" cy="237744"/>
          </a:xfrm>
          <a:prstGeom prst="rect">
            <a:avLst/>
          </a:prstGeom>
          <a:noFill/>
        </p:spPr>
        <p:txBody>
          <a:bodyPr wrap="square" lIns="0" tIns="0" rIns="0" bIns="0">
            <a:spAutoFit/>
          </a:bodyPr>
          <a:lstStyle/>
          <a:p>
            <a:pPr algn="r">
              <a:lnSpc>
                <a:spcPct val="122000"/>
              </a:lnSpc>
            </a:pPr>
            <a:r>
              <a:rPr sz="800" b="1">
                <a:solidFill>
                  <a:srgbClr val="8B8A84"/>
                </a:solidFill>
                <a:latin typeface="Consolas" panose="020B0609020204030204"/>
              </a:rPr>
              <a:t>10 / 10</a:t>
            </a:r>
            <a:endParaRPr sz="800" b="1">
              <a:solidFill>
                <a:srgbClr val="8B8A84"/>
              </a:solidFill>
              <a:latin typeface="Consolas" panose="020B0609020204030204"/>
            </a:endParaRPr>
          </a:p>
        </p:txBody>
      </p:sp>
      <p:sp>
        <p:nvSpPr>
          <p:cNvPr id="14" name="Rectangle 13"/>
          <p:cNvSpPr/>
          <p:nvPr/>
        </p:nvSpPr>
        <p:spPr>
          <a:xfrm>
            <a:off x="566928" y="193852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193852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2057400"/>
            <a:ext cx="3063240" cy="457200"/>
          </a:xfrm>
          <a:prstGeom prst="rect">
            <a:avLst/>
          </a:prstGeom>
          <a:noFill/>
        </p:spPr>
        <p:txBody>
          <a:bodyPr wrap="square" lIns="0" tIns="0" rIns="0" bIns="0">
            <a:spAutoFit/>
          </a:bodyPr>
          <a:lstStyle/>
          <a:p>
            <a:pPr algn="l">
              <a:lnSpc>
                <a:spcPct val="120000"/>
              </a:lnSpc>
            </a:pPr>
            <a:r>
              <a:rPr sz="1100" b="1">
                <a:solidFill>
                  <a:srgbClr val="12120F"/>
                </a:solidFill>
                <a:latin typeface="Segoe UI" panose="020B0502040204020203"/>
              </a:rPr>
              <a:t>1 · Cartographier agences et centres de données</a:t>
            </a:r>
            <a:endParaRPr sz="1100" b="1">
              <a:solidFill>
                <a:srgbClr val="12120F"/>
              </a:solidFill>
              <a:latin typeface="Segoe UI" panose="020B0502040204020203"/>
            </a:endParaRPr>
          </a:p>
        </p:txBody>
      </p:sp>
      <p:sp>
        <p:nvSpPr>
          <p:cNvPr id="17" name="TextBox 16"/>
          <p:cNvSpPr txBox="1"/>
          <p:nvPr/>
        </p:nvSpPr>
        <p:spPr>
          <a:xfrm>
            <a:off x="3904488" y="2029968"/>
            <a:ext cx="274320" cy="365760"/>
          </a:xfrm>
          <a:prstGeom prst="rect">
            <a:avLst/>
          </a:prstGeom>
          <a:noFill/>
        </p:spPr>
        <p:txBody>
          <a:bodyPr wrap="square" lIns="0" tIns="0" rIns="0" bIns="0">
            <a:spAutoFit/>
          </a:bodyPr>
          <a:lstStyle/>
          <a:p>
            <a:pPr algn="l">
              <a:lnSpc>
                <a:spcPct val="122000"/>
              </a:lnSpc>
            </a:pPr>
            <a:r>
              <a:rPr sz="1600" b="1">
                <a:solidFill>
                  <a:srgbClr val="8B8A84"/>
                </a:solidFill>
                <a:latin typeface="Segoe UI" panose="020B0502040204020203"/>
              </a:rPr>
              <a:t>→</a:t>
            </a:r>
            <a:endParaRPr sz="1600" b="1">
              <a:solidFill>
                <a:srgbClr val="8B8A84"/>
              </a:solidFill>
              <a:latin typeface="Segoe UI" panose="020B0502040204020203"/>
            </a:endParaRPr>
          </a:p>
        </p:txBody>
      </p:sp>
      <p:sp>
        <p:nvSpPr>
          <p:cNvPr id="18" name="TextBox 17"/>
          <p:cNvSpPr txBox="1"/>
          <p:nvPr/>
        </p:nvSpPr>
        <p:spPr>
          <a:xfrm>
            <a:off x="4224528" y="2029968"/>
            <a:ext cx="5806440" cy="548005"/>
          </a:xfrm>
          <a:prstGeom prst="rect">
            <a:avLst/>
          </a:prstGeom>
          <a:noFill/>
        </p:spPr>
        <p:txBody>
          <a:bodyPr wrap="square" lIns="0" tIns="0" rIns="0" bIns="0">
            <a:spAutoFit/>
          </a:bodyPr>
          <a:lstStyle/>
          <a:p>
            <a:pPr algn="l">
              <a:lnSpc>
                <a:spcPct val="125000"/>
              </a:lnSpc>
            </a:pPr>
            <a:r>
              <a:rPr sz="950" b="0">
                <a:solidFill>
                  <a:srgbClr val="55544F"/>
                </a:solidFill>
                <a:latin typeface="Segoe UI" panose="020B0502040204020203"/>
              </a:rPr>
              <a:t>90 agences recensées après dédoublonnage, dont 88 actives : 28 Moov et 60 Togocom actives — et 3 centres de données, concentrés dans le Grand Lomé. « Télécom » est un doublon ; CANAL+ est vide à la source.</a:t>
            </a:r>
            <a:r>
              <a:rPr lang="en-US" altLang="fr-FR" sz="950" b="0">
                <a:solidFill>
                  <a:srgbClr val="55544F"/>
                </a:solidFill>
                <a:latin typeface="Segoe UI" panose="020B0502040204020203"/>
              </a:rPr>
              <a:t/>
            </a:r>
            <a:r>
              <a:rPr lang="en-US" altLang="en-US" sz="950" b="0">
                <a:solidFill>
                  <a:srgbClr val="55544F"/>
                </a:solidFill>
                <a:latin typeface="Segoe UI" panose="020B0502040204020203"/>
              </a:rPr>
              <a:t/>
            </a:r>
            <a:r>
              <a:rPr lang="en-US" altLang="fr-FR" sz="950" b="0">
                <a:solidFill>
                  <a:srgbClr val="55544F"/>
                </a:solidFill>
                <a:latin typeface="Segoe UI" panose="020B0502040204020203"/>
              </a:rPr>
              <a:t/>
            </a:r>
            <a:r>
              <a:rPr lang="en-US" altLang="en-US" sz="950" b="0">
                <a:solidFill>
                  <a:srgbClr val="55544F"/>
                </a:solidFill>
                <a:latin typeface="Segoe UI" panose="020B0502040204020203"/>
              </a:rPr>
              <a:t/>
            </a:r>
            <a:r>
              <a:rPr lang="en-US" altLang="fr-FR" sz="950" b="0">
                <a:solidFill>
                  <a:srgbClr val="55544F"/>
                </a:solidFill>
                <a:latin typeface="Segoe UI" panose="020B0502040204020203"/>
              </a:rPr>
              <a:t/>
            </a:r>
            <a:r>
              <a:rPr lang="en-US" altLang="en-US" sz="950" b="0">
                <a:solidFill>
                  <a:srgbClr val="55544F"/>
                </a:solidFill>
                <a:latin typeface="Segoe UI" panose="020B0502040204020203"/>
              </a:rPr>
              <a:t/>
            </a:r>
            <a:r>
              <a:rPr sz="950" b="0">
                <a:solidFill>
                  <a:srgbClr val="55544F"/>
                </a:solidFill>
                <a:latin typeface="Segoe UI" panose="020B0502040204020203"/>
              </a:rPr>
              <a:t/>
            </a:r>
            <a:endParaRPr sz="950" b="0">
              <a:solidFill>
                <a:srgbClr val="55544F"/>
              </a:solidFill>
              <a:latin typeface="Segoe UI" panose="020B0502040204020203"/>
            </a:endParaRPr>
          </a:p>
        </p:txBody>
      </p:sp>
      <p:sp>
        <p:nvSpPr>
          <p:cNvPr id="19" name="Rectangle 18"/>
          <p:cNvSpPr/>
          <p:nvPr/>
        </p:nvSpPr>
        <p:spPr>
          <a:xfrm>
            <a:off x="10207447" y="212140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7447" y="2171700"/>
            <a:ext cx="1280160" cy="219456"/>
          </a:xfrm>
          <a:prstGeom prst="rect">
            <a:avLst/>
          </a:prstGeom>
          <a:noFill/>
        </p:spPr>
        <p:txBody>
          <a:bodyPr wrap="square" lIns="0" tIns="0" rIns="0" bIns="0">
            <a:spAutoFit/>
          </a:bodyPr>
          <a:lstStyle/>
          <a:p>
            <a:pPr algn="ctr">
              <a:lnSpc>
                <a:spcPct val="122000"/>
              </a:lnSpc>
            </a:pPr>
            <a:r>
              <a:rPr sz="800" b="1">
                <a:solidFill>
                  <a:srgbClr val="FFFFFF"/>
                </a:solidFill>
                <a:latin typeface="Consolas" panose="020B0609020204030204"/>
              </a:rPr>
              <a:t>TRAITÉ</a:t>
            </a:r>
            <a:endParaRPr sz="800" b="1">
              <a:solidFill>
                <a:srgbClr val="FFFFFF"/>
              </a:solidFill>
              <a:latin typeface="Consolas" panose="020B0609020204030204"/>
            </a:endParaRPr>
          </a:p>
        </p:txBody>
      </p:sp>
      <p:sp>
        <p:nvSpPr>
          <p:cNvPr id="21" name="Rectangle 20"/>
          <p:cNvSpPr/>
          <p:nvPr/>
        </p:nvSpPr>
        <p:spPr>
          <a:xfrm>
            <a:off x="566928" y="267004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267004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2788920"/>
            <a:ext cx="3063240" cy="457200"/>
          </a:xfrm>
          <a:prstGeom prst="rect">
            <a:avLst/>
          </a:prstGeom>
          <a:noFill/>
        </p:spPr>
        <p:txBody>
          <a:bodyPr wrap="square" lIns="0" tIns="0" rIns="0" bIns="0">
            <a:spAutoFit/>
          </a:bodyPr>
          <a:lstStyle/>
          <a:p>
            <a:pPr algn="l">
              <a:lnSpc>
                <a:spcPct val="120000"/>
              </a:lnSpc>
            </a:pPr>
            <a:r>
              <a:rPr sz="1100" b="1">
                <a:solidFill>
                  <a:srgbClr val="12120F"/>
                </a:solidFill>
                <a:latin typeface="Segoe UI" panose="020B0502040204020203"/>
              </a:rPr>
              <a:t>2 · Mobile Money au regard de la population</a:t>
            </a:r>
            <a:endParaRPr sz="1100" b="1">
              <a:solidFill>
                <a:srgbClr val="12120F"/>
              </a:solidFill>
              <a:latin typeface="Segoe UI" panose="020B0502040204020203"/>
            </a:endParaRPr>
          </a:p>
        </p:txBody>
      </p:sp>
      <p:sp>
        <p:nvSpPr>
          <p:cNvPr id="24" name="TextBox 23"/>
          <p:cNvSpPr txBox="1"/>
          <p:nvPr/>
        </p:nvSpPr>
        <p:spPr>
          <a:xfrm>
            <a:off x="3904488" y="2761488"/>
            <a:ext cx="274320" cy="365760"/>
          </a:xfrm>
          <a:prstGeom prst="rect">
            <a:avLst/>
          </a:prstGeom>
          <a:noFill/>
        </p:spPr>
        <p:txBody>
          <a:bodyPr wrap="square" lIns="0" tIns="0" rIns="0" bIns="0">
            <a:spAutoFit/>
          </a:bodyPr>
          <a:lstStyle/>
          <a:p>
            <a:pPr algn="l">
              <a:lnSpc>
                <a:spcPct val="122000"/>
              </a:lnSpc>
            </a:pPr>
            <a:r>
              <a:rPr sz="1600" b="1">
                <a:solidFill>
                  <a:srgbClr val="8B8A84"/>
                </a:solidFill>
                <a:latin typeface="Segoe UI" panose="020B0502040204020203"/>
              </a:rPr>
              <a:t>→</a:t>
            </a:r>
            <a:endParaRPr sz="1600" b="1">
              <a:solidFill>
                <a:srgbClr val="8B8A84"/>
              </a:solidFill>
              <a:latin typeface="Segoe UI" panose="020B0502040204020203"/>
            </a:endParaRPr>
          </a:p>
        </p:txBody>
      </p:sp>
      <p:sp>
        <p:nvSpPr>
          <p:cNvPr id="25" name="TextBox 24"/>
          <p:cNvSpPr txBox="1"/>
          <p:nvPr/>
        </p:nvSpPr>
        <p:spPr>
          <a:xfrm>
            <a:off x="4224528" y="2761488"/>
            <a:ext cx="5806440" cy="548640"/>
          </a:xfrm>
          <a:prstGeom prst="rect">
            <a:avLst/>
          </a:prstGeom>
          <a:noFill/>
        </p:spPr>
        <p:txBody>
          <a:bodyPr wrap="square" lIns="0" tIns="0" rIns="0" bIns="0">
            <a:spAutoFit/>
          </a:bodyPr>
          <a:lstStyle/>
          <a:p>
            <a:pPr algn="l">
              <a:lnSpc>
                <a:spcPct val="125000"/>
              </a:lnSpc>
            </a:pPr>
            <a:r>
              <a:rPr sz="950" b="0">
                <a:solidFill>
                  <a:srgbClr val="55544F"/>
                </a:solidFill>
                <a:latin typeface="Segoe UI" panose="020B0502040204020203"/>
              </a:rPr>
              <a:t>409 habitants par point en moyenne, de 1 à 12,7 entre préfectures ; la moitié la moins desservie de la population ne dispose que de 27 % des points.</a:t>
            </a:r>
            <a:endParaRPr sz="950" b="0">
              <a:solidFill>
                <a:srgbClr val="55544F"/>
              </a:solidFill>
              <a:latin typeface="Segoe UI" panose="020B0502040204020203"/>
            </a:endParaRPr>
          </a:p>
        </p:txBody>
      </p:sp>
      <p:sp>
        <p:nvSpPr>
          <p:cNvPr id="26" name="Rectangle 25"/>
          <p:cNvSpPr/>
          <p:nvPr/>
        </p:nvSpPr>
        <p:spPr>
          <a:xfrm>
            <a:off x="10207447" y="285292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07447" y="2903220"/>
            <a:ext cx="1280160" cy="219456"/>
          </a:xfrm>
          <a:prstGeom prst="rect">
            <a:avLst/>
          </a:prstGeom>
          <a:noFill/>
        </p:spPr>
        <p:txBody>
          <a:bodyPr wrap="square" lIns="0" tIns="0" rIns="0" bIns="0">
            <a:spAutoFit/>
          </a:bodyPr>
          <a:lstStyle/>
          <a:p>
            <a:pPr algn="ctr">
              <a:lnSpc>
                <a:spcPct val="122000"/>
              </a:lnSpc>
            </a:pPr>
            <a:r>
              <a:rPr sz="800" b="1">
                <a:solidFill>
                  <a:srgbClr val="FFFFFF"/>
                </a:solidFill>
                <a:latin typeface="Consolas" panose="020B0609020204030204"/>
              </a:rPr>
              <a:t>TRAITÉ</a:t>
            </a:r>
            <a:endParaRPr sz="800" b="1">
              <a:solidFill>
                <a:srgbClr val="FFFFFF"/>
              </a:solidFill>
              <a:latin typeface="Consolas" panose="020B0609020204030204"/>
            </a:endParaRPr>
          </a:p>
        </p:txBody>
      </p:sp>
      <p:sp>
        <p:nvSpPr>
          <p:cNvPr id="28" name="Rectangle 27"/>
          <p:cNvSpPr/>
          <p:nvPr/>
        </p:nvSpPr>
        <p:spPr>
          <a:xfrm>
            <a:off x="566928" y="340156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340156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3520440"/>
            <a:ext cx="3063240" cy="457200"/>
          </a:xfrm>
          <a:prstGeom prst="rect">
            <a:avLst/>
          </a:prstGeom>
          <a:noFill/>
        </p:spPr>
        <p:txBody>
          <a:bodyPr wrap="square" lIns="0" tIns="0" rIns="0" bIns="0">
            <a:spAutoFit/>
          </a:bodyPr>
          <a:lstStyle/>
          <a:p>
            <a:pPr algn="l">
              <a:lnSpc>
                <a:spcPct val="120000"/>
              </a:lnSpc>
            </a:pPr>
            <a:r>
              <a:rPr sz="1100" b="1">
                <a:solidFill>
                  <a:srgbClr val="12120F"/>
                </a:solidFill>
                <a:latin typeface="Segoe UI" panose="020B0502040204020203"/>
              </a:rPr>
              <a:t>3 · Infrastructures et densité démographique</a:t>
            </a:r>
            <a:endParaRPr sz="1100" b="1">
              <a:solidFill>
                <a:srgbClr val="12120F"/>
              </a:solidFill>
              <a:latin typeface="Segoe UI" panose="020B0502040204020203"/>
            </a:endParaRPr>
          </a:p>
        </p:txBody>
      </p:sp>
      <p:sp>
        <p:nvSpPr>
          <p:cNvPr id="31" name="TextBox 30"/>
          <p:cNvSpPr txBox="1"/>
          <p:nvPr/>
        </p:nvSpPr>
        <p:spPr>
          <a:xfrm>
            <a:off x="3904488" y="3493008"/>
            <a:ext cx="274320" cy="365760"/>
          </a:xfrm>
          <a:prstGeom prst="rect">
            <a:avLst/>
          </a:prstGeom>
          <a:noFill/>
        </p:spPr>
        <p:txBody>
          <a:bodyPr wrap="square" lIns="0" tIns="0" rIns="0" bIns="0">
            <a:spAutoFit/>
          </a:bodyPr>
          <a:lstStyle/>
          <a:p>
            <a:pPr algn="l">
              <a:lnSpc>
                <a:spcPct val="122000"/>
              </a:lnSpc>
            </a:pPr>
            <a:r>
              <a:rPr sz="1600" b="1">
                <a:solidFill>
                  <a:srgbClr val="8B8A84"/>
                </a:solidFill>
                <a:latin typeface="Segoe UI" panose="020B0502040204020203"/>
              </a:rPr>
              <a:t>→</a:t>
            </a:r>
            <a:endParaRPr sz="1600" b="1">
              <a:solidFill>
                <a:srgbClr val="8B8A84"/>
              </a:solidFill>
              <a:latin typeface="Segoe UI" panose="020B0502040204020203"/>
            </a:endParaRPr>
          </a:p>
        </p:txBody>
      </p:sp>
      <p:sp>
        <p:nvSpPr>
          <p:cNvPr id="32" name="TextBox 31"/>
          <p:cNvSpPr txBox="1"/>
          <p:nvPr/>
        </p:nvSpPr>
        <p:spPr>
          <a:xfrm>
            <a:off x="4224528" y="3493008"/>
            <a:ext cx="5806440" cy="548640"/>
          </a:xfrm>
          <a:prstGeom prst="rect">
            <a:avLst/>
          </a:prstGeom>
          <a:noFill/>
        </p:spPr>
        <p:txBody>
          <a:bodyPr wrap="square" lIns="0" tIns="0" rIns="0" bIns="0">
            <a:spAutoFit/>
          </a:bodyPr>
          <a:lstStyle/>
          <a:p>
            <a:pPr algn="l">
              <a:lnSpc>
                <a:spcPct val="125000"/>
              </a:lnSpc>
            </a:pPr>
            <a:r>
              <a:rPr sz="950" b="0">
                <a:solidFill>
                  <a:srgbClr val="55544F"/>
                </a:solidFill>
                <a:latin typeface="Segoe UI" panose="020B0502040204020203"/>
              </a:rPr>
              <a:t>12 préfectures peuplées et sous-desservies. La densité n'explique que 12 % des écarts d'équipement : le déficit n'est pas la fatalité d'un territoire rural.</a:t>
            </a:r>
            <a:endParaRPr sz="950" b="0">
              <a:solidFill>
                <a:srgbClr val="55544F"/>
              </a:solidFill>
              <a:latin typeface="Segoe UI" panose="020B0502040204020203"/>
            </a:endParaRPr>
          </a:p>
        </p:txBody>
      </p:sp>
      <p:sp>
        <p:nvSpPr>
          <p:cNvPr id="33" name="Rectangle 32"/>
          <p:cNvSpPr/>
          <p:nvPr/>
        </p:nvSpPr>
        <p:spPr>
          <a:xfrm>
            <a:off x="10207447" y="358444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07447" y="3634740"/>
            <a:ext cx="1280160" cy="219456"/>
          </a:xfrm>
          <a:prstGeom prst="rect">
            <a:avLst/>
          </a:prstGeom>
          <a:noFill/>
        </p:spPr>
        <p:txBody>
          <a:bodyPr wrap="square" lIns="0" tIns="0" rIns="0" bIns="0">
            <a:spAutoFit/>
          </a:bodyPr>
          <a:lstStyle/>
          <a:p>
            <a:pPr algn="ctr">
              <a:lnSpc>
                <a:spcPct val="122000"/>
              </a:lnSpc>
            </a:pPr>
            <a:r>
              <a:rPr sz="800" b="1">
                <a:solidFill>
                  <a:srgbClr val="FFFFFF"/>
                </a:solidFill>
                <a:latin typeface="Consolas" panose="020B0609020204030204"/>
              </a:rPr>
              <a:t>TRAITÉ</a:t>
            </a:r>
            <a:endParaRPr sz="800" b="1">
              <a:solidFill>
                <a:srgbClr val="FFFFFF"/>
              </a:solidFill>
              <a:latin typeface="Consolas" panose="020B0609020204030204"/>
            </a:endParaRPr>
          </a:p>
        </p:txBody>
      </p:sp>
      <p:sp>
        <p:nvSpPr>
          <p:cNvPr id="35" name="Rectangle 34"/>
          <p:cNvSpPr/>
          <p:nvPr/>
        </p:nvSpPr>
        <p:spPr>
          <a:xfrm>
            <a:off x="566928" y="4133088"/>
            <a:ext cx="11057839" cy="658368"/>
          </a:xfrm>
          <a:prstGeom prst="rect">
            <a:avLst/>
          </a:prstGeom>
          <a:solidFill>
            <a:srgbClr val="FBEEEE"/>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133088"/>
            <a:ext cx="41148" cy="658368"/>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4251960"/>
            <a:ext cx="3063240" cy="457200"/>
          </a:xfrm>
          <a:prstGeom prst="rect">
            <a:avLst/>
          </a:prstGeom>
          <a:noFill/>
        </p:spPr>
        <p:txBody>
          <a:bodyPr wrap="square" lIns="0" tIns="0" rIns="0" bIns="0">
            <a:spAutoFit/>
          </a:bodyPr>
          <a:lstStyle/>
          <a:p>
            <a:pPr algn="l">
              <a:lnSpc>
                <a:spcPct val="120000"/>
              </a:lnSpc>
            </a:pPr>
            <a:r>
              <a:rPr sz="1100" b="1">
                <a:solidFill>
                  <a:srgbClr val="12120F"/>
                </a:solidFill>
                <a:latin typeface="Segoe UI" panose="020B0502040204020203"/>
              </a:rPr>
              <a:t>4 · Couverture réseau et zones blanches</a:t>
            </a:r>
            <a:endParaRPr sz="1100" b="1">
              <a:solidFill>
                <a:srgbClr val="12120F"/>
              </a:solidFill>
              <a:latin typeface="Segoe UI" panose="020B0502040204020203"/>
            </a:endParaRPr>
          </a:p>
        </p:txBody>
      </p:sp>
      <p:sp>
        <p:nvSpPr>
          <p:cNvPr id="38" name="TextBox 37"/>
          <p:cNvSpPr txBox="1"/>
          <p:nvPr/>
        </p:nvSpPr>
        <p:spPr>
          <a:xfrm>
            <a:off x="3904488" y="4224528"/>
            <a:ext cx="274320" cy="365760"/>
          </a:xfrm>
          <a:prstGeom prst="rect">
            <a:avLst/>
          </a:prstGeom>
          <a:noFill/>
        </p:spPr>
        <p:txBody>
          <a:bodyPr wrap="square" lIns="0" tIns="0" rIns="0" bIns="0">
            <a:spAutoFit/>
          </a:bodyPr>
          <a:lstStyle/>
          <a:p>
            <a:pPr algn="l">
              <a:lnSpc>
                <a:spcPct val="122000"/>
              </a:lnSpc>
            </a:pPr>
            <a:r>
              <a:rPr sz="1600" b="1">
                <a:solidFill>
                  <a:srgbClr val="8B8A84"/>
                </a:solidFill>
                <a:latin typeface="Segoe UI" panose="020B0502040204020203"/>
              </a:rPr>
              <a:t>→</a:t>
            </a:r>
            <a:endParaRPr sz="1600" b="1">
              <a:solidFill>
                <a:srgbClr val="8B8A84"/>
              </a:solidFill>
              <a:latin typeface="Segoe UI" panose="020B0502040204020203"/>
            </a:endParaRPr>
          </a:p>
        </p:txBody>
      </p:sp>
      <p:sp>
        <p:nvSpPr>
          <p:cNvPr id="39" name="TextBox 38"/>
          <p:cNvSpPr txBox="1"/>
          <p:nvPr/>
        </p:nvSpPr>
        <p:spPr>
          <a:xfrm>
            <a:off x="4224528" y="4224528"/>
            <a:ext cx="5806440" cy="548640"/>
          </a:xfrm>
          <a:prstGeom prst="rect">
            <a:avLst/>
          </a:prstGeom>
          <a:noFill/>
        </p:spPr>
        <p:txBody>
          <a:bodyPr wrap="square" lIns="0" tIns="0" rIns="0" bIns="0">
            <a:spAutoFit/>
          </a:bodyPr>
          <a:lstStyle/>
          <a:p>
            <a:pPr algn="l">
              <a:lnSpc>
                <a:spcPct val="125000"/>
              </a:lnSpc>
            </a:pPr>
            <a:r>
              <a:rPr sz="950" b="1">
                <a:solidFill>
                  <a:srgbClr val="12120F"/>
                </a:solidFill>
                <a:latin typeface="Segoe UI" panose="020B0502040204020203"/>
              </a:rPr>
              <a:t>Non mesurable avec les données ouvertes disponibles — couches antennes hors open data. Traitée comme limite critique et besoin prioritaire de données. Proxy déclaré : 41 cantons à investiguer, dont 22 sans aucun agent Mobile Money.</a:t>
            </a:r>
            <a:endParaRPr sz="950" b="1">
              <a:solidFill>
                <a:srgbClr val="12120F"/>
              </a:solidFill>
              <a:latin typeface="Segoe UI" panose="020B0502040204020203"/>
            </a:endParaRPr>
          </a:p>
        </p:txBody>
      </p:sp>
      <p:sp>
        <p:nvSpPr>
          <p:cNvPr id="40" name="Rectangle 39"/>
          <p:cNvSpPr/>
          <p:nvPr/>
        </p:nvSpPr>
        <p:spPr>
          <a:xfrm>
            <a:off x="10207447" y="4315968"/>
            <a:ext cx="1280160" cy="292608"/>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07447" y="4366260"/>
            <a:ext cx="1280160" cy="219456"/>
          </a:xfrm>
          <a:prstGeom prst="rect">
            <a:avLst/>
          </a:prstGeom>
          <a:noFill/>
        </p:spPr>
        <p:txBody>
          <a:bodyPr wrap="square" lIns="0" tIns="0" rIns="0" bIns="0">
            <a:spAutoFit/>
          </a:bodyPr>
          <a:lstStyle/>
          <a:p>
            <a:pPr algn="ctr">
              <a:lnSpc>
                <a:spcPct val="122000"/>
              </a:lnSpc>
            </a:pPr>
            <a:r>
              <a:rPr sz="800" b="1">
                <a:solidFill>
                  <a:srgbClr val="FFFFFF"/>
                </a:solidFill>
                <a:latin typeface="Consolas" panose="020B0609020204030204"/>
              </a:rPr>
              <a:t>LIMITE CRITIQUE</a:t>
            </a:r>
            <a:endParaRPr sz="800" b="1">
              <a:solidFill>
                <a:srgbClr val="FFFFFF"/>
              </a:solidFill>
              <a:latin typeface="Consolas" panose="020B0609020204030204"/>
            </a:endParaRPr>
          </a:p>
        </p:txBody>
      </p:sp>
      <p:sp>
        <p:nvSpPr>
          <p:cNvPr id="42" name="Rectangle 41"/>
          <p:cNvSpPr/>
          <p:nvPr/>
        </p:nvSpPr>
        <p:spPr>
          <a:xfrm>
            <a:off x="566928" y="486460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486460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4983480"/>
            <a:ext cx="3063240" cy="457200"/>
          </a:xfrm>
          <a:prstGeom prst="rect">
            <a:avLst/>
          </a:prstGeom>
          <a:noFill/>
        </p:spPr>
        <p:txBody>
          <a:bodyPr wrap="square" lIns="0" tIns="0" rIns="0" bIns="0">
            <a:spAutoFit/>
          </a:bodyPr>
          <a:lstStyle/>
          <a:p>
            <a:pPr algn="l">
              <a:lnSpc>
                <a:spcPct val="120000"/>
              </a:lnSpc>
            </a:pPr>
            <a:r>
              <a:rPr sz="1100" b="1">
                <a:solidFill>
                  <a:srgbClr val="12120F"/>
                </a:solidFill>
                <a:latin typeface="Segoe UI" panose="020B0502040204020203"/>
              </a:rPr>
              <a:t>5 · Prioriser les investissements</a:t>
            </a:r>
            <a:endParaRPr sz="1100" b="1">
              <a:solidFill>
                <a:srgbClr val="12120F"/>
              </a:solidFill>
              <a:latin typeface="Segoe UI" panose="020B0502040204020203"/>
            </a:endParaRPr>
          </a:p>
        </p:txBody>
      </p:sp>
      <p:sp>
        <p:nvSpPr>
          <p:cNvPr id="45" name="TextBox 44"/>
          <p:cNvSpPr txBox="1"/>
          <p:nvPr/>
        </p:nvSpPr>
        <p:spPr>
          <a:xfrm>
            <a:off x="3904488" y="4956048"/>
            <a:ext cx="274320" cy="365760"/>
          </a:xfrm>
          <a:prstGeom prst="rect">
            <a:avLst/>
          </a:prstGeom>
          <a:noFill/>
        </p:spPr>
        <p:txBody>
          <a:bodyPr wrap="square" lIns="0" tIns="0" rIns="0" bIns="0">
            <a:spAutoFit/>
          </a:bodyPr>
          <a:lstStyle/>
          <a:p>
            <a:pPr algn="l">
              <a:lnSpc>
                <a:spcPct val="122000"/>
              </a:lnSpc>
            </a:pPr>
            <a:r>
              <a:rPr sz="1600" b="1">
                <a:solidFill>
                  <a:srgbClr val="8B8A84"/>
                </a:solidFill>
                <a:latin typeface="Segoe UI" panose="020B0502040204020203"/>
              </a:rPr>
              <a:t>→</a:t>
            </a:r>
            <a:endParaRPr sz="1600" b="1">
              <a:solidFill>
                <a:srgbClr val="8B8A84"/>
              </a:solidFill>
              <a:latin typeface="Segoe UI" panose="020B0502040204020203"/>
            </a:endParaRPr>
          </a:p>
        </p:txBody>
      </p:sp>
      <p:sp>
        <p:nvSpPr>
          <p:cNvPr id="46" name="TextBox 45"/>
          <p:cNvSpPr txBox="1"/>
          <p:nvPr/>
        </p:nvSpPr>
        <p:spPr>
          <a:xfrm>
            <a:off x="4224528" y="4956048"/>
            <a:ext cx="5806440" cy="548640"/>
          </a:xfrm>
          <a:prstGeom prst="rect">
            <a:avLst/>
          </a:prstGeom>
          <a:noFill/>
        </p:spPr>
        <p:txBody>
          <a:bodyPr wrap="square" lIns="0" tIns="0" rIns="0" bIns="0">
            <a:spAutoFit/>
          </a:bodyPr>
          <a:lstStyle/>
          <a:p>
            <a:pPr algn="l">
              <a:lnSpc>
                <a:spcPct val="125000"/>
              </a:lnSpc>
            </a:pPr>
            <a:r>
              <a:rPr sz="950" b="0">
                <a:solidFill>
                  <a:srgbClr val="55544F"/>
                </a:solidFill>
                <a:latin typeface="Segoe UI" panose="020B0502040204020203"/>
              </a:rPr>
              <a:t>9 préfectures stables sur 2 000 pondérations (corrélation 0,971), 1 080 723 habitants : Kpendjal, Mô, Est-Mono, Akébou, Yoto…</a:t>
            </a:r>
            <a:endParaRPr sz="950" b="0">
              <a:solidFill>
                <a:srgbClr val="55544F"/>
              </a:solidFill>
              <a:latin typeface="Segoe UI" panose="020B0502040204020203"/>
            </a:endParaRPr>
          </a:p>
        </p:txBody>
      </p:sp>
      <p:sp>
        <p:nvSpPr>
          <p:cNvPr id="47" name="Rectangle 46"/>
          <p:cNvSpPr/>
          <p:nvPr/>
        </p:nvSpPr>
        <p:spPr>
          <a:xfrm>
            <a:off x="10207447" y="504748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07447" y="5097780"/>
            <a:ext cx="1280160" cy="219456"/>
          </a:xfrm>
          <a:prstGeom prst="rect">
            <a:avLst/>
          </a:prstGeom>
          <a:noFill/>
        </p:spPr>
        <p:txBody>
          <a:bodyPr wrap="square" lIns="0" tIns="0" rIns="0" bIns="0">
            <a:spAutoFit/>
          </a:bodyPr>
          <a:lstStyle/>
          <a:p>
            <a:pPr algn="ctr">
              <a:lnSpc>
                <a:spcPct val="122000"/>
              </a:lnSpc>
            </a:pPr>
            <a:r>
              <a:rPr sz="800" b="1">
                <a:solidFill>
                  <a:srgbClr val="FFFFFF"/>
                </a:solidFill>
                <a:latin typeface="Consolas" panose="020B0609020204030204"/>
              </a:rPr>
              <a:t>TRAITÉ</a:t>
            </a:r>
            <a:endParaRPr sz="800" b="1">
              <a:solidFill>
                <a:srgbClr val="FFFFFF"/>
              </a:solidFill>
              <a:latin typeface="Consolas" panose="020B0609020204030204"/>
            </a:endParaRPr>
          </a:p>
        </p:txBody>
      </p:sp>
      <p:sp>
        <p:nvSpPr>
          <p:cNvPr id="49" name="TextBox 48"/>
          <p:cNvSpPr txBox="1"/>
          <p:nvPr/>
        </p:nvSpPr>
        <p:spPr>
          <a:xfrm>
            <a:off x="566928" y="5614416"/>
            <a:ext cx="11057839" cy="274320"/>
          </a:xfrm>
          <a:prstGeom prst="rect">
            <a:avLst/>
          </a:prstGeom>
          <a:noFill/>
        </p:spPr>
        <p:txBody>
          <a:bodyPr wrap="square" lIns="0" tIns="0" rIns="0" bIns="0">
            <a:spAutoFit/>
          </a:bodyPr>
          <a:lstStyle/>
          <a:p>
            <a:pPr algn="l">
              <a:lnSpc>
                <a:spcPct val="125000"/>
              </a:lnSpc>
            </a:pPr>
            <a:r>
              <a:rPr sz="1000" b="1">
                <a:solidFill>
                  <a:srgbClr val="0F4D3B"/>
                </a:solidFill>
                <a:latin typeface="Segoe UI" panose="020B0502040204020203"/>
              </a:rPr>
              <a:t>Première recommandation au producteur de données : ouvrir les couches « Tours télécoms » du catalogue national, pour transformer les zones suspectes en zones blanches confirmées ou écartées.</a:t>
            </a:r>
            <a:endParaRPr sz="1000" b="1">
              <a:solidFill>
                <a:srgbClr val="0F4D3B"/>
              </a:solidFill>
              <a:latin typeface="Segoe UI" panose="020B0502040204020203"/>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11470</Words>
  <Application>WPS Presentation</Application>
  <PresentationFormat>On-screen Show (4:3)</PresentationFormat>
  <Paragraphs>473</Paragraphs>
  <Slides>10</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10</vt:i4>
      </vt:variant>
    </vt:vector>
  </HeadingPairs>
  <TitlesOfParts>
    <vt:vector size="20" baseType="lpstr">
      <vt:lpstr>Arial</vt:lpstr>
      <vt:lpstr>SimSun</vt:lpstr>
      <vt:lpstr>Wingdings</vt:lpstr>
      <vt:lpstr>Arial</vt:lpstr>
      <vt:lpstr>Segoe UI</vt:lpstr>
      <vt:lpstr>Consolas</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kprim</cp:lastModifiedBy>
  <cp:revision>2</cp:revision>
  <dcterms:created xsi:type="dcterms:W3CDTF">2013-01-27T09:14:00Z</dcterms:created>
  <dcterms:modified xsi:type="dcterms:W3CDTF">2026-09-15T09:24:37Z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1036-12.1.0.28485</vt:lpwstr>
  </property>
  <property fmtid="{D5CDD505-2E9C-101B-9397-08002B2CF9AE}" pid="3" name="ICV">
    <vt:lpwstr>99EDDF944BEF4A99AFD5F4B0E5FD6093_12</vt:lpwstr>
  </property>
</Properties>
</file>