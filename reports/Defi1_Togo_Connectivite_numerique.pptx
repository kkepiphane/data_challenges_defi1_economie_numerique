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4864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4864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4864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932688"/>
            <a:ext cx="7589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spc="190">
                <a:solidFill>
                  <a:srgbClr val="8EB6A6"/>
                </a:solidFill>
                <a:latin typeface="Segoe UI" panose="020B0502040204020203"/>
              </a:rPr>
              <a:t>DÉFI 1 · ÉCONOMIE NUMÉRIQUE · RÉPUBLIQUE TOGOLAISE</a:t>
            </a:r>
            <a:endParaRPr sz="950" b="1" spc="190">
              <a:solidFill>
                <a:srgbClr val="8EB6A6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1389888"/>
            <a:ext cx="758952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300" b="1" spc="-50">
                <a:solidFill>
                  <a:srgbClr val="FFFFFF"/>
                </a:solidFill>
                <a:latin typeface="Segoe UI" panose="020B0502040204020203"/>
              </a:rPr>
              <a:t>Connecter le Togo</a:t>
            </a:r>
            <a:endParaRPr sz="4300" b="1" spc="-50">
              <a:solidFill>
                <a:srgbClr val="FFFFFF"/>
              </a:solidFill>
              <a:latin typeface="Segoe UI" panose="020B0502040204020203"/>
            </a:endParaRPr>
          </a:p>
          <a:p>
            <a:pPr algn="l">
              <a:lnSpc>
                <a:spcPct val="102000"/>
              </a:lnSpc>
            </a:pPr>
            <a:r>
              <a:rPr sz="4300" b="1" spc="-50">
                <a:solidFill>
                  <a:srgbClr val="FFFFFF"/>
                </a:solidFill>
                <a:latin typeface="Segoe UI" panose="020B0502040204020203"/>
              </a:rPr>
              <a:t>là où le manque est prouvé</a:t>
            </a:r>
            <a:endParaRPr sz="4300" b="1" spc="-5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8680" y="3127248"/>
            <a:ext cx="841248" cy="41148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56432"/>
            <a:ext cx="72237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400" b="0">
                <a:solidFill>
                  <a:srgbClr val="CBDED6"/>
                </a:solidFill>
                <a:latin typeface="Segoe UI" panose="020B0502040204020203"/>
              </a:rPr>
              <a:t>Le Togo compte un point de service financier numérique pour 409 habitants. Cette moyenne ne dit rien d'utile : entre la préfecture la mieux dotée et la moins dotée, l'écart est de 1 à 12,7.</a:t>
            </a:r>
            <a:endParaRPr sz="1400" b="0">
              <a:solidFill>
                <a:srgbClr val="CBDED6"/>
              </a:solidFill>
              <a:latin typeface="Segoe UI" panose="020B0502040204020203"/>
            </a:endParaRPr>
          </a:p>
          <a:p>
            <a:pPr algn="l">
              <a:lnSpc>
                <a:spcPct val="152000"/>
              </a:lnSpc>
            </a:pPr>
            <a:r>
              <a:rPr sz="1400" b="0">
                <a:solidFill>
                  <a:srgbClr val="CBDED6"/>
                </a:solidFill>
                <a:latin typeface="Segoe UI" panose="020B0502040204020203"/>
              </a:rPr>
              <a:t>Ce diagnostic désigne les territoires où investir, et publie de quoi contester le classement.</a:t>
            </a:r>
            <a:endParaRPr sz="1400" b="0">
              <a:solidFill>
                <a:srgbClr val="CBDED6"/>
              </a:solidFill>
              <a:latin typeface="Segoe UI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4828032"/>
            <a:ext cx="25968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 panose="020B0502040204020203"/>
              </a:rPr>
              <a:t>HABITANTS PAR POINT DE SERVICE</a:t>
            </a:r>
            <a:endParaRPr sz="850" b="1" spc="130">
              <a:solidFill>
                <a:srgbClr val="8EB6A6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8680" y="5093208"/>
            <a:ext cx="25968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 panose="020B0502040204020203"/>
              </a:rPr>
              <a:t>409</a:t>
            </a:r>
            <a:endParaRPr sz="2700" b="1" spc="-4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5568696"/>
            <a:ext cx="25968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 panose="020B0502040204020203"/>
              </a:rPr>
              <a:t>moyenne nationale · 19 788 points géolocalisés</a:t>
            </a:r>
            <a:endParaRPr sz="900" b="0">
              <a:solidFill>
                <a:srgbClr val="6D9A89"/>
              </a:solidFill>
              <a:latin typeface="Segoe UI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721608" y="4828032"/>
            <a:ext cx="25968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 panose="020B0502040204020203"/>
              </a:rPr>
              <a:t>ÉCART ENTRE PRÉFECTURES</a:t>
            </a:r>
            <a:endParaRPr sz="850" b="1" spc="130">
              <a:solidFill>
                <a:srgbClr val="8EB6A6"/>
              </a:solidFill>
              <a:latin typeface="Segoe UI" panose="020B0502040204020203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721608" y="5093208"/>
            <a:ext cx="25968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 panose="020B0502040204020203"/>
              </a:rPr>
              <a:t>1 à 12,7</a:t>
            </a:r>
            <a:endParaRPr sz="2700" b="1" spc="-4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721608" y="5568696"/>
            <a:ext cx="25968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 panose="020B0502040204020203"/>
              </a:rPr>
              <a:t>Kpendjal contre Tchaoudjo</a:t>
            </a:r>
            <a:endParaRPr sz="900" b="0">
              <a:solidFill>
                <a:srgbClr val="6D9A89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74536" y="4828032"/>
            <a:ext cx="25968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 panose="020B0502040204020203"/>
              </a:rPr>
              <a:t>PRÉFECTURES SANS AUCUNE AGENCE</a:t>
            </a:r>
            <a:endParaRPr sz="850" b="1" spc="130">
              <a:solidFill>
                <a:srgbClr val="8EB6A6"/>
              </a:solidFill>
              <a:latin typeface="Segoe UI" panose="020B05020402040202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74536" y="5093208"/>
            <a:ext cx="259689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 spc="-40">
                <a:solidFill>
                  <a:srgbClr val="FFFFFF"/>
                </a:solidFill>
                <a:latin typeface="Segoe UI" panose="020B0502040204020203"/>
              </a:rPr>
              <a:t>13 / 39</a:t>
            </a:r>
            <a:endParaRPr sz="2700" b="1" spc="-4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574536" y="5568696"/>
            <a:ext cx="2596896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D9A89"/>
                </a:solidFill>
                <a:latin typeface="Segoe UI" panose="020B0502040204020203"/>
              </a:rPr>
              <a:t>1 621 720 habitants concernés</a:t>
            </a:r>
            <a:endParaRPr sz="900" b="0">
              <a:solidFill>
                <a:srgbClr val="6D9A89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8680" y="5943600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FFFFFF"/>
                </a:solidFill>
                <a:latin typeface="Segoe UI" panose="020B0502040204020203"/>
              </a:rPr>
              <a:t>KOUTSAVA Kossi Epiphane</a:t>
            </a:r>
            <a:endParaRPr sz="1450" b="1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68680" y="6483096"/>
            <a:ext cx="8183879" cy="9525"/>
          </a:xfrm>
          <a:prstGeom prst="rect">
            <a:avLst/>
          </a:prstGeom>
          <a:solidFill>
            <a:srgbClr val="1B5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6574536"/>
            <a:ext cx="104698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6D9A89"/>
                </a:solidFill>
                <a:latin typeface="Segoe UI" panose="020B0502040204020203"/>
              </a:rPr>
              <a:t>Géoportail national (PRISE 2021-2022) · RGPH-5, INSEED (novembre 2022) · limites COD-AB v02, OCHA (2021) — 25 contrôles arithmétiques publiés</a:t>
            </a:r>
            <a:endParaRPr sz="800" b="0">
              <a:solidFill>
                <a:srgbClr val="6D9A89"/>
              </a:solidFill>
              <a:latin typeface="Segoe UI" panose="020B0502040204020203"/>
            </a:endParaRPr>
          </a:p>
        </p:txBody>
      </p:sp>
      <p:pic>
        <p:nvPicPr>
          <p:cNvPr id="24" name="Picture 23" descr="armoi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4447" y="1970532"/>
            <a:ext cx="225425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DÉFI ÉCONOMIE NUMÉRIQUE · TOGO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Problématique et enjeux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L'accès aux services numériques au Togo n'est pas faible partout : il est très inégal — et l'inégalité se mesure.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01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943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2120F"/>
                </a:solidFill>
                <a:latin typeface="Segoe UI" panose="020B0502040204020203"/>
              </a:rPr>
              <a:t>Où faut-il investir en priorité pour réduire les inégalités d'accès aux télécommunications et aux services numériques au Togo, et pourquoi ?</a:t>
            </a:r>
            <a:endParaRPr sz="17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66928" y="302209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971800"/>
            <a:ext cx="55869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Une moyenne nationale ne suffit pas à décider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" y="3200400"/>
            <a:ext cx="558698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409 habitants par point Mobile Money en moyenne — mais un rapport de 1 à 12,7 entre préfectures. Agir « partout » revient à n'agir nulle part en priorité.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66928" y="370179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3651504"/>
            <a:ext cx="55869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Un déficit se prouve, il ne se déclare pas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0664" y="3880104"/>
            <a:ext cx="558698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Affirmer qu'un territoire est sous-desservi exige un dénominateur : la population. Sans elle, un faible comptage peut simplement refléter une faible démographie.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6928" y="438150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4331208"/>
            <a:ext cx="55869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Une priorisation doit résister à la contestation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40664" y="4559808"/>
            <a:ext cx="558698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Un classement dépendant de pondérations arbitraires n'est pas défendable. Il doit être testé, et sa stabilité publiée.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90372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03720" y="1965960"/>
            <a:ext cx="219456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0024" y="2121408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POPULATION RÉSIDENTE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050024" y="2441448"/>
            <a:ext cx="19019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8 095 498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050024" y="2871216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RGPH-5 · novembre 2022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281160" y="1965960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81160" y="1965960"/>
            <a:ext cx="219456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27464" y="2121408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POINTS DE SERVICE RECENSÉS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427464" y="2441448"/>
            <a:ext cx="19019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19 788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427464" y="2871216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tous géolocalisés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90372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03720" y="3355848"/>
            <a:ext cx="219456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3511296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PRÉFECTURES SANS AUCUNE AGENCE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050024" y="3831336"/>
            <a:ext cx="19019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13 / 39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050024" y="4261104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1 621 720 habitants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281160" y="3355848"/>
            <a:ext cx="219456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81160" y="3355848"/>
            <a:ext cx="2194560" cy="34747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511296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TERRITOIRES PRIORITAIRES IDENTIFIÉS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427464" y="3831336"/>
            <a:ext cx="190195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9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9427464" y="4261104"/>
            <a:ext cx="1901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priorité stable sur 2 000 pondérations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DONNÉES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Données utilisées et sources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Trois sources publiques, trois producteurs, trois millésimes à moins de deux ans d'écart — et une donnée essentielle qui manque.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02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66928" y="1965960"/>
          <a:ext cx="11057837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17351"/>
                <a:gridCol w="2653881"/>
                <a:gridCol w="1990411"/>
                <a:gridCol w="3096194"/>
              </a:tblGrid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Donnée</a:t>
                      </a:r>
                      <a:endParaRPr sz="9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Producteur</a:t>
                      </a:r>
                      <a:endParaRPr sz="9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Période</a:t>
                      </a:r>
                      <a:endParaRPr sz="9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Ce qu'elle apporte</a:t>
                      </a:r>
                      <a:endParaRPr sz="9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Agences, agents Mobile Money, data centers</a:t>
                      </a:r>
                      <a:endParaRPr sz="95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Géoportail national du Togo</a:t>
                      </a:r>
                      <a:endParaRPr sz="9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Collecte 2021-2022</a:t>
                      </a:r>
                      <a:endParaRPr sz="9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Localisation de chaque équipement</a:t>
                      </a:r>
                      <a:endParaRPr sz="9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Population résidente</a:t>
                      </a:r>
                      <a:endParaRPr sz="95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INSEED — 5ᵉ recensement (RGPH-5)</a:t>
                      </a:r>
                      <a:endParaRPr sz="9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23 oct. – 16 nov. 2022</a:t>
                      </a:r>
                      <a:endParaRPr sz="9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Le dénominateur de tous les ratios</a:t>
                      </a:r>
                      <a:endParaRPr sz="9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Limites administratives et superficies</a:t>
                      </a:r>
                      <a:endParaRPr sz="95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Common Operational Datasets (OCHA)</a:t>
                      </a:r>
                      <a:endParaRPr sz="9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Valides au 07/01/2021</a:t>
                      </a:r>
                      <a:endParaRPr sz="9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Contours, densités, distances</a:t>
                      </a:r>
                      <a:endParaRPr sz="9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66928" y="36164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3566160"/>
            <a:ext cx="540410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30 fichiers, 5 formats — un seul fait autorité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" y="3794760"/>
            <a:ext cx="5404104" cy="477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Les données d'infrastructure sont livrées en CSV, XLSX, KML, GeoJSON et shapefile. Le CSV est le seul à cumuler noms de variables complets et précision maximale des coordonnées.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66928" y="445541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4405122"/>
            <a:ext cx="540410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La population a dû être extraite d'un PDF de 94 pages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0664" y="4633722"/>
            <a:ext cx="540410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Le livret RGPH-5 n'existe pas en format tabulaire. L'extraction est automatisée et validée par les sommes hiérarchiques.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492240" y="3566160"/>
            <a:ext cx="512064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566160"/>
            <a:ext cx="32004" cy="21488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49039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LA DONNÉE QUI MANQUE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720840" y="4041648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55544F"/>
                </a:solidFill>
                <a:latin typeface="Segoe UI" panose="020B0502040204020203"/>
              </a:rPr>
              <a:t>Aucune mesure de couverture réseau mobile n'existe dans les sources ouvertes mobilisées, et les couches d'antennes du catalogue national ne sont pas publiques.</a:t>
            </a:r>
            <a:endParaRPr sz="1050" b="0">
              <a:solidFill>
                <a:srgbClr val="55544F"/>
              </a:solidFill>
              <a:latin typeface="Segoe UI" panose="020B0502040204020203"/>
            </a:endParaRP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55544F"/>
                </a:solidFill>
                <a:latin typeface="Segoe UI" panose="020B0502040204020203"/>
              </a:rPr>
              <a:t>L'objectif « identifier les zones blanches » n'est donc pas traité comme tel. Ce travail mesure un déficit d'accès aux services — pas une absence de réseau. La distinction est maintenue partout.</a:t>
            </a:r>
            <a:endParaRPr sz="105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PRÉPARATION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Qualité et préparation des données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Deux constats des données corrigent l'énoncé du défi : il y a 2 opérateurs et non 4, et 90 agences et non 141.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03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66928" y="206197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2011680"/>
            <a:ext cx="549554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« Agences – Télécom » n'est pas un quatrième opérateur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40664" y="2240280"/>
            <a:ext cx="5495544" cy="477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Ses 51 lignes sont déjà contenues dans Moov ∪ Togocom, sans un seul enregistrement propre. Empiler les quatre fichiers afficherait 141 agences au lieu de 90 — une surestimation de 57 % dès le premier indicateur.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66928" y="290093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850642"/>
            <a:ext cx="549554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« Agences – CANAL+ » est vide à la source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0664" y="3079242"/>
            <a:ext cx="549554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Le serveur joint lui-même la mention « the query result is empty ». C'est une donnée non disponible, et non une absence d'agences sur le terrain.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66928" y="358063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530346"/>
            <a:ext cx="549554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L'identifiant fourni est volatile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40664" y="3758946"/>
            <a:ext cx="5495544" cy="477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La même agence porte un identifiant différent dans deux fichiers exportés à trois secondes d'intervalle. La déduplication repose donc sur le nom et les coordonnées, jamais sur cet identifiant.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583680" y="2011680"/>
            <a:ext cx="502920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0" y="2011680"/>
            <a:ext cx="32004" cy="324612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219456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23 CONTRÔLES ARITHMÉTIQUES, REJOUÉS À CHAQUE EXÉCUTION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12280" y="2606040"/>
            <a:ext cx="457200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 panose="020B0502040204020203"/>
              </a:rPr>
              <a:t>La population extraite du PDF somme exactement à 8 095 498 habitants aux trois niveaux — 5 régions, 39 préfectures, 117 communes — sans écart d'une unité.</a:t>
            </a:r>
            <a:endParaRPr sz="1050" b="0">
              <a:solidFill>
                <a:srgbClr val="55544F"/>
              </a:solidFill>
              <a:latin typeface="Segoe UI" panose="020B0502040204020203"/>
            </a:endParaRP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 panose="020B0502040204020203"/>
              </a:rPr>
              <a:t>Ces contrôles ont réellement servi. Deux échecs ont évité des erreurs graves :</a:t>
            </a:r>
            <a:endParaRPr sz="1050" b="0">
              <a:solidFill>
                <a:srgbClr val="55544F"/>
              </a:solidFill>
              <a:latin typeface="Segoe UI" panose="020B0502040204020203"/>
            </a:endParaRP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 panose="020B0502040204020203"/>
              </a:rPr>
              <a:t>① Une jointure sur des noms accentués faisait tomber neuf préfectures à zéro point Mobile Money — dont Agoè-Nyivé et ses 882 695 habitants.</a:t>
            </a:r>
            <a:endParaRPr sz="1050" b="0">
              <a:solidFill>
                <a:srgbClr val="55544F"/>
              </a:solidFill>
              <a:latin typeface="Segoe UI" panose="020B0502040204020203"/>
            </a:endParaRP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050" b="0">
                <a:solidFill>
                  <a:srgbClr val="55544F"/>
                </a:solidFill>
                <a:latin typeface="Segoe UI" panose="020B0502040204020203"/>
              </a:rPr>
              <a:t>② Une somme régionale à 11 630 489 habitants a révélé un double comptage du Grand Lomé.</a:t>
            </a:r>
            <a:endParaRPr sz="105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MÉTHODE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Méthodologie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Deux unités d'analyse, chacune utilisée là où sa validité est prouvée — et un indice dont les pondérations sont testées.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04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669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LES DEUX UNITÉS D'ANALYSE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2240280"/>
          <a:ext cx="5669278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4012"/>
                <a:gridCol w="2097633"/>
                <a:gridCol w="2097633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Unité</a:t>
                      </a:r>
                      <a:endParaRPr sz="90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Rôle</a:t>
                      </a:r>
                      <a:endParaRPr sz="90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Justification</a:t>
                      </a:r>
                      <a:endParaRPr sz="90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Préfecture (39)</a:t>
                      </a:r>
                      <a:endParaRPr sz="90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Cartes, superficies, densités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concordance spatiale 98,4 %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Commune (117)</a:t>
                      </a:r>
                      <a:endParaRPr sz="90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Ratios par habitant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population validée à l'unité près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3337560"/>
            <a:ext cx="56692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Reconstruire les contours des 117 communes a été testé puis rejeté sur preuve : les découpages ne s'emboîtent pas — 65,6 % des points tombent dans une unité à cheval sur plusieurs communes. Publier ces contours aurait produit des densités fausses sans aucune alerte.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583680" y="1965960"/>
            <a:ext cx="50292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L'INDICE DE PRIORITÉ — QUATRE COMPOSANTES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583680" y="2240280"/>
          <a:ext cx="5029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9928"/>
                <a:gridCol w="2212848"/>
                <a:gridCol w="1106424"/>
              </a:tblGrid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Composante</a:t>
                      </a:r>
                      <a:endParaRPr sz="90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Mesure</a:t>
                      </a:r>
                      <a:endParaRPr sz="90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Poids</a:t>
                      </a:r>
                      <a:endParaRPr sz="90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Déficit Mobile Money</a:t>
                      </a:r>
                      <a:endParaRPr sz="90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habitants par point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30 %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Déficit d'agences</a:t>
                      </a:r>
                      <a:endParaRPr sz="90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agences / 100 000 hab.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25 %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Éloignement</a:t>
                      </a:r>
                      <a:endParaRPr sz="90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distance médiane à une agence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25 %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Enjeu démographique</a:t>
                      </a:r>
                      <a:endParaRPr sz="90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population concernée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20 %</a:t>
                      </a:r>
                      <a:endParaRPr sz="90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583680" y="3977639"/>
            <a:ext cx="5029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Le déficit Mobile Money reprend la définition officielle du géoportail national — « nombre d'habitants par point mobile money ». L'indicateur central n'a pas été inventé pour ce travail.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Ces pondérations sont un choix assumé. C'est exactement pourquoi 2 000 pondérations alternatives sont testées.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66928" y="4663440"/>
            <a:ext cx="56692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Aucune valeur n'est imputée ni estimée. Toute donnée absente est déclarée absente. Aucun écrêtage n'est appliqué aux valeurs extrêmes : elles sont des faits, et leur influence est mesurée par une variante de calcul insensible aux extrêmes.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DIAGNOSTIC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Diagnostic national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409 habitants par point de service en moyenne — mais un rapport de 1 à 12,7 entre la préfecture la mieux et la moins bien desservie.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05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pic>
        <p:nvPicPr>
          <p:cNvPr id="14" name="Picture 13" descr="ecart_desser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39" y="1874519"/>
            <a:ext cx="7404482" cy="429768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1965960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1965960"/>
            <a:ext cx="320040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121408"/>
            <a:ext cx="290779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MOYENNE NATIONALE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13232" y="2441448"/>
            <a:ext cx="290779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409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2871216"/>
            <a:ext cx="290779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habitants par point Mobile Money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66928" y="3081528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081528"/>
            <a:ext cx="3200400" cy="34747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236976"/>
            <a:ext cx="290779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PRÉFECTURE LA MOINS DESSERVIE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13232" y="3557016"/>
            <a:ext cx="290779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2 155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13232" y="3986784"/>
            <a:ext cx="290779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Kpendjal · 5,3 × la moyenne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66928" y="4197096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197096"/>
            <a:ext cx="320040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4352544"/>
            <a:ext cx="290779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PRÉFECTURES AU-DESSUS DE LA MOYENNE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13232" y="4672584"/>
            <a:ext cx="290779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24 / 39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13232" y="5102352"/>
            <a:ext cx="290779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moins bien desservies que le pays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66928" y="5312664"/>
            <a:ext cx="3200400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12664"/>
            <a:ext cx="3200400" cy="34747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468112"/>
            <a:ext cx="290779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COMMUNES SANS AUCUNE AGENCE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13232" y="5788152"/>
            <a:ext cx="290779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75 / 117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13232" y="6217920"/>
            <a:ext cx="290779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3 371 081 habitants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66928" y="64008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GÉOSPATIAL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Analyse géospatiale et inégalités territoriales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La moitié la moins bien desservie de la population ne dispose que de 27 % des points de service.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06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pic>
        <p:nvPicPr>
          <p:cNvPr id="14" name="Picture 13" descr="quadra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20240"/>
            <a:ext cx="5015010" cy="3931920"/>
          </a:xfrm>
          <a:prstGeom prst="rect">
            <a:avLst/>
          </a:prstGeom>
        </p:spPr>
      </p:pic>
      <p:pic>
        <p:nvPicPr>
          <p:cNvPr id="15" name="Picture 14" descr="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4779520" cy="393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2920" y="5943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12 préfectures sont à la fois plus peuplées que la médiane nationale et moins bien desservies que la moyenne : c'est là qu'un investissement touche le plus d'habitants.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0" y="5943600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L'écart à la diagonale mesure la concentration. Les distances sont calculées après reprojection métrique — en degrés, elles seraient fausses.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PRIORISATION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Zones prioritaires · indice DCPI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Neuf préfectures restent dans le top 10 pour au moins 90 % de 2 000 pondérations testées : leur priorité ne dépend pas de la méthode.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07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pic>
        <p:nvPicPr>
          <p:cNvPr id="14" name="Picture 13" descr="carte_prior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19"/>
            <a:ext cx="2170081" cy="4343400"/>
          </a:xfrm>
          <a:prstGeom prst="rect">
            <a:avLst/>
          </a:prstGeom>
        </p:spPr>
      </p:pic>
      <p:pic>
        <p:nvPicPr>
          <p:cNvPr id="15" name="Picture 14" descr="sensibil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874519"/>
            <a:ext cx="4752345" cy="3703320"/>
          </a:xfrm>
          <a:prstGeom prst="rect">
            <a:avLst/>
          </a:prstGeom>
        </p:spPr>
      </p:pic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7863840" y="1874519"/>
          <a:ext cx="3794758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580"/>
                <a:gridCol w="1138428"/>
                <a:gridCol w="721004"/>
                <a:gridCol w="645109"/>
                <a:gridCol w="379476"/>
                <a:gridCol w="607161"/>
              </a:tblGrid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#</a:t>
                      </a:r>
                      <a:endParaRPr sz="8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Préfecture</a:t>
                      </a:r>
                      <a:endParaRPr sz="8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Hab.</a:t>
                      </a:r>
                      <a:endParaRPr sz="8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Hab./pt</a:t>
                      </a:r>
                      <a:endParaRPr sz="8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Ag.</a:t>
                      </a:r>
                      <a:endParaRPr sz="8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Segoe UI" panose="020B0502040204020203"/>
                        </a:rPr>
                        <a:t>Dist.</a:t>
                      </a:r>
                      <a:endParaRPr sz="850" b="1">
                        <a:solidFill>
                          <a:srgbClr val="FFFFF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156C5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1</a:t>
                      </a:r>
                      <a:endParaRPr sz="85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Kpendjal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88 365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2 155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0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47 km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2</a:t>
                      </a:r>
                      <a:endParaRPr sz="85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Mô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52 448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1 639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0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45 km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3</a:t>
                      </a:r>
                      <a:endParaRPr sz="85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Est-Mono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164 460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787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0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46 km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4</a:t>
                      </a:r>
                      <a:endParaRPr sz="85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Akébou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73 830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849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0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43 km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5</a:t>
                      </a:r>
                      <a:endParaRPr sz="85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Blitta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163 272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1 814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2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28 km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12120F"/>
                          </a:solidFill>
                          <a:latin typeface="Segoe UI" panose="020B0502040204020203"/>
                        </a:rPr>
                        <a:t>6</a:t>
                      </a:r>
                      <a:endParaRPr sz="850" b="1">
                        <a:solidFill>
                          <a:srgbClr val="12120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Wawa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101 300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415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0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>
                          <a:solidFill>
                            <a:srgbClr val="55544F"/>
                          </a:solidFill>
                          <a:latin typeface="Segoe UI" panose="020B0502040204020203"/>
                        </a:rPr>
                        <a:t>44 km</a:t>
                      </a:r>
                      <a:endParaRPr sz="850" b="0">
                        <a:solidFill>
                          <a:srgbClr val="55544F"/>
                        </a:solidFill>
                        <a:latin typeface="Segoe UI" panose="020B0502040204020203"/>
                      </a:endParaRPr>
                    </a:p>
                  </a:txBody>
                  <a:tcPr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863840" y="4160520"/>
            <a:ext cx="379476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Corrélation de Spearman moyenne avec le classement de référence : 0,971 sur 2 000 pondérations aléatoires, plus huit variantes structurelles (retrait de chaque composante, poids égaux, normalisation par rang).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Les territoires dont le rang dépend des pondérations ne sont pas présentés comme prioritaires.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DÉCISION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Recommandations stratégiques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Cinq leviers, chacun déclenché par un seuil mesuré — aucune recommandation sans le chiffre qui la justifie.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08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pic>
        <p:nvPicPr>
          <p:cNvPr id="14" name="Picture 13" descr="levi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148840"/>
            <a:ext cx="5349240" cy="2458581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1965960"/>
            <a:ext cx="531266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Densifier le réseau d'agents Mobile Money — levier rapide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40664" y="2194560"/>
            <a:ext cx="531266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Déclencheur : plus de 800 habitants par point. S'appuie sur des commerces existants, sans construction.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66928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" y="2645664"/>
            <a:ext cx="531266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Implanter un point de présence opérateur — levier structurel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0664" y="2874264"/>
            <a:ext cx="531266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Déclencheur : aucune agence active. Seul levier créant un guichet là où il n'en existe aucun.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6928" y="3375660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325368"/>
            <a:ext cx="531266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Répartir le maillage plutôt qu'un point unique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40664" y="3553968"/>
            <a:ext cx="531266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Déclencheur : 25 km ou plus jusqu'à une agence. Quand l'éloignement domine, un guichet au chef-lieu ne règle rien.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6928" y="405536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" y="4005072"/>
            <a:ext cx="531266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Ouvrir la concurrence entre opérateurs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40664" y="4233672"/>
            <a:ext cx="531266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Déclencheur : un seul opérateur présent. 4 773 points ne servent que Togocom contre 1 018 pour Moov seul.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309360" y="493776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4937760"/>
            <a:ext cx="32004" cy="123444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60" y="5120640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Les 9 territoires prioritaires représentent 1 080 723 habitants, soit 13% de la population nationale.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Un même territoire peut relever de plusieurs leviers : les populations ne s'additionnent pas d'un levier à l'autre.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PRÉCAUTIONS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Limites et précautions d'interprétation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Ce diagnostic mesure un déficit d'accès aux services — pas une absence de réseau mobile. La distinction est décisive.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09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66928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" y="1965960"/>
            <a:ext cx="540410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La couverture réseau n'est pas mesurée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40664" y="2194560"/>
            <a:ext cx="540410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Une zone sans agence ni agent Mobile Money n'est pas nécessairement une zone sans réseau mobile. C'est la limite la plus importante de ce travail.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66928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645664"/>
            <a:ext cx="540410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Les agences CANAL+ sont absentes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40664" y="2874264"/>
            <a:ext cx="5404104" cy="159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Fichier source vide. Le déficit d'agences ne porte que sur Moov et Togocom.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66928" y="321640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3166110"/>
            <a:ext cx="540410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Le diagnostic décrit 2021-2022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40664" y="3394710"/>
            <a:ext cx="540410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Tout déploiement postérieur est invisible. La hiérarchie des besoins reste valable tant que les écarts ne sont pas comblés.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492240" y="20162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65976" y="1965960"/>
            <a:ext cx="494690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Les scores communaux et préfectoraux ne sont pas comparables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665976" y="2194560"/>
            <a:ext cx="4946904" cy="3185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La composante d'éloignement ne repose pas sur la même mesure aux deux niveaux. Les rangs se lisent à l'intérieur de chaque niveau.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492240" y="2695956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5976" y="2645664"/>
            <a:ext cx="494690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Un score élevé signale un besoin, pas une solution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665976" y="2874264"/>
            <a:ext cx="4946904" cy="477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L'indice ne dit rien du coût, de la faisabilité ni de la rentabilité d'une intervention. Il hiérarchise des besoins mesurés — préalable à un arbitrage, jamais son substitut.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492240" y="3534918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65976" y="3484626"/>
            <a:ext cx="494690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La structure par âge n'est pas prise en compte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65976" y="3713226"/>
            <a:ext cx="4946904" cy="477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Un dénominateur « 15 ans et plus » serait plus juste. Les tableaux d'âges n'ont pas pu être extraits avec une garantie arithmétique suffisante : ils ont été écartés plutôt que repris sans contrôle.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0292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0292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0292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10896"/>
            <a:ext cx="8229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900" b="1">
                <a:solidFill>
                  <a:srgbClr val="8B8A84"/>
                </a:solidFill>
                <a:latin typeface="Consolas" panose="020B0609020204030204"/>
              </a:rPr>
              <a:t>CONCLUSION</a:t>
            </a:r>
            <a:endParaRPr sz="9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548640"/>
            <a:ext cx="859536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800" b="1">
                <a:solidFill>
                  <a:srgbClr val="12120F"/>
                </a:solidFill>
                <a:latin typeface="Segoe UI" panose="020B0502040204020203"/>
              </a:rPr>
              <a:t>Réponse à la problématique</a:t>
            </a:r>
            <a:endParaRPr sz="28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7839" cy="566928"/>
          </a:xfrm>
          <a:prstGeom prst="rect">
            <a:avLst/>
          </a:prstGeom>
          <a:solidFill>
            <a:srgbClr val="E8F2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307592"/>
            <a:ext cx="10692079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1">
                <a:solidFill>
                  <a:srgbClr val="0F4D3B"/>
                </a:solidFill>
                <a:latin typeface="Segoe UI" panose="020B0502040204020203"/>
              </a:rPr>
              <a:t>9 territoires, 1 080 723 habitants, et un ordre d'intervention qui résiste au changement de méthode.</a:t>
            </a:r>
            <a:endParaRPr sz="1350" b="1">
              <a:solidFill>
                <a:srgbClr val="0F4D3B"/>
              </a:solidFill>
              <a:latin typeface="Segoe UI" panose="020B0502040204020203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6928" y="6382512"/>
            <a:ext cx="11057839" cy="9525"/>
          </a:xfrm>
          <a:prstGeom prst="rect">
            <a:avLst/>
          </a:prstGeom>
          <a:solidFill>
            <a:srgbClr val="E6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73952"/>
            <a:ext cx="86868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>
                <a:solidFill>
                  <a:srgbClr val="8B8A84"/>
                </a:solidFill>
                <a:latin typeface="Consolas" panose="020B0609020204030204"/>
              </a:rPr>
              <a:t>République togolaise · Défi Économie numérique · Données ouvertes PRISE 2021-2022, RGPH-5 2022, COD-AB 2021</a:t>
            </a:r>
            <a:endParaRPr sz="800" b="0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27487" y="647395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10 / 10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66928" y="1965960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1">
                <a:solidFill>
                  <a:srgbClr val="8B8A84"/>
                </a:solidFill>
                <a:latin typeface="Consolas" panose="020B0609020204030204"/>
              </a:rPr>
              <a:t>OÙ INVESTIR EN PRIORITÉ</a:t>
            </a:r>
            <a:endParaRPr sz="80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928" y="2286000"/>
            <a:ext cx="57607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12120F"/>
                </a:solidFill>
                <a:latin typeface="Segoe UI" panose="020B0502040204020203"/>
              </a:rPr>
              <a:t>Kpendjal, Mô, Est-Mono, Akébou, Yoto, Kpendjal-Ouest, Tandjoaré, Wawa et Blitta.</a:t>
            </a:r>
            <a:endParaRPr sz="15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66928" y="3387852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337560"/>
            <a:ext cx="55869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Pourquoi ces territoires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40664" y="3566160"/>
            <a:ext cx="5586984" cy="477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Ils cumulent les trois déficits mesurés — desserte, présence d'agences, éloignement — pour une population qui les place au-delà du seuil où l'intervention devient rentable en nombre d'habitants touchés.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66928" y="4226814"/>
            <a:ext cx="68580" cy="68580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176522"/>
            <a:ext cx="55869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12120F"/>
                </a:solidFill>
                <a:latin typeface="Segoe UI" panose="020B0502040204020203"/>
              </a:rPr>
              <a:t>Pourquoi on peut le défendre</a:t>
            </a:r>
            <a:endParaRPr sz="11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0664" y="4405122"/>
            <a:ext cx="5586984" cy="477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950" b="0">
                <a:solidFill>
                  <a:srgbClr val="55544F"/>
                </a:solidFill>
                <a:latin typeface="Segoe UI" panose="020B0502040204020203"/>
              </a:rPr>
              <a:t>2 000 pondérations testées, corrélation moyenne 0,971. 23 contrôles arithmétiques au vert. Aucune valeur imputée. Les approches écartées sont documentées avec leurs preuves.</a:t>
            </a:r>
            <a:endParaRPr sz="95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675120" y="19659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75120" y="1965960"/>
            <a:ext cx="237744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21424" y="2121408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TERRITOIRES PRIORITAIRES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21424" y="2441448"/>
            <a:ext cx="20848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9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21424" y="2871216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sur 39 préfectures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217152" y="19659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17152" y="1965960"/>
            <a:ext cx="2377440" cy="34747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63456" y="2121408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HABITANTS CONCERNÉS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363456" y="2441448"/>
            <a:ext cx="20848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1 080 723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363456" y="2871216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13% de la population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6675120" y="33375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75120" y="3337560"/>
            <a:ext cx="2377440" cy="34747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3493008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STABILITÉ DU CLASSEMENT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821424" y="3813048"/>
            <a:ext cx="20848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0,971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821424" y="4242816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corrélation sur 2 000 pondérations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217152" y="3337560"/>
            <a:ext cx="237744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17152" y="3337560"/>
            <a:ext cx="2377440" cy="34747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63456" y="3493008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>
                <a:solidFill>
                  <a:srgbClr val="8B8A84"/>
                </a:solidFill>
                <a:latin typeface="Consolas" panose="020B0609020204030204"/>
              </a:rPr>
              <a:t>CONTRÔLES AU VERT</a:t>
            </a:r>
            <a:endParaRPr sz="750" b="1">
              <a:solidFill>
                <a:srgbClr val="8B8A84"/>
              </a:solidFill>
              <a:latin typeface="Consolas" panose="020B060902020403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363456" y="3813048"/>
            <a:ext cx="2084832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300" b="1">
                <a:solidFill>
                  <a:srgbClr val="12120F"/>
                </a:solidFill>
                <a:latin typeface="Segoe UI" panose="020B0502040204020203"/>
              </a:rPr>
              <a:t>23 / 23</a:t>
            </a:r>
            <a:endParaRPr sz="2300" b="1">
              <a:solidFill>
                <a:srgbClr val="12120F"/>
              </a:solidFill>
              <a:latin typeface="Segoe UI" panose="020B0502040204020203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9363456" y="4242816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55544F"/>
                </a:solidFill>
                <a:latin typeface="Segoe UI" panose="020B0502040204020203"/>
              </a:rPr>
              <a:t>rejoués à chaque exécution</a:t>
            </a:r>
            <a:endParaRPr sz="800" b="0">
              <a:solidFill>
                <a:srgbClr val="55544F"/>
              </a:solidFill>
              <a:latin typeface="Segoe UI" panose="020B0502040204020203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675120" y="4892040"/>
            <a:ext cx="493776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5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75120" y="4892040"/>
            <a:ext cx="32004" cy="1234440"/>
          </a:xfrm>
          <a:prstGeom prst="rect">
            <a:avLst/>
          </a:prstGeom>
          <a:solidFill>
            <a:srgbClr val="D0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5074920"/>
            <a:ext cx="45262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000" b="0">
                <a:solidFill>
                  <a:srgbClr val="55544F"/>
                </a:solidFill>
                <a:latin typeface="Segoe UI" panose="020B0502040204020203"/>
              </a:rPr>
              <a:t>Ce que ce travail ne prétend pas faire : mesurer la couverture réseau. Compléter ce diagnostic exigerait l'ouverture des couches d'antennes du catalogue national — c'est la première recommandation adressée au producteur de données.</a:t>
            </a:r>
            <a:endParaRPr sz="1000" b="0">
              <a:solidFill>
                <a:srgbClr val="55544F"/>
              </a:solidFill>
              <a:latin typeface="Segoe UI" panose="020B0502040204020203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8850" cy="54864"/>
          </a:xfrm>
          <a:prstGeom prst="rect">
            <a:avLst/>
          </a:prstGeom>
          <a:solidFill>
            <a:srgbClr val="15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558850" y="0"/>
            <a:ext cx="2316422" cy="54864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272" y="0"/>
            <a:ext cx="2316422" cy="54864"/>
          </a:xfrm>
          <a:prstGeom prst="rect">
            <a:avLst/>
          </a:prstGeom>
          <a:solidFill>
            <a:srgbClr val="D21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7863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spc="190">
                <a:solidFill>
                  <a:srgbClr val="8EB6A6"/>
                </a:solidFill>
                <a:latin typeface="Segoe UI" panose="020B0502040204020203"/>
              </a:rPr>
              <a:t>POUR ALLER PLUS LOIN</a:t>
            </a:r>
            <a:endParaRPr sz="950" b="1" spc="190">
              <a:solidFill>
                <a:srgbClr val="8EB6A6"/>
              </a:solidFill>
              <a:latin typeface="Segoe UI" panose="020B05020402040202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spc="-40">
                <a:solidFill>
                  <a:srgbClr val="FFFFFF"/>
                </a:solidFill>
                <a:latin typeface="Segoe UI" panose="020B0502040204020203"/>
              </a:rPr>
              <a:t>Le diagnostic ne s'arrête pas</a:t>
            </a:r>
            <a:endParaRPr sz="3600" b="1" spc="-40">
              <a:solidFill>
                <a:srgbClr val="FFFFFF"/>
              </a:solidFill>
              <a:latin typeface="Segoe UI" panose="020B0502040204020203"/>
            </a:endParaRPr>
          </a:p>
          <a:p>
            <a:pPr algn="l">
              <a:lnSpc>
                <a:spcPct val="106000"/>
              </a:lnSpc>
            </a:pPr>
            <a:r>
              <a:rPr sz="3600" b="1" spc="-40">
                <a:solidFill>
                  <a:srgbClr val="FFFFFF"/>
                </a:solidFill>
                <a:latin typeface="Segoe UI" panose="020B0502040204020203"/>
              </a:rPr>
              <a:t>à ces diapositives</a:t>
            </a:r>
            <a:endParaRPr sz="3600" b="1" spc="-40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8680" y="2980944"/>
            <a:ext cx="841248" cy="41148"/>
          </a:xfrm>
          <a:prstGeom prst="rect">
            <a:avLst/>
          </a:prstGeom>
          <a:solidFill>
            <a:srgbClr val="FFCE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64992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 panose="020B0502040204020203"/>
              </a:rPr>
              <a:t>TABLEAU DE BORD</a:t>
            </a:r>
            <a:endParaRPr sz="850" b="1" spc="130">
              <a:solidFill>
                <a:srgbClr val="8EB6A6"/>
              </a:solidFill>
              <a:latin typeface="Segoe UI" panose="020B05020402040202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11880" y="3328416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CBDED6"/>
                </a:solidFill>
                <a:latin typeface="Segoe UI" panose="020B0502040204020203"/>
              </a:rPr>
              <a:t>39 préfectures, 117 communes, 19 788 points — cartes, fiches de territoire, repondération de l'indice et simulateur de couverture</a:t>
            </a:r>
            <a:endParaRPr sz="1250" b="0">
              <a:solidFill>
                <a:srgbClr val="CBDED6"/>
              </a:solidFill>
              <a:latin typeface="Segoe UI" panose="020B0502040204020203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 panose="020B0502040204020203"/>
              </a:rPr>
              <a:t>CHAÎNE REPRODUCTIBLE</a:t>
            </a:r>
            <a:endParaRPr sz="850" b="1" spc="130">
              <a:solidFill>
                <a:srgbClr val="8EB6A6"/>
              </a:solidFill>
              <a:latin typeface="Segoe UI" panose="020B05020402040202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11880" y="3895344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CBDED6"/>
                </a:solidFill>
                <a:latin typeface="Segoe UI" panose="020B0502040204020203"/>
              </a:rPr>
              <a:t>8 scripts, un rapport de contrôle par étape, 25 contrôles arithmétiques rejoués à chaque exécution</a:t>
            </a:r>
            <a:endParaRPr sz="1250" b="0">
              <a:solidFill>
                <a:srgbClr val="CBDED6"/>
              </a:solidFill>
              <a:latin typeface="Segoe UI" panose="020B0502040204020203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8680" y="4498848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 spc="130">
                <a:solidFill>
                  <a:srgbClr val="8EB6A6"/>
                </a:solidFill>
                <a:latin typeface="Segoe UI" panose="020B0502040204020203"/>
              </a:rPr>
              <a:t>DONNÉES OUVERTES</a:t>
            </a:r>
            <a:endParaRPr sz="850" b="1" spc="130">
              <a:solidFill>
                <a:srgbClr val="8EB6A6"/>
              </a:solidFill>
              <a:latin typeface="Segoe UI" panose="020B05020402040202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611880" y="4462272"/>
            <a:ext cx="5577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CBDED6"/>
                </a:solidFill>
                <a:latin typeface="Segoe UI" panose="020B0502040204020203"/>
              </a:rPr>
              <a:t>aucune valeur imputée ; les trois pistes écartées sont documentées avec leurs preuves</a:t>
            </a:r>
            <a:endParaRPr sz="1250" b="0">
              <a:solidFill>
                <a:srgbClr val="CBDED6"/>
              </a:solidFill>
              <a:latin typeface="Segoe UI" panose="020B0502040204020203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68680" y="5230368"/>
            <a:ext cx="8549640" cy="9525"/>
          </a:xfrm>
          <a:prstGeom prst="rect">
            <a:avLst/>
          </a:prstGeom>
          <a:solidFill>
            <a:srgbClr val="1B5E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46811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CE15"/>
                </a:solidFill>
                <a:latin typeface="Segoe UI" panose="020B0502040204020203"/>
              </a:rPr>
              <a:t>Tableau de bord en ligne — adresse à renseigner (src/build_deck.py)</a:t>
            </a:r>
            <a:endParaRPr sz="1500" b="1">
              <a:solidFill>
                <a:srgbClr val="FFCE15"/>
              </a:solidFill>
              <a:latin typeface="Segoe UI" panose="020B05020402040202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8680" y="5907024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>
                <a:solidFill>
                  <a:srgbClr val="FFFFFF"/>
                </a:solidFill>
                <a:latin typeface="Segoe UI" panose="020B0502040204020203"/>
              </a:rPr>
              <a:t>KOUTSAVA Kossi Epiphane</a:t>
            </a:r>
            <a:endParaRPr sz="1350" b="1">
              <a:solidFill>
                <a:srgbClr val="FFFFFF"/>
              </a:solidFill>
              <a:latin typeface="Segoe UI" panose="020B05020402040202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68680" y="6199632"/>
            <a:ext cx="10424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>
                <a:solidFill>
                  <a:srgbClr val="6D9A89"/>
                </a:solidFill>
                <a:latin typeface="Segoe UI" panose="020B0502040204020203"/>
              </a:rPr>
              <a:t>République togolaise · Défi Économie numérique · Un score élevé signale un besoin mesuré — ni un coût, ni une faisabilité, ni une rentabilité.</a:t>
            </a:r>
            <a:endParaRPr sz="800" b="0">
              <a:solidFill>
                <a:srgbClr val="6D9A89"/>
              </a:solidFill>
              <a:latin typeface="Segoe UI" panose="020B0502040204020203"/>
            </a:endParaRPr>
          </a:p>
        </p:txBody>
      </p:sp>
      <p:pic>
        <p:nvPicPr>
          <p:cNvPr id="19" name="Picture 18" descr="armoi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3903" y="2148840"/>
            <a:ext cx="2032000" cy="2926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12526</Words>
  <Application>WPS Presentation</Application>
  <PresentationFormat>On-screen Show (4:3)</PresentationFormat>
  <Paragraphs>516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3" baseType="lpstr">
      <vt:lpstr>Arial</vt:lpstr>
      <vt:lpstr>SimSun</vt:lpstr>
      <vt:lpstr>Wingdings</vt:lpstr>
      <vt:lpstr>Arial</vt:lpstr>
      <vt:lpstr>Segoe UI</vt:lpstr>
      <vt:lpstr>Consolas</vt:lpstr>
      <vt:lpstr>Calibri</vt:lpstr>
      <vt:lpstr>Microsoft YaHei</vt:lpstr>
      <vt:lpstr>Arial Unicode MS</vt:lpstr>
      <vt:lpstr>MS PGothic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kprim</cp:lastModifiedBy>
  <cp:revision>2</cp:revision>
  <dcterms:created xsi:type="dcterms:W3CDTF">2013-01-27T09:14:00Z</dcterms:created>
  <dcterms:modified xsi:type="dcterms:W3CDTF">2026-09-11T19:38:58Z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C348E4E92E3A402CBE59B9195C3732F6_12</vt:lpwstr>
  </property>
  <property fmtid="{D5CDD505-2E9C-101B-9397-08002B2CF9AE}" pid="3" name="KSOProductBuildVer">
    <vt:lpwstr>1036-12.1.0.28485</vt:lpwstr>
  </property>
</Properties>
</file>