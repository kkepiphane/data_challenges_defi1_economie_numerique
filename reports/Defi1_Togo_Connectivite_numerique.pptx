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4864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4864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4864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32688"/>
            <a:ext cx="7589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spc="190">
                <a:solidFill>
                  <a:srgbClr val="8EB6A6"/>
                </a:solidFill>
                <a:latin typeface="Segoe UI" panose="020B0502040204020203"/>
              </a:rPr>
              <a:t>DÉFI 1 · ÉCONOMIE NUMÉRIQUE · RÉPUBLIQUE TOGOLAISE</a:t>
            </a:r>
            <a:endParaRPr sz="950" b="1" spc="190">
              <a:solidFill>
                <a:srgbClr val="8EB6A6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300" b="1" spc="-50">
                <a:solidFill>
                  <a:srgbClr val="FFFFFF"/>
                </a:solidFill>
                <a:latin typeface="Segoe UI" panose="020B0502040204020203"/>
              </a:rPr>
              <a:t>Connecter le Togo</a:t>
            </a:r>
            <a:endParaRPr sz="4300" b="1" spc="-50">
              <a:solidFill>
                <a:srgbClr val="FFFFFF"/>
              </a:solidFill>
              <a:latin typeface="Segoe UI" panose="020B0502040204020203"/>
            </a:endParaRPr>
          </a:p>
          <a:p>
            <a:pPr algn="l">
              <a:lnSpc>
                <a:spcPct val="102000"/>
              </a:lnSpc>
            </a:pPr>
            <a:r>
              <a:rPr sz="4300" b="1" spc="-50">
                <a:solidFill>
                  <a:srgbClr val="FFFFFF"/>
                </a:solidFill>
                <a:latin typeface="Segoe UI" panose="020B0502040204020203"/>
              </a:rPr>
              <a:t>là où le manque est prouvé</a:t>
            </a:r>
            <a:endParaRPr sz="4300" b="1" spc="-5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3127248"/>
            <a:ext cx="841248" cy="41148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83407"/>
            <a:ext cx="7223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2000"/>
              </a:lnSpc>
            </a:pPr>
            <a:r>
              <a:rPr sz="1400" b="0">
                <a:solidFill>
                  <a:srgbClr val="CBDED6"/>
                </a:solidFill>
                <a:latin typeface="Segoe UI" panose="020B0502040204020203"/>
              </a:rPr>
              <a:t>Le Togo compte un point de service financier numérique pour 409 habitants. Cette moyenne ne dit rien d'utile : entre la préfecture la mieux dotée et la moins dotée, l'écart est de 1 à 12,7.</a:t>
            </a:r>
            <a:endParaRPr sz="1400" b="0">
              <a:solidFill>
                <a:srgbClr val="CBDED6"/>
              </a:solidFill>
              <a:latin typeface="Segoe UI" panose="020B0502040204020203"/>
            </a:endParaRPr>
          </a:p>
          <a:p>
            <a:pPr algn="l">
              <a:lnSpc>
                <a:spcPct val="152000"/>
              </a:lnSpc>
            </a:pPr>
            <a:r>
              <a:rPr sz="1400" b="0">
                <a:solidFill>
                  <a:srgbClr val="CBDED6"/>
                </a:solidFill>
                <a:latin typeface="Segoe UI" panose="020B0502040204020203"/>
              </a:rPr>
              <a:t>Ce diagnostic désigne les territoires où investir, et publie de quoi contester le classement.</a:t>
            </a:r>
            <a:endParaRPr sz="1400" b="0">
              <a:solidFill>
                <a:srgbClr val="CBDED6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828032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30">
                <a:solidFill>
                  <a:srgbClr val="8EB6A6"/>
                </a:solidFill>
                <a:latin typeface="Segoe UI" panose="020B0502040204020203"/>
              </a:rPr>
              <a:t>HABITANTS PAR POINT DE SERVICE</a:t>
            </a:r>
            <a:endParaRPr sz="850" b="1" spc="130">
              <a:solidFill>
                <a:srgbClr val="8EB6A6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5093208"/>
            <a:ext cx="25968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spc="-40">
                <a:solidFill>
                  <a:srgbClr val="FFFFFF"/>
                </a:solidFill>
                <a:latin typeface="Segoe UI" panose="020B0502040204020203"/>
              </a:rPr>
              <a:t>409</a:t>
            </a:r>
            <a:endParaRPr sz="2700" b="1" spc="-4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5568696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D9A89"/>
                </a:solidFill>
                <a:latin typeface="Segoe UI" panose="020B0502040204020203"/>
              </a:rPr>
              <a:t>moyenne nationale · 19 788 points géolocalisés</a:t>
            </a:r>
            <a:endParaRPr sz="900" b="0">
              <a:solidFill>
                <a:srgbClr val="6D9A89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21608" y="4828032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30">
                <a:solidFill>
                  <a:srgbClr val="8EB6A6"/>
                </a:solidFill>
                <a:latin typeface="Segoe UI" panose="020B0502040204020203"/>
              </a:rPr>
              <a:t>ÉCART ENTRE PRÉFECTURES</a:t>
            </a:r>
            <a:endParaRPr sz="850" b="1" spc="130">
              <a:solidFill>
                <a:srgbClr val="8EB6A6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21608" y="5093208"/>
            <a:ext cx="25968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spc="-40">
                <a:solidFill>
                  <a:srgbClr val="FFFFFF"/>
                </a:solidFill>
                <a:latin typeface="Segoe UI" panose="020B0502040204020203"/>
              </a:rPr>
              <a:t>1 à 12,7</a:t>
            </a:r>
            <a:endParaRPr sz="2700" b="1" spc="-4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21608" y="5568696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D9A89"/>
                </a:solidFill>
                <a:latin typeface="Segoe UI" panose="020B0502040204020203"/>
              </a:rPr>
              <a:t>Kpendjal contre Tchaoudjo</a:t>
            </a:r>
            <a:endParaRPr sz="900" b="0">
              <a:solidFill>
                <a:srgbClr val="6D9A89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4536" y="4828032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130">
                <a:solidFill>
                  <a:srgbClr val="8EB6A6"/>
                </a:solidFill>
                <a:latin typeface="Segoe UI" panose="020B0502040204020203"/>
              </a:rPr>
              <a:t>PRÉFECTURES SANS AUCUNE AGENCE</a:t>
            </a:r>
            <a:endParaRPr sz="850" b="1" spc="130">
              <a:solidFill>
                <a:srgbClr val="8EB6A6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74536" y="5093208"/>
            <a:ext cx="25968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 spc="-40">
                <a:solidFill>
                  <a:srgbClr val="FFFFFF"/>
                </a:solidFill>
                <a:latin typeface="Segoe UI" panose="020B0502040204020203"/>
              </a:rPr>
              <a:t>13 / 39</a:t>
            </a:r>
            <a:endParaRPr sz="2700" b="1" spc="-4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4536" y="5568696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D9A89"/>
                </a:solidFill>
                <a:latin typeface="Segoe UI" panose="020B0502040204020203"/>
              </a:rPr>
              <a:t>1 621 720 habitants concernés</a:t>
            </a:r>
            <a:endParaRPr sz="900" b="0">
              <a:solidFill>
                <a:srgbClr val="6D9A89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94360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FFFFFF"/>
                </a:solidFill>
                <a:latin typeface="Segoe UI" panose="020B0502040204020203"/>
              </a:rPr>
              <a:t>KOUTSAVA Kossi Epiphane</a:t>
            </a:r>
            <a:endParaRPr sz="145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68680" y="6483096"/>
            <a:ext cx="8183879" cy="9525"/>
          </a:xfrm>
          <a:prstGeom prst="rect">
            <a:avLst/>
          </a:prstGeom>
          <a:solidFill>
            <a:srgbClr val="1B5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574536"/>
            <a:ext cx="104698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6D9A89"/>
                </a:solidFill>
                <a:latin typeface="Segoe UI" panose="020B0502040204020203"/>
              </a:rPr>
              <a:t>Géoportail national (PRISE 2021-2022) · RGPH-5, INSEED (novembre 2022) · limites COD-AB v02, OCHA (2021) — 25 contrôles arithmétiques publiés</a:t>
            </a:r>
            <a:endParaRPr sz="800" b="0">
              <a:solidFill>
                <a:srgbClr val="6D9A89"/>
              </a:solidFill>
              <a:latin typeface="Segoe UI" panose="020B0502040204020203"/>
            </a:endParaRPr>
          </a:p>
        </p:txBody>
      </p:sp>
      <p:pic>
        <p:nvPicPr>
          <p:cNvPr id="24" name="Picture 23" descr="armoir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4447" y="1970532"/>
            <a:ext cx="225425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DÉFI ÉCONOMIE NUMÉRIQUE · TOGO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Problématique et enjeux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L'accès aux services numériques au Togo n'est pas faible partout : il est très inégal — et l'inégalité se mesure.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01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196596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2120F"/>
                </a:solidFill>
                <a:latin typeface="Segoe UI" panose="020B0502040204020203"/>
              </a:rPr>
              <a:t>Où faut-il investir en priorité pour réduire les inégalités d'accès aux télécommunications et aux services numériques au Togo, et pourquoi ?</a:t>
            </a:r>
            <a:endParaRPr sz="17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3022092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971800"/>
            <a:ext cx="558698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Une moyenne nationale ne suffit pas à décider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" y="3200400"/>
            <a:ext cx="558698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409 habitants par point Mobile Money en moyenne — mais un rapport de 1 à 12,7 entre préfectures. Agir « partout » revient à n'agir nulle part en priorité.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3701796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651504"/>
            <a:ext cx="558698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Un déficit se prouve, il ne se déclare pas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" y="3880104"/>
            <a:ext cx="558698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Affirmer qu'un territoire est sous-desservi exige un dénominateur : la population. Sans elle, un faible comptage peut simplement refléter une faible démographie.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4381500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4331208"/>
            <a:ext cx="558698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Une priorisation doit résister à la contestation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" y="4559808"/>
            <a:ext cx="558698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Un classement dépendant de pondérations arbitraires n'est pas défendable. Il doit être testé, et sa stabilité publiée.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903720" y="1965960"/>
            <a:ext cx="21945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1965960"/>
            <a:ext cx="2194560" cy="34747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0024" y="2121408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POPULATION RÉSIDENTE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50024" y="2441448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8 095 498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50024" y="2871216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RGPH-5 · novembre 2022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281160" y="1965960"/>
            <a:ext cx="21945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60" y="1965960"/>
            <a:ext cx="219456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7464" y="2121408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POINTS DE SERVICE RECENSÉS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27464" y="2441448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19 788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27464" y="2871216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tous géolocalisés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903720" y="3355848"/>
            <a:ext cx="21945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03720" y="3355848"/>
            <a:ext cx="2194560" cy="34747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0024" y="3511296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PRÉFECTURES SANS AUCUNE AGENCE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50024" y="3831336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13 / 39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050024" y="4261104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1 621 720 habitants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281160" y="3355848"/>
            <a:ext cx="21945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81160" y="3355848"/>
            <a:ext cx="2194560" cy="34747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27464" y="3511296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TERRITOIRES PRIORITAIRES IDENTIFIÉS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27464" y="3831336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9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27464" y="4261104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priorité stable sur 2 000 pondérations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DONNÉES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Données, sources et qualité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Trois sources publiques, trois producteurs — et deux constats qui corrigent l'énoncé du défi : 2 opérateurs et non 4, 90 agences et non 141.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02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1874519"/>
          <a:ext cx="11057837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351"/>
                <a:gridCol w="2653881"/>
                <a:gridCol w="1990411"/>
                <a:gridCol w="3096194"/>
              </a:tblGrid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Donnée</a:t>
                      </a:r>
                      <a:endParaRPr sz="9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Producteur</a:t>
                      </a:r>
                      <a:endParaRPr sz="9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Période</a:t>
                      </a:r>
                      <a:endParaRPr sz="9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Ce qu'elle apporte</a:t>
                      </a:r>
                      <a:endParaRPr sz="9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Agences, agents Mobile Money, data centers</a:t>
                      </a:r>
                      <a:endParaRPr sz="9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Géoportail national du Togo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Collecte 2021-2022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Localisation de chaque équipement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Population résidente</a:t>
                      </a:r>
                      <a:endParaRPr sz="9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INSEED — 5ᵉ recensement (RGPH-5)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23 oct. – 16 nov. 2022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Le dénominateur de tous les ratios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Limites administratives et superficies</a:t>
                      </a:r>
                      <a:endParaRPr sz="9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Common Operational Datasets (OCHA)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Valides au 07/01/2021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Contours, densités, distances</a:t>
                      </a:r>
                      <a:endParaRPr sz="9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66928" y="3200400"/>
            <a:ext cx="1105783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00400"/>
            <a:ext cx="32004" cy="60350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1927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LA DONNÉE QUI MANQUE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" y="3529584"/>
            <a:ext cx="106006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55544F"/>
                </a:solidFill>
                <a:latin typeface="Segoe UI" panose="020B0502040204020203"/>
              </a:rPr>
              <a:t>Aucune mesure de couverture réseau mobile n'existe dans les sources ouvertes mobilisées. Ce travail mesure un déficit d'accès aux services — pas une absence de réseau.</a:t>
            </a:r>
            <a:endParaRPr sz="10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4119372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069080"/>
            <a:ext cx="54498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« Agences – Télécom » n'est pas un quatrième opérateur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0664" y="4297680"/>
            <a:ext cx="5449824" cy="47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Ses 51 lignes sont déjà contenues dans les fichiers Moov et Togocom réunis, sans un seul enregistrement propre. Empiler les quatre fichiers afficherait 141 agences au lieu de 90 — 57 % de surestimation dès le premier indicateur.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4958334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4908042"/>
            <a:ext cx="54498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« Agences – CANAL+ » est vide à la source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664" y="5136642"/>
            <a:ext cx="544982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Le serveur joint lui-même la mention « the query result is empty » : c'est une donnée non disponible, et non une absence d'agences sur le terrain.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5638038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5587746"/>
            <a:ext cx="54498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L'identifiant fourni est volatile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0664" y="5816346"/>
            <a:ext cx="5449824" cy="47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La même agence porte un identifiant différent dans deux fichiers exportés à trois secondes d'intervalle. La déduplication repose sur le nom et les coordonnées.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83680" y="4069080"/>
            <a:ext cx="50292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4069080"/>
            <a:ext cx="32004" cy="196596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2336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25 CONTRÔLES ARITHMÉTIQUES, REJOUÉS À CHAQUE EXÉCUTION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12280" y="4572000"/>
            <a:ext cx="45720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La population extraite du PDF de l'INSEED somme exactement à 8 095 498 habitants aux trois niveaux — 5 régions, 39 préfectures, 117 communes — sans écart d'une unité.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Ces contrôles ont servi : une jointure sur des noms accentués faisait tomber neuf préfectures à zéro point Mobile Money, et une somme régionale à 11 630 489 a révélé un double comptage du Grand Lomé.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MÉTHODE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Méthodologie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Deux unités d'analyse, chacune utilisée là où sa validité est prouvée — et un indice dont les pondérations sont testées.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03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1965960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LES DEUX UNITÉS D'ANALYSE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2240280"/>
          <a:ext cx="566927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012"/>
                <a:gridCol w="2097633"/>
                <a:gridCol w="2097633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Unité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Rôle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Justification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Préfecture (39)</a:t>
                      </a:r>
                      <a:endParaRPr sz="90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Cartes, superficies, densités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concordance spatiale 98,4 %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Commune (117)</a:t>
                      </a:r>
                      <a:endParaRPr sz="90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Ratios par habitant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population validée à l'unité près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3337560"/>
            <a:ext cx="5669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Reconstruire les contours des 117 communes a été testé puis rejeté sur preuve : les découpages ne s'emboîtent pas — 65,6 % des points tombent dans une unité à cheval sur plusieurs communes. Publier ces contours aurait produit des densités fausses sans aucune alerte.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L'INDICE DE PRIORITÉ — QUATRE COMPOSANTES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0" y="224028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928"/>
                <a:gridCol w="2212848"/>
                <a:gridCol w="1106424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Composante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Mesure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Poids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Déficit Mobile Money</a:t>
                      </a:r>
                      <a:endParaRPr sz="90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habitants par point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30 %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Déficit d'agences</a:t>
                      </a:r>
                      <a:endParaRPr sz="90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agences / 100 000 hab.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25 %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Éloignement</a:t>
                      </a:r>
                      <a:endParaRPr sz="90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distance médiane à une agence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25 %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Enjeu démographique</a:t>
                      </a:r>
                      <a:endParaRPr sz="90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population concernée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20 %</a:t>
                      </a:r>
                      <a:endParaRPr sz="90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583680" y="3977639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Le déficit Mobile Money reprend la définition officielle du géoportail national — « nombre d'habitants par point mobile money ». L'indicateur central n'a pas été inventé pour ce travail.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Ces pondérations sont un choix assumé. C'est exactement pourquoi 2 000 pondérations alternatives sont testées.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928" y="4663440"/>
            <a:ext cx="56692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Aucune valeur n'est imputée ni estimée. Toute donnée absente est déclarée absente. Aucun écrêtage n'est appliqué aux valeurs extrêmes : elles sont des faits, et leur influence est mesurée par une variante de calcul insensible aux extrêmes.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DIAGNOSTIC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Diagnostic national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409 habitants par point de service en moyenne — mais un rapport de 1 à 12,7 entre la préfecture la mieux et la moins bien desservie.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04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pic>
        <p:nvPicPr>
          <p:cNvPr id="14" name="Picture 13" descr="ecart_desser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39" y="1874519"/>
            <a:ext cx="7404482" cy="429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6928" y="1965960"/>
            <a:ext cx="320040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965960"/>
            <a:ext cx="3200400" cy="34747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21408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MOYENNE NATIONALE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2441448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409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2871216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habitants par point Mobile Money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8" y="3081528"/>
            <a:ext cx="320040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081528"/>
            <a:ext cx="3200400" cy="34747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36976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PRÉFECTURE LA MOINS DESSERVIE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3557016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2 155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3986784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Kpendjal · 5,3 × la moyenne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4197096"/>
            <a:ext cx="320040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197096"/>
            <a:ext cx="32004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352544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PRÉFECTURES AU-DESSUS DE LA MOYENNE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" y="4672584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24 / 39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102352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moins bien desservies que le pays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5312664"/>
            <a:ext cx="320040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312664"/>
            <a:ext cx="3200400" cy="34747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468112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COMMUNES SANS AUCUNE AGENCE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3232" y="5788152"/>
            <a:ext cx="290779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75 / 117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3232" y="6217920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3 371 081 habitants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" y="64008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GÉOSPATIAL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Analyse géospatiale et inégalités territoriales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La moitié la moins bien desservie de la population ne dispose que de 27 % des points de service.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05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pic>
        <p:nvPicPr>
          <p:cNvPr id="14" name="Picture 13" descr="quadra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5015010" cy="3931920"/>
          </a:xfrm>
          <a:prstGeom prst="rect">
            <a:avLst/>
          </a:prstGeom>
        </p:spPr>
      </p:pic>
      <p:pic>
        <p:nvPicPr>
          <p:cNvPr id="15" name="Picture 14" descr="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779520" cy="393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5943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12 préfectures sont à la fois plus peuplées que la médiane nationale et moins bien desservies que la moyenne : c'est là qu'un investissement touche le plus d'habitants.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59436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L'écart à la diagonale mesure la concentration. Les distances sont calculées après reprojection métrique — en degrés, elles seraient fausses.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PRIORISATION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Zones prioritaires · indice DCPI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Neuf préfectures restent dans le top 10 pour au moins 90 % de 2 000 pondérations testées : leur priorité ne dépend pas de la méthode.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06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pic>
        <p:nvPicPr>
          <p:cNvPr id="14" name="Picture 13" descr="carte_prior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19"/>
            <a:ext cx="2170081" cy="4343400"/>
          </a:xfrm>
          <a:prstGeom prst="rect">
            <a:avLst/>
          </a:prstGeom>
        </p:spPr>
      </p:pic>
      <p:pic>
        <p:nvPicPr>
          <p:cNvPr id="15" name="Picture 14" descr="sensibi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74519"/>
            <a:ext cx="4752345" cy="370332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863840" y="1874519"/>
          <a:ext cx="379475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80"/>
                <a:gridCol w="1138428"/>
                <a:gridCol w="721004"/>
                <a:gridCol w="645109"/>
                <a:gridCol w="379476"/>
                <a:gridCol w="607161"/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#</a:t>
                      </a:r>
                      <a:endParaRPr sz="8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Préfecture</a:t>
                      </a:r>
                      <a:endParaRPr sz="8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Hab.</a:t>
                      </a:r>
                      <a:endParaRPr sz="8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Hab./pt</a:t>
                      </a:r>
                      <a:endParaRPr sz="8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Ag.</a:t>
                      </a:r>
                      <a:endParaRPr sz="8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Dist.</a:t>
                      </a:r>
                      <a:endParaRPr sz="85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156C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1</a:t>
                      </a:r>
                      <a:endParaRPr sz="8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Kpendjal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88 365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2 155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0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47 km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2</a:t>
                      </a:r>
                      <a:endParaRPr sz="8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Mô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52 448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1 639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0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45 km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3</a:t>
                      </a:r>
                      <a:endParaRPr sz="8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Est-Mono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164 460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787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0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46 km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4</a:t>
                      </a:r>
                      <a:endParaRPr sz="8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Akébou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73 830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849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0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43 km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5</a:t>
                      </a:r>
                      <a:endParaRPr sz="8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Blitta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163 272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1 814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2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28 km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2120F"/>
                          </a:solidFill>
                          <a:latin typeface="Segoe UI" panose="020B0502040204020203"/>
                        </a:rPr>
                        <a:t>6</a:t>
                      </a:r>
                      <a:endParaRPr sz="850" b="1">
                        <a:solidFill>
                          <a:srgbClr val="12120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Wawa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101 300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415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0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44F"/>
                          </a:solidFill>
                          <a:latin typeface="Segoe UI" panose="020B0502040204020203"/>
                        </a:rPr>
                        <a:t>44 km</a:t>
                      </a:r>
                      <a:endParaRPr sz="850" b="0">
                        <a:solidFill>
                          <a:srgbClr val="55544F"/>
                        </a:solidFill>
                        <a:latin typeface="Segoe UI" panose="020B0502040204020203"/>
                      </a:endParaRPr>
                    </a:p>
                  </a:txBody>
                  <a:tcPr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863840" y="4160520"/>
            <a:ext cx="37947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Corrélation de Spearman moyenne avec le classement de référence : 0,971 sur 2 000 pondérations aléatoires, plus huit variantes structurelles (retrait de chaque composante, poids égaux, normalisation par rang).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Les territoires dont le rang dépend des pondérations ne sont pas présentés comme prioritaires.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DÉCISION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Recommandations stratégiques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Cinq leviers, chacun déclenché par un seuil mesuré — aucune recommandation sans le chiffre qui la justifie.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07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pic>
        <p:nvPicPr>
          <p:cNvPr id="14" name="Picture 13" descr="levi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48840"/>
            <a:ext cx="5349240" cy="245858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6928" y="2016252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1965960"/>
            <a:ext cx="5312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Densifier le réseau d'agents Mobile Money — levier rapide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" y="2194560"/>
            <a:ext cx="531266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Déclencheur : plus de 800 habitants par point. S'appuie sur des commerces existants, sans construction.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2695956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645664"/>
            <a:ext cx="5312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Implanter un point de présence opérateur — levier structurel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" y="2874264"/>
            <a:ext cx="531266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Déclencheur : aucune agence active. Seul levier créant un guichet là où il n'en existe aucun.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3375660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325368"/>
            <a:ext cx="5312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Répartir le maillage plutôt qu'un point unique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" y="3553968"/>
            <a:ext cx="531266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Déclencheur : 25 km ou plus jusqu'à une agence. Quand l'éloignement domine, un guichet au chef-lieu ne règle rien.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6928" y="4055364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4005072"/>
            <a:ext cx="53126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Ouvrir la concurrence entre opérateurs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0664" y="4233672"/>
            <a:ext cx="531266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Déclencheur : un seul opérateur présent. 4 773 points ne servent que Togocom contre 1 018 pour Moov seul.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09360" y="493776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937760"/>
            <a:ext cx="32004" cy="123444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12064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Les 9 territoires prioritaires représentent 1 080 723 habitants, soit 13% de la population nationale.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Un même territoire peut relever de plusieurs leviers : les populations ne s'additionnent pas d'un levier à l'autre.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PRÉCAUTIONS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Limites et précautions d'interprétation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Ce diagnostic mesure un déficit d'accès aux services — pas une absence de réseau mobile. La distinction est décisive.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08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2016252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1965960"/>
            <a:ext cx="54041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La couverture réseau n'est pas mesurée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0664" y="2194560"/>
            <a:ext cx="540410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Une zone sans agence ni agent Mobile Money n'est pas nécessairement une zone sans réseau mobile. C'est la limite la plus importante de ce travail.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2695956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645664"/>
            <a:ext cx="54041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Les agences CANAL+ sont absentes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664" y="2874264"/>
            <a:ext cx="5404104" cy="159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Fichier source vide. Le déficit d'agences ne porte que sur Moov et Togocom.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8" y="3216402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166110"/>
            <a:ext cx="54041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Le diagnostic décrit 2021-2022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0664" y="3394710"/>
            <a:ext cx="540410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Tout déploiement postérieur est invisible. La hiérarchie des besoins reste valable tant que les écarts ne sont pas comblés.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92240" y="2016252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5976" y="1965960"/>
            <a:ext cx="49469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Les scores communaux et préfectoraux ne sont pas comparables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65976" y="2194560"/>
            <a:ext cx="4946904" cy="318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La composante d'éloignement ne repose pas sur la même mesure aux deux niveaux. Les rangs se lisent à l'intérieur de chaque niveau.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92240" y="2695956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5976" y="2645664"/>
            <a:ext cx="49469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Un score élevé signale un besoin, pas une solution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65976" y="2874264"/>
            <a:ext cx="4946904" cy="47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L'indice ne dit rien du coût, de la faisabilité ni de la rentabilité d'une intervention. Il hiérarchise des besoins mesurés — préalable à un arbitrage, jamais son substitut.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92240" y="3534918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5976" y="3484626"/>
            <a:ext cx="49469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La structure par âge n'est pas prise en compte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65976" y="3713226"/>
            <a:ext cx="4946904" cy="47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Un dénominateur « 15 ans et plus » serait plus juste. Les tableaux d'âges n'ont pas pu être extraits avec une garantie arithmétique suffisante : ils ont été écartés plutôt que repris sans contrôle.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0" cy="50292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58850" y="0"/>
            <a:ext cx="2316422" cy="50292"/>
          </a:xfrm>
          <a:prstGeom prst="rect">
            <a:avLst/>
          </a:prstGeom>
          <a:solidFill>
            <a:srgbClr val="FFC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272" y="0"/>
            <a:ext cx="2316422" cy="50292"/>
          </a:xfrm>
          <a:prstGeom prst="rect">
            <a:avLst/>
          </a:prstGeom>
          <a:solidFill>
            <a:srgbClr val="D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1">
                <a:solidFill>
                  <a:srgbClr val="8B8A84"/>
                </a:solidFill>
                <a:latin typeface="Consolas" panose="020B0609020204030204"/>
              </a:rPr>
              <a:t>CONCLUSION</a:t>
            </a:r>
            <a:endParaRPr sz="9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54864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12120F"/>
                </a:solidFill>
                <a:latin typeface="Segoe UI" panose="020B0502040204020203"/>
              </a:rPr>
              <a:t>Réponse à la problématique</a:t>
            </a:r>
            <a:endParaRPr sz="28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7839" cy="566928"/>
          </a:xfrm>
          <a:prstGeom prst="rect">
            <a:avLst/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07592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0F4D3B"/>
                </a:solidFill>
                <a:latin typeface="Segoe UI" panose="020B0502040204020203"/>
              </a:rPr>
              <a:t>9 territoires, 1 080 723 habitants, et un ordre d'intervention qui résiste au changement de méthode.</a:t>
            </a:r>
            <a:endParaRPr sz="1350" b="1">
              <a:solidFill>
                <a:srgbClr val="0F4D3B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6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>
                <a:solidFill>
                  <a:srgbClr val="8B8A84"/>
                </a:solidFill>
                <a:latin typeface="Consolas" panose="020B0609020204030204"/>
              </a:rPr>
              <a:t>République togolaise · Défi Économie numérique · Données ouvertes PRISE 2021-2022, RGPH-5 2022, COD-AB 2021</a:t>
            </a:r>
            <a:endParaRPr sz="800" b="0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09 / 9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196596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>
                <a:solidFill>
                  <a:srgbClr val="8B8A84"/>
                </a:solidFill>
                <a:latin typeface="Consolas" panose="020B0609020204030204"/>
              </a:rPr>
              <a:t>OÙ INVESTIR EN PRIORITÉ</a:t>
            </a:r>
            <a:endParaRPr sz="80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2286000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2120F"/>
                </a:solidFill>
                <a:latin typeface="Segoe UI" panose="020B0502040204020203"/>
              </a:rPr>
              <a:t>Kpendjal, Mô, Est-Mono, Akébou, Yoto, Kpendjal-Ouest, Tandjoaré, Wawa et Blitta.</a:t>
            </a:r>
            <a:endParaRPr sz="15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3387852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3337560"/>
            <a:ext cx="558698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Pourquoi ces territoires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664" y="3566160"/>
            <a:ext cx="5586984" cy="47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Ils cumulent les trois déficits mesurés — desserte, présence d'agences, éloignement — pour une population qui les place au-delà du seuil où l'intervention devient rentable en nombre d'habitants touchés.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4226814"/>
            <a:ext cx="68580" cy="68580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176522"/>
            <a:ext cx="558698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12120F"/>
                </a:solidFill>
                <a:latin typeface="Segoe UI" panose="020B0502040204020203"/>
              </a:rPr>
              <a:t>Pourquoi on peut le défendre</a:t>
            </a:r>
            <a:endParaRPr sz="11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0664" y="4405122"/>
            <a:ext cx="5586984" cy="47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55544F"/>
                </a:solidFill>
                <a:latin typeface="Segoe UI" panose="020B0502040204020203"/>
              </a:rPr>
              <a:t>2 000 pondérations testées, corrélation moyenne 0,971. 25 contrôles arithmétiques au vert. Aucune valeur imputée. Les approches écartées sont documentées avec leurs preuves.</a:t>
            </a:r>
            <a:endParaRPr sz="95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75120" y="1965960"/>
            <a:ext cx="2377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1965960"/>
            <a:ext cx="2377440" cy="34747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2121408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TERRITOIRES PRIORITAIRES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21424" y="2441448"/>
            <a:ext cx="2084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9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21424" y="2871216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sur 39 préfectures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217152" y="1965960"/>
            <a:ext cx="2377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17152" y="1965960"/>
            <a:ext cx="237744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2121408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HABITANTS CONCERNÉS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363456" y="2441448"/>
            <a:ext cx="2084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1 080 723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63456" y="2871216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13% de la population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675120" y="3337560"/>
            <a:ext cx="2377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3337560"/>
            <a:ext cx="2377440" cy="34747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4" y="3493008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STABILITÉ DU CLASSEMENT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21424" y="3813048"/>
            <a:ext cx="2084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0,971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21424" y="4242816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corrélation sur 2 000 pondérations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217152" y="3337560"/>
            <a:ext cx="2377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17152" y="3337560"/>
            <a:ext cx="2377440" cy="34747"/>
          </a:xfrm>
          <a:prstGeom prst="rect">
            <a:avLst/>
          </a:prstGeom>
          <a:solidFill>
            <a:srgbClr val="15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6" y="3493008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>
                <a:solidFill>
                  <a:srgbClr val="8B8A84"/>
                </a:solidFill>
                <a:latin typeface="Consolas" panose="020B0609020204030204"/>
              </a:rPr>
              <a:t>CONTRÔLES AU VERT</a:t>
            </a:r>
            <a:endParaRPr sz="750" b="1">
              <a:solidFill>
                <a:srgbClr val="8B8A84"/>
              </a:solidFill>
              <a:latin typeface="Consolas" panose="020B0609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363456" y="3813048"/>
            <a:ext cx="2084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>
                <a:solidFill>
                  <a:srgbClr val="12120F"/>
                </a:solidFill>
                <a:latin typeface="Segoe UI" panose="020B0502040204020203"/>
              </a:rPr>
              <a:t>25 / 25</a:t>
            </a:r>
            <a:endParaRPr sz="2300" b="1">
              <a:solidFill>
                <a:srgbClr val="12120F"/>
              </a:solidFill>
              <a:latin typeface="Segoe UI" panose="020B05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63456" y="4242816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5544F"/>
                </a:solidFill>
                <a:latin typeface="Segoe UI" panose="020B0502040204020203"/>
              </a:rPr>
              <a:t>rejoués à chaque exécution</a:t>
            </a:r>
            <a:endParaRPr sz="800" b="0">
              <a:solidFill>
                <a:srgbClr val="55544F"/>
              </a:solidFill>
              <a:latin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675120" y="4892040"/>
            <a:ext cx="4937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75120" y="4892040"/>
            <a:ext cx="32004" cy="123444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5074920"/>
            <a:ext cx="4526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5544F"/>
                </a:solidFill>
                <a:latin typeface="Segoe UI" panose="020B0502040204020203"/>
              </a:rPr>
              <a:t>Ce que ce travail ne prétend pas faire : mesurer la couverture réseau. Compléter ce diagnostic exigerait l'ouverture des couches d'antennes du catalogue national — c'est la première recommandation adressée au producteur de données.</a:t>
            </a:r>
            <a:endParaRPr sz="1000" b="0">
              <a:solidFill>
                <a:srgbClr val="55544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10907</Words>
  <Application>WPS Presentation</Application>
  <PresentationFormat>On-screen Show (4:3)</PresentationFormat>
  <Paragraphs>469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kprim</cp:lastModifiedBy>
  <cp:revision>3</cp:revision>
  <dcterms:created xsi:type="dcterms:W3CDTF">2013-01-27T09:14:00Z</dcterms:created>
  <dcterms:modified xsi:type="dcterms:W3CDTF">2026-09-14T08:31:45Z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18FA90B733C54AB3B49237A35961B669_12</vt:lpwstr>
  </property>
  <property fmtid="{D5CDD505-2E9C-101B-9397-08002B2CF9AE}" pid="3" name="KSOProductBuildVer">
    <vt:lpwstr>1036-12.1.0.28485</vt:lpwstr>
  </property>
</Properties>
</file>