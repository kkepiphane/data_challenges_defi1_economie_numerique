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4864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4864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4864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932688"/>
            <a:ext cx="7589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spc="190">
                <a:solidFill>
                  <a:srgbClr val="8EB6A6"/>
                </a:solidFill>
                <a:latin typeface="Segoe UI"/>
              </a:rPr>
              <a:t>DÉFI 1 · ÉCONOMIE NUMÉRIQUE · RÉPUBLIQUE TOGOLAISE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89888"/>
            <a:ext cx="75895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300" b="1" spc="-50">
                <a:solidFill>
                  <a:srgbClr val="FFFFFF"/>
                </a:solidFill>
                <a:latin typeface="Segoe UI"/>
              </a:rPr>
              <a:t>Connecter le Togo</a:t>
            </a:r>
          </a:p>
          <a:p>
            <a:pPr algn="l">
              <a:lnSpc>
                <a:spcPct val="102000"/>
              </a:lnSpc>
            </a:pPr>
            <a:r>
              <a:rPr sz="4300" b="1" spc="-50">
                <a:solidFill>
                  <a:srgbClr val="FFFFFF"/>
                </a:solidFill>
                <a:latin typeface="Segoe UI"/>
              </a:rPr>
              <a:t>là où le manque est prouvé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127248"/>
            <a:ext cx="841248" cy="41148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56432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2000"/>
              </a:lnSpc>
            </a:pPr>
            <a:r>
              <a:rPr sz="1400" b="0">
                <a:solidFill>
                  <a:srgbClr val="CBDED6"/>
                </a:solidFill>
                <a:latin typeface="Segoe UI"/>
              </a:rPr>
              <a:t>Le Togo compte un point de service financier numérique pour 409 habitants. Cette moyenne ne dit rien d'utile : entre la préfecture la mieux dotée et la moins dotée, l'écart est de 1 à 12,7.</a:t>
            </a:r>
          </a:p>
          <a:p>
            <a:pPr algn="l">
              <a:lnSpc>
                <a:spcPct val="152000"/>
              </a:lnSpc>
            </a:pPr>
            <a:r>
              <a:rPr sz="1400" b="0">
                <a:solidFill>
                  <a:srgbClr val="CBDED6"/>
                </a:solidFill>
                <a:latin typeface="Segoe UI"/>
              </a:rPr>
              <a:t>Ce diagnostic désigne les territoires où investir, et publie de quoi contester le classement.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590288"/>
            <a:ext cx="8183879" cy="9525"/>
          </a:xfrm>
          <a:prstGeom prst="rect">
            <a:avLst/>
          </a:prstGeom>
          <a:solidFill>
            <a:srgbClr val="1B5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828032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/>
              </a:rPr>
              <a:t>HABITANTS PAR POINT DE 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09320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 spc="-40">
                <a:solidFill>
                  <a:srgbClr val="FFFFFF"/>
                </a:solidFill>
                <a:latin typeface="Segoe UI"/>
              </a:rPr>
              <a:t>409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568696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D9A89"/>
                </a:solidFill>
                <a:latin typeface="Segoe UI"/>
              </a:rPr>
              <a:t>moyenne nationale · 19 788 points géolocalisés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828032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/>
              </a:rPr>
              <a:t>ÉCART ENTRE PRÉFECTURES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509320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 spc="-40">
                <a:solidFill>
                  <a:srgbClr val="FFFFFF"/>
                </a:solidFill>
                <a:latin typeface="Segoe UI"/>
              </a:rPr>
              <a:t>1 à 12,7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5568696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D9A89"/>
                </a:solidFill>
                <a:latin typeface="Segoe UI"/>
              </a:rPr>
              <a:t>Kpendjal contre Tchaoudjo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4828032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/>
              </a:rPr>
              <a:t>PRÉFECTURES SANS AUCUNE AGENCE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4536" y="509320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 spc="-40">
                <a:solidFill>
                  <a:srgbClr val="FFFFFF"/>
                </a:solidFill>
                <a:latin typeface="Segoe UI"/>
              </a:rPr>
              <a:t>13 / 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4536" y="5568696"/>
            <a:ext cx="2596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D9A89"/>
                </a:solidFill>
                <a:latin typeface="Segoe UI"/>
              </a:rPr>
              <a:t>1 621 720 habitants concernés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9436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FFFFF"/>
                </a:solidFill>
                <a:latin typeface="Segoe UI"/>
              </a:rPr>
              <a:t>KOUTSAVA Kossi Epiphane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6190488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/>
              </a:rPr>
              <a:t>ANALYSE DE DONNÉES · DÉFI ÉCONOMIE NUMÉRIQUE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6483096"/>
            <a:ext cx="8183879" cy="9525"/>
          </a:xfrm>
          <a:prstGeom prst="rect">
            <a:avLst/>
          </a:prstGeom>
          <a:solidFill>
            <a:srgbClr val="1B5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6574536"/>
            <a:ext cx="10469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6D9A89"/>
                </a:solidFill>
                <a:latin typeface="Segoe UI"/>
              </a:rPr>
              <a:t>Géoportail national (PRISE 2021-2022) · RGPH-5, INSEED (novembre 2022) · limites COD-AB v02, OCHA (2021) — 25 contrôles arithmétiques publiés</a:t>
            </a:r>
          </a:p>
        </p:txBody>
      </p:sp>
      <p:pic>
        <p:nvPicPr>
          <p:cNvPr id="24" name="Picture 23" descr="armoi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4447" y="1970532"/>
            <a:ext cx="225425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DÉFI ÉCONOMIE NUMÉRIQUE · TOGO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Problématique et enjeux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L'accès aux services numériques au Togo n'est pas faible partout : il est très inégal — et l'inégalité se mesure.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01 /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965960"/>
            <a:ext cx="5943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2120F"/>
                </a:solidFill>
                <a:latin typeface="Segoe UI"/>
              </a:rPr>
              <a:t>Où faut-il investir en priorité pour réduire les inégalités d'accès aux télécommunications et aux services numériques au Togo, et pourquoi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2209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971800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Une moyenne nationale ne suffit pas à décider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3200400"/>
            <a:ext cx="558698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409 habitants par point Mobile Money en moyenne — mais un rapport de 1 à 12,7 entre préfectures. Agir « partout » revient à n'agir nulle part en priorité.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0179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3651504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 déficit se prouve, il ne se déclare 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" y="3880104"/>
            <a:ext cx="558698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Affirmer qu'un territoire est sous-desservi exige un dénominateur : la population. Sans elle, un faible comptage peut simplement refléter une faible démographie.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381500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4331208"/>
            <a:ext cx="55869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Une priorisation doit résister à la contestation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" y="4559808"/>
            <a:ext cx="558698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Un classement dépendant de pondérations arbitraires n'est pas défendable. Il doit être testé, et sa stabilité publiée.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3720" y="1965960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03720" y="1965960"/>
            <a:ext cx="219456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50024" y="2121408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POPULATION RÉSIDENTE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0024" y="2441448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8 095 498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287121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RGPH-5 · novembre 2022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81160" y="1965960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81160" y="1965960"/>
            <a:ext cx="2194560" cy="3474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27464" y="2121408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POINTS DE SERVICE RECENSÉS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27464" y="2441448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19 788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27464" y="287121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tous géolocalisés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03720" y="3355848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03720" y="3355848"/>
            <a:ext cx="2194560" cy="34747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50024" y="351129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PRÉFECTURES SANS AUCUNE AGENCE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0024" y="3831336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13 / 39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0024" y="4261104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1 621 720 habitants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81160" y="3355848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81160" y="3355848"/>
            <a:ext cx="2194560" cy="34747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511296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TERRITOIRES PRIORITAIRES IDENTIFIÉS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3831336"/>
            <a:ext cx="190195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4261104"/>
            <a:ext cx="1901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priorité stable sur 2 000 pondérations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DONNÉES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Données, sources et qualité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Trois sources publiques, trois producteurs — et deux constats qui corrigent l'énoncé du défi : 2 opérateurs et non 4, 90 agences et non 141.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02 / 9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1874519"/>
          <a:ext cx="11057837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7351"/>
                <a:gridCol w="2653881"/>
                <a:gridCol w="1990411"/>
                <a:gridCol w="3096194"/>
              </a:tblGrid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Donnée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Producteur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Période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Ce qu'elle apporte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120F"/>
                          </a:solidFill>
                          <a:latin typeface="Segoe UI"/>
                        </a:rPr>
                        <a:t>Agences, agents Mobile Money, data centers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Géoportail national du Togo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Collecte 2021-2022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Localisation de chaque équipement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120F"/>
                          </a:solidFill>
                          <a:latin typeface="Segoe UI"/>
                        </a:rPr>
                        <a:t>Population résidente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INSEED — 5ᵉ recensement (RGPH-5)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23 oct. – 16 nov. 2022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Le dénominateur de tous les ratios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120F"/>
                          </a:solidFill>
                          <a:latin typeface="Segoe UI"/>
                        </a:rPr>
                        <a:t>Limites administratives et superficies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Common Operational Datasets (OCHA)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Valides au 07/01/2021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/>
                        </a:rPr>
                        <a:t>Contours, densités, distances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66928" y="3200400"/>
            <a:ext cx="110578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200400"/>
            <a:ext cx="32004" cy="603504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3319272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LA DONNÉE QUI MANQUE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529584"/>
            <a:ext cx="106006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>
                <a:solidFill>
                  <a:srgbClr val="55544F"/>
                </a:solidFill>
                <a:latin typeface="Segoe UI"/>
              </a:rPr>
              <a:t>Aucune mesure de couverture réseau mobile n'existe dans les sources ouvertes mobilisées. Ce travail mesure un déficit d'accès aux services — pas une absence de réseau.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11937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069080"/>
            <a:ext cx="5449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« Agences – Télécom » n'est pas un quatrième opérateur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297680"/>
            <a:ext cx="544982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Ses 51 lignes sont déjà contenues dans les fichiers Moov et Togocom réunis, sans un seul enregistrement propre. Empiler les quatre fichiers afficherait 141 agences au lieu de 90 — 57 % de surestimation dès le premier indicateur.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95833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908042"/>
            <a:ext cx="5449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« Agences – CANAL+ » est vide à la source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" y="5136642"/>
            <a:ext cx="544982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Le serveur joint lui-même la mention « the query result is empty » : c'est une donnée non disponible, et non une absence d'agences sur le terrain.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638038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5587746"/>
            <a:ext cx="5449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L'identifiant fourni est volatile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" y="5816346"/>
            <a:ext cx="544982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La même agence porte un identifiant différent dans deux fichiers exportés à trois secondes d'intervalle. La déduplication repose sur le nom et les coordonnées.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4069080"/>
            <a:ext cx="50292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0" y="4069080"/>
            <a:ext cx="32004" cy="196596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42336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25 CONTRÔLES ARITHMÉTIQUES, REJOUÉS À CHAQUE EXÉCUTION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4572000"/>
            <a:ext cx="45720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La population extraite du PDF de l'INSEED somme exactement à 8 095 498 habitants aux trois niveaux — 5 régions, 39 préfectures, 117 communes — sans écart d'une unité.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Ces contrôles ont servi : une jointure sur des noms accentués faisait tomber neuf préfectures à zéro point Mobile Money, et une somme régionale à 11 630 489 a révélé un double comptage du Grand Lomé.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MÉTHODE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Méthodologie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Deux unités d'analyse, chacune utilisée là où sa validité est prouvée — et un indice dont les pondérations sont testées.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03 /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1965960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LES DEUX UNITÉS D'ANALYSE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66928" y="2240280"/>
          <a:ext cx="5669278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4012"/>
                <a:gridCol w="2097633"/>
                <a:gridCol w="2097633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Unité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Rôle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Justification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Préfecture (39)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Cartes, superficies, densités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concordance spatiale 98,4 %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Commune (117)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Ratios par habitant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population validée à l'unité près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66928" y="3337560"/>
            <a:ext cx="5669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Reconstruire les contours des 117 communes a été testé puis rejeté sur preuve : les découpages ne s'emboîtent pas — 65,6 % des points tombent dans une unité à cheval sur plusieurs communes. Publier ces contours aurait produit des densités fausses sans aucune alerte.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65960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L'INDICE DE PRIORITÉ — QUATRE COMPOSANTES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83680" y="2240280"/>
          <a:ext cx="5029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9928"/>
                <a:gridCol w="2212848"/>
                <a:gridCol w="1106424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Composante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Mesure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/>
                        </a:rPr>
                        <a:t>Poids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Déficit Mobile Money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habitants par 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30 %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Déficit d'agences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agences / 100 000 hab.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25 %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Éloignement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distance médiane à une agence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25 %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/>
                        </a:rPr>
                        <a:t>Enjeu démographique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population concernée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/>
                        </a:rPr>
                        <a:t>20 %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583680" y="3977639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Le déficit Mobile Money reprend la définition officielle du géoportail national — « nombre d'habitants par point mobile money ». L'indicateur central n'a pas été inventé pour ce travail.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Ces pondérations sont un choix assumé. C'est exactement pourquoi 2 000 pondérations alternatives sont testées.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66344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Aucune valeur n'est imputée ni estimée. Toute donnée absente est déclarée absente. Aucun écrêtage n'est appliqué aux valeurs extrêmes : elles sont des faits, et leur influence est mesurée par une variante de calcul insensible aux extrêmes.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DIAGNOSTIC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Diagnostic national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409 habitants par point de service en moyenne — mais un rapport de 1 à 12,7 entre la préfecture la mieux et la moins bien desservie.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04 / 9</a:t>
            </a:r>
          </a:p>
        </p:txBody>
      </p:sp>
      <p:pic>
        <p:nvPicPr>
          <p:cNvPr id="14" name="Picture 13" descr="ecart_desse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874519"/>
            <a:ext cx="7404482" cy="429768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1965960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1965960"/>
            <a:ext cx="320040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121408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MOYENNE NATIONALE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441448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409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871216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habitants par point Mobile Money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081528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081528"/>
            <a:ext cx="3200400" cy="34747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236976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PRÉFECTURE LA MOINS DESSERVIE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557016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2 155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986784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Kpendjal · 5,3 × la moyenne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197096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197096"/>
            <a:ext cx="3200400" cy="3474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52544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PRÉFECTURES AU-DESSUS DE LA MOYENNE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4672584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24 / 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5102352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moins bien desservies que le pays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312664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312664"/>
            <a:ext cx="3200400" cy="34747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468112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/>
              </a:rPr>
              <a:t>COMMUNES SANS AUCUNE AGENCE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5788152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/>
              </a:rPr>
              <a:t>75 / 117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6217920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>3 371 081 habitants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008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55544F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GÉOSPATIAL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Analyse géospatiale et inégalités territoriales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La moitié la moins bien desservie de la population ne dispose que de 27 % des points de service.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05 / 9</a:t>
            </a:r>
          </a:p>
        </p:txBody>
      </p:sp>
      <p:pic>
        <p:nvPicPr>
          <p:cNvPr id="14" name="Picture 13" descr="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20240"/>
            <a:ext cx="5015010" cy="3931920"/>
          </a:xfrm>
          <a:prstGeom prst="rect">
            <a:avLst/>
          </a:prstGeom>
        </p:spPr>
      </p:pic>
      <p:pic>
        <p:nvPicPr>
          <p:cNvPr id="15" name="Picture 14" descr="concen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20240"/>
            <a:ext cx="4779520" cy="393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59436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12 préfectures sont à la fois plus peuplées que la médiane nationale et moins bien desservies que la moyenne : c'est là qu'un investissement touche le plus d'habitants.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9436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L'écart à la diagonale mesure la concentration. Les distances sont calculées après reprojection métrique — en degrés, elles seraient fausses.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PRIORISATION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Zones prioritaires · indice DCPI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Neuf préfectures restent dans le top 10 pour au moins 90 % de 2 000 pondérations testées : leur priorité ne dépend pas de la méthode.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06 / 9</a:t>
            </a:r>
          </a:p>
        </p:txBody>
      </p:sp>
      <p:pic>
        <p:nvPicPr>
          <p:cNvPr id="14" name="Picture 13" descr="carte_prior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2170081" cy="4343400"/>
          </a:xfrm>
          <a:prstGeom prst="rect">
            <a:avLst/>
          </a:prstGeom>
        </p:spPr>
      </p:pic>
      <p:pic>
        <p:nvPicPr>
          <p:cNvPr id="15" name="Picture 14" descr="sensibil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874519"/>
            <a:ext cx="4752345" cy="3703320"/>
          </a:xfrm>
          <a:prstGeom prst="rect">
            <a:avLst/>
          </a:prstGeom>
        </p:spPr>
      </p:pic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863840" y="1874519"/>
          <a:ext cx="3794758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580"/>
                <a:gridCol w="1138428"/>
                <a:gridCol w="721004"/>
                <a:gridCol w="645109"/>
                <a:gridCol w="379476"/>
                <a:gridCol w="607161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Préfecture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Hab.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Hab./pt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Ag.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/>
                        </a:rPr>
                        <a:t>Dist.</a:t>
                      </a: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Kpendjal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88 365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2 155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47 km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Mô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52 448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1 639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45 km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Est-Mono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164 460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787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46 km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Akébou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73 830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849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43 km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Blitta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163 272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1 814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28 km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Wawa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101 300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415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/>
                        </a:rPr>
                        <a:t>44 km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7863840" y="4160520"/>
            <a:ext cx="379476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Corrélation de Spearman moyenne avec le classement de référence : 0,971 sur 2 000 pondérations aléatoires, plus huit variantes structurelles (retrait de chaque composante, poids égaux, normalisation par rang).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Les territoires dont le rang dépend des pondérations ne sont pas présentés comme prioritaires.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Recommandations stratégiques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Cinq leviers, chacun déclenché par un seuil mesuré — aucune recommandation sans le chiffre qui la justifie.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07 / 9</a:t>
            </a:r>
          </a:p>
        </p:txBody>
      </p:sp>
      <p:pic>
        <p:nvPicPr>
          <p:cNvPr id="14" name="Picture 13" descr="lev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148840"/>
            <a:ext cx="5349240" cy="2458581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20162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1965960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Densifier le réseau d'agents Mobile Money — levier rapide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2194560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plus de 800 habitants par point. S'appuie sur des commerces existants, sans construction.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69595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2645664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Implanter un point de présence opérateur — levier structurel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" y="2874264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aucune agence active. Seul levier créant un guichet là où il n'en existe aucun.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75660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325368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Répartir le maillage plutôt qu'un point unique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" y="3553968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25 km ou plus jusqu'à une agence. Quand l'éloignement domine, un guichet au chef-lieu ne règle rien.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05536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005072"/>
            <a:ext cx="53126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Ouvrir la concurrence entre opérateurs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" y="4233672"/>
            <a:ext cx="531266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Déclencheur : un seul opérateur présent. 4 773 points ne servent que Togocom contre 1 018 pour Moov seul.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937760"/>
            <a:ext cx="53492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4937760"/>
            <a:ext cx="32004" cy="123444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51206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Les 9 territoires prioritaires représentent 1 080 723 habitants, soit 13% de la population nationale.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/>
              </a:rPr>
              <a:t>Un même territoire peut relever de plusieurs leviers : les populations ne s'additionnent pas d'un levier à l'autre.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PRÉCAUTIONS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Limites et précautions d'interprétation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Ce diagnostic mesure un déficit d'accès aux services — pas une absence de réseau mobile. La distinction est décisive.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08 / 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162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1965960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La couverture réseau n'est pas mesurée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2194560"/>
            <a:ext cx="540410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Une zone sans agence ni agent Mobile Money n'est pas nécessairement une zone sans réseau mobile. Les 41 cantons signalés par le proxy sont à vérifier, pas des zones blanches avérées.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85521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804922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Les agences CANAL+ sont absentes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" y="3033522"/>
            <a:ext cx="5404104" cy="1592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Fichier source vide. Le déficit d'agences ne porte que sur Moov et Togocom.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375660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3325368"/>
            <a:ext cx="54041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Le diagnostic décrit 2021-2022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3553968"/>
            <a:ext cx="540410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Tout déploiement postérieur est invisible. La hiérarchie des besoins reste valable tant que les écarts ne sont pas comblés.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0162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5976" y="1965960"/>
            <a:ext cx="49469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Les scores communaux et préfectoraux ne sont pas comparables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194560"/>
            <a:ext cx="4946904" cy="3185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La composante d'éloignement ne repose pas sur la même mesure aux deux niveaux. Les rangs se lisent à l'intérieur de chaque niveau.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269595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5976" y="2645664"/>
            <a:ext cx="49469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Un score élevé signale un besoin, pas une solution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976" y="2874264"/>
            <a:ext cx="494690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L'indice ne dit rien du coût, de la faisabilité ni de la rentabilité d'une intervention. Il hiérarchise des besoins mesurés — préalable à un arbitrage, jamais son substitut.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534918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65976" y="3484626"/>
            <a:ext cx="49469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La structure par âge n'est pas prise en compte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5976" y="3713226"/>
            <a:ext cx="4946904" cy="4777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Un dénominateur « 15 ans et plus » serait plus juste. Les tableaux d'âges n'ont pas pu être extraits avec une garantie arithmétique suffisante : ils ont été écartés plutôt que repris sans contrôle.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/>
              </a:rPr>
              <a:t>Objectifs du sujet → réponses fournies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/>
              </a:rPr>
              <a:t>Quatre objectifs traités ; la couverture mobile, non mesurable en open data, devient une limite critique.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/>
              </a:rPr>
              <a:t>République togolaise · Défi Économie numérique · Données ouvertes PRISE 2021-2022, RGPH-5 2022, COD-AB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/>
              </a:rPr>
              <a:t>09 / 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938528"/>
            <a:ext cx="1105783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1938528"/>
            <a:ext cx="41148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0574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1 · Cartographier agences et centres de données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4488" y="202996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8B8A84"/>
                </a:solidFill>
                <a:latin typeface="Segoe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4528" y="2029968"/>
            <a:ext cx="5806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90 agences d'opérateur (28 Moov, 62 Togocom) et 3 centres de données, tous à Lomé. « Télécom » est un doublon intégral ; CANAL+ est vide à la source.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07447" y="2121408"/>
            <a:ext cx="1280160" cy="2926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07447" y="217170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800" b="1">
                <a:solidFill>
                  <a:srgbClr val="FFFFFF"/>
                </a:solidFill>
                <a:latin typeface="Consolas"/>
              </a:rPr>
              <a:t>TRAITÉ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70048"/>
            <a:ext cx="1105783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2670048"/>
            <a:ext cx="41148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7889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2 · Mobile Money au regard de la population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4488" y="276148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8B8A84"/>
                </a:solidFill>
                <a:latin typeface="Segoe U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761488"/>
            <a:ext cx="5806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409 habitants par point en moyenne, de 1 à 12,7 entre préfectures ; la moitié la moins desservie de la population ne dispose que de 27 % des points.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07447" y="2852928"/>
            <a:ext cx="1280160" cy="2926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07447" y="290322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800" b="1">
                <a:solidFill>
                  <a:srgbClr val="FFFFFF"/>
                </a:solidFill>
                <a:latin typeface="Consolas"/>
              </a:rPr>
              <a:t>TRAITÉ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3401568"/>
            <a:ext cx="1105783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401568"/>
            <a:ext cx="41148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35204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3 · Infrastructures et densité démographique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4488" y="34930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8B8A84"/>
                </a:solidFill>
                <a:latin typeface="Segoe UI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8" y="3493008"/>
            <a:ext cx="5806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12 préfectures peuplées et sous-desservies. La densité n'explique que 12 % des écarts d'équipement : le déficit n'est pas la fatalité d'un territoire rural.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207447" y="3584448"/>
            <a:ext cx="1280160" cy="2926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07447" y="363474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800" b="1">
                <a:solidFill>
                  <a:srgbClr val="FFFFFF"/>
                </a:solidFill>
                <a:latin typeface="Consolas"/>
              </a:rPr>
              <a:t>TRAITÉ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33088"/>
            <a:ext cx="11057839" cy="658368"/>
          </a:xfrm>
          <a:prstGeom prst="rect">
            <a:avLst/>
          </a:prstGeom>
          <a:solidFill>
            <a:srgbClr val="FBEEEE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33088"/>
            <a:ext cx="41148" cy="658368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51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4 · Couverture réseau et zones blanches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04488" y="422452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8B8A84"/>
                </a:solidFill>
                <a:latin typeface="Segoe UI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4224528"/>
            <a:ext cx="5806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12120F"/>
                </a:solidFill>
                <a:latin typeface="Segoe UI"/>
              </a:rPr>
              <a:t>Non mesurable avec les données ouvertes disponibles — couches antennes hors open data. Traitée comme limite critique et besoin prioritaire de données. Proxy déclaré : 41 cantons à investiguer, dont 22 sans aucun agent Mobile Money.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207447" y="4315968"/>
            <a:ext cx="1280160" cy="292608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07447" y="436626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800" b="1">
                <a:solidFill>
                  <a:srgbClr val="FFFFFF"/>
                </a:solidFill>
                <a:latin typeface="Consolas"/>
              </a:rPr>
              <a:t>LIMITE CRITIQUE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864608"/>
            <a:ext cx="11057839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4864608"/>
            <a:ext cx="41148" cy="65836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" y="498348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2120F"/>
                </a:solidFill>
                <a:latin typeface="Segoe UI"/>
              </a:rPr>
              <a:t>5 · Prioriser les investissements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0448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1">
                <a:solidFill>
                  <a:srgbClr val="8B8A84"/>
                </a:solidFill>
                <a:latin typeface="Segoe UI"/>
              </a:rPr>
              <a:t>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24528" y="4956048"/>
            <a:ext cx="5806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5544F"/>
                </a:solidFill>
                <a:latin typeface="Segoe UI"/>
              </a:rPr>
              <a:t>9 préfectures stables sur 2 000 pondérations (corrélation 0,971), 1 080 723 habitants : Kpendjal, Mô, Est-Mono, Akébou, Yoto…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07447" y="5047488"/>
            <a:ext cx="1280160" cy="29260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07447" y="509778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800" b="1">
                <a:solidFill>
                  <a:srgbClr val="FFFFFF"/>
                </a:solidFill>
                <a:latin typeface="Consolas"/>
              </a:rPr>
              <a:t>TRAITÉ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5614416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4D3B"/>
                </a:solidFill>
                <a:latin typeface="Segoe UI"/>
              </a:rPr>
              <a:t>Première recommandation au producteur de données : ouvrir les couches « Tours télécoms » du catalogue national, pour transformer les zones suspectes en zones blanches confirmées ou écartées.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